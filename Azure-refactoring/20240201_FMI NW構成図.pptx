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81" r:id="rId6"/>
    <p:sldId id="273" r:id="rId7"/>
    <p:sldId id="278" r:id="rId8"/>
    <p:sldId id="275" r:id="rId9"/>
    <p:sldId id="282" r:id="rId10"/>
    <p:sldId id="277" r:id="rId11"/>
    <p:sldId id="279" r:id="rId12"/>
  </p:sldIdLst>
  <p:sldSz cx="12192000" cy="6858000"/>
  <p:notesSz cx="6858000" cy="9144000"/>
  <p:custDataLst>
    <p:tags r:id="rId13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61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072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14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92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419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040F4E-F8CB-49A3-9065-ECB17FAC0CE0}"/>
              </a:ext>
            </a:extLst>
          </p:cNvPr>
          <p:cNvSpPr txBox="1"/>
          <p:nvPr userDrawn="1"/>
        </p:nvSpPr>
        <p:spPr>
          <a:xfrm>
            <a:off x="10327532" y="274638"/>
            <a:ext cx="1254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000" b="0">
                <a:latin typeface="Meiryo UI" panose="020B0604030504040204" pitchFamily="50" charset="-128"/>
                <a:ea typeface="Meiryo UI" panose="020B0604030504040204" pitchFamily="50" charset="-128"/>
              </a:rPr>
              <a:t>機密情報</a:t>
            </a:r>
          </a:p>
        </p:txBody>
      </p:sp>
    </p:spTree>
    <p:extLst>
      <p:ext uri="{BB962C8B-B14F-4D97-AF65-F5344CB8AC3E}">
        <p14:creationId xmlns:p14="http://schemas.microsoft.com/office/powerpoint/2010/main" val="26392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03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56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98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17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860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040F4E-F8CB-49A3-9065-ECB17FAC0CE0}"/>
              </a:ext>
            </a:extLst>
          </p:cNvPr>
          <p:cNvSpPr txBox="1"/>
          <p:nvPr userDrawn="1"/>
        </p:nvSpPr>
        <p:spPr>
          <a:xfrm>
            <a:off x="10327532" y="274638"/>
            <a:ext cx="1254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000" b="0">
                <a:latin typeface="Meiryo UI" panose="020B0604030504040204" pitchFamily="50" charset="-128"/>
                <a:ea typeface="Meiryo UI" panose="020B0604030504040204" pitchFamily="50" charset="-128"/>
              </a:rPr>
              <a:t>機密情報</a:t>
            </a:r>
          </a:p>
        </p:txBody>
      </p:sp>
    </p:spTree>
    <p:extLst>
      <p:ext uri="{BB962C8B-B14F-4D97-AF65-F5344CB8AC3E}">
        <p14:creationId xmlns:p14="http://schemas.microsoft.com/office/powerpoint/2010/main" val="26392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DAF5D3DD-AC4A-471E-ACBE-17E6F67F3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93319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5" imgW="530" imgH="531" progId="TCLayout.ActiveDocument.1">
                  <p:embed/>
                </p:oleObj>
              </mc:Choice>
              <mc:Fallback>
                <p:oleObj name="think-cell スライド" r:id="rId15" imgW="530" imgH="531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DAF5D3DD-AC4A-471E-ACBE-17E6F67F3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EB02D32B-A08C-42C2-88FD-1329E93145B0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4400" b="0" i="0" baseline="0">
              <a:latin typeface="Calibri" panose="020F0502020204030204" pitchFamily="34" charset="0"/>
              <a:ea typeface="ＭＳ Ｐゴシック" panose="020B0600070205080204" pitchFamily="50" charset="-128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79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DAF5D3DD-AC4A-471E-ACBE-17E6F67F3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530" imgH="531" progId="TCLayout.ActiveDocument.1">
                  <p:embed/>
                </p:oleObj>
              </mc:Choice>
              <mc:Fallback>
                <p:oleObj name="think-cell スライド" r:id="rId5" imgW="530" imgH="531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DAF5D3DD-AC4A-471E-ACBE-17E6F67F3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 hidden="1">
            <a:extLst>
              <a:ext uri="{FF2B5EF4-FFF2-40B4-BE49-F238E27FC236}">
                <a16:creationId xmlns:a16="http://schemas.microsoft.com/office/drawing/2014/main" id="{EB02D32B-A08C-42C2-88FD-1329E93145B0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4400" b="0" i="0" baseline="0">
              <a:latin typeface="Calibri" panose="020F0502020204030204" pitchFamily="34" charset="0"/>
              <a:ea typeface="ＭＳ Ｐゴシック" panose="020B0600070205080204" pitchFamily="50" charset="-128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B39B4-A188-40C8-B61E-DB88BF9A51BF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871B7-EDBC-471C-9EAB-DE93A94C08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79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emf"/><Relationship Id="rId18" Type="http://schemas.openxmlformats.org/officeDocument/2006/relationships/image" Target="../media/image20.png"/><Relationship Id="rId3" Type="http://schemas.openxmlformats.org/officeDocument/2006/relationships/slideLayout" Target="../slideLayouts/slideLayout6.xml"/><Relationship Id="rId21" Type="http://schemas.openxmlformats.org/officeDocument/2006/relationships/hyperlink" Target="https://peter.upfold.org.uk/blog/2016/04/27/forms-based-adfs-3-0-endpoints-inexplicably-showing-http-503/" TargetMode="Externa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tags" Target="../tags/tag7.xml"/><Relationship Id="rId16" Type="http://schemas.openxmlformats.org/officeDocument/2006/relationships/image" Target="../media/image18.jpeg"/><Relationship Id="rId20" Type="http://schemas.openxmlformats.org/officeDocument/2006/relationships/image" Target="../media/image22.png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png"/><Relationship Id="rId18" Type="http://schemas.openxmlformats.org/officeDocument/2006/relationships/image" Target="../media/image15.emf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9.png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" Type="http://schemas.openxmlformats.org/officeDocument/2006/relationships/tags" Target="../tags/tag9.xml"/><Relationship Id="rId16" Type="http://schemas.openxmlformats.org/officeDocument/2006/relationships/image" Target="../media/image21.png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7.emf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19" Type="http://schemas.openxmlformats.org/officeDocument/2006/relationships/image" Target="../media/image16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8.jpe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2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7.e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2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publicdomainq.net/office-building-0007811/" TargetMode="External"/><Relationship Id="rId3" Type="http://schemas.openxmlformats.org/officeDocument/2006/relationships/oleObject" Target="../embeddings/oleObject6.bin"/><Relationship Id="rId7" Type="http://schemas.openxmlformats.org/officeDocument/2006/relationships/image" Target="../media/image34.png"/><Relationship Id="rId12" Type="http://schemas.openxmlformats.org/officeDocument/2006/relationships/hyperlink" Target="https://pixabay.com/en/firewall-fire-wall-computer-153179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6" Type="http://schemas.openxmlformats.org/officeDocument/2006/relationships/image" Target="../media/image33.sv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18.jpeg"/><Relationship Id="rId4" Type="http://schemas.openxmlformats.org/officeDocument/2006/relationships/image" Target="../media/image1.emf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png"/><Relationship Id="rId18" Type="http://schemas.openxmlformats.org/officeDocument/2006/relationships/image" Target="../media/image15.emf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9.png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" Type="http://schemas.openxmlformats.org/officeDocument/2006/relationships/tags" Target="../tags/tag16.xml"/><Relationship Id="rId16" Type="http://schemas.openxmlformats.org/officeDocument/2006/relationships/image" Target="../media/image21.png"/><Relationship Id="rId1" Type="http://schemas.openxmlformats.org/officeDocument/2006/relationships/tags" Target="../tags/tag15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7.emf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19" Type="http://schemas.openxmlformats.org/officeDocument/2006/relationships/image" Target="../media/image16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78">
            <a:extLst>
              <a:ext uri="{FF2B5EF4-FFF2-40B4-BE49-F238E27FC236}">
                <a16:creationId xmlns:a16="http://schemas.microsoft.com/office/drawing/2014/main" id="{87C000B4-911C-215D-7420-A30791AF678C}"/>
              </a:ext>
            </a:extLst>
          </p:cNvPr>
          <p:cNvSpPr/>
          <p:nvPr/>
        </p:nvSpPr>
        <p:spPr>
          <a:xfrm>
            <a:off x="6685747" y="3424986"/>
            <a:ext cx="1058810" cy="647023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0E32A3-2783-450A-36DE-9EE555F9738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38084" y="140238"/>
            <a:ext cx="8226665" cy="45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  <a:cs typeface="HGP創英角ｺﾞｼｯｸUB" pitchFamily="50" charset="-128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  <a:cs typeface="HGP創英角ｺﾞｼｯｸUB" pitchFamily="50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  <a:cs typeface="HGP創英角ｺﾞｼｯｸUB" pitchFamily="50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  <a:cs typeface="HGP創英角ｺﾞｼｯｸUB" pitchFamily="50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2100">
                <a:solidFill>
                  <a:schemeClr val="tx1"/>
                </a:solidFill>
                <a:latin typeface="HGP創英角ｺﾞｼｯｸUB" pitchFamily="50" charset="-128"/>
                <a:ea typeface="HGP創英角ｺﾞｼｯｸUB" pitchFamily="50" charset="-128"/>
                <a:cs typeface="HGP創英角ｺﾞｼｯｸUB" pitchFamily="50" charset="-128"/>
              </a:defRPr>
            </a:lvl5pPr>
            <a:lvl6pPr marL="457109" algn="l" rtl="0" fontAlgn="base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bg1"/>
                </a:solidFill>
                <a:latin typeface="ＭＳ Ｐゴシック" pitchFamily="50" charset="-128"/>
                <a:ea typeface="ＭＳ Ｐゴシック" pitchFamily="50" charset="-128"/>
                <a:cs typeface="ＭＳ Ｐゴシック" pitchFamily="50" charset="-128"/>
              </a:defRPr>
            </a:lvl6pPr>
            <a:lvl7pPr marL="914217" algn="l" rtl="0" fontAlgn="base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bg1"/>
                </a:solidFill>
                <a:latin typeface="ＭＳ Ｐゴシック" pitchFamily="50" charset="-128"/>
                <a:ea typeface="ＭＳ Ｐゴシック" pitchFamily="50" charset="-128"/>
                <a:cs typeface="ＭＳ Ｐゴシック" pitchFamily="50" charset="-128"/>
              </a:defRPr>
            </a:lvl7pPr>
            <a:lvl8pPr marL="1371326" algn="l" rtl="0" fontAlgn="base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bg1"/>
                </a:solidFill>
                <a:latin typeface="ＭＳ Ｐゴシック" pitchFamily="50" charset="-128"/>
                <a:ea typeface="ＭＳ Ｐゴシック" pitchFamily="50" charset="-128"/>
                <a:cs typeface="ＭＳ Ｐゴシック" pitchFamily="50" charset="-128"/>
              </a:defRPr>
            </a:lvl8pPr>
            <a:lvl9pPr marL="1828434" algn="l" rtl="0" fontAlgn="base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bg1"/>
                </a:solidFill>
                <a:latin typeface="ＭＳ Ｐゴシック" pitchFamily="50" charset="-128"/>
                <a:ea typeface="ＭＳ Ｐゴシック" pitchFamily="50" charset="-128"/>
                <a:cs typeface="ＭＳ Ｐゴシック" pitchFamily="50" charset="-128"/>
              </a:defRPr>
            </a:lvl9pPr>
          </a:lstStyle>
          <a:p>
            <a:r>
              <a:rPr lang="en-US" altLang="ja-JP">
                <a:latin typeface="Arial Black" panose="020B0A04020102020204" pitchFamily="34" charset="0"/>
              </a:rPr>
              <a:t>IP</a:t>
            </a:r>
            <a:r>
              <a:rPr lang="ja-JP" altLang="en-US">
                <a:latin typeface="Arial Black" panose="020B0A04020102020204" pitchFamily="34" charset="0"/>
              </a:rPr>
              <a:t>アドレス体系（</a:t>
            </a:r>
            <a:r>
              <a:rPr lang="en-US" altLang="ja-JP">
                <a:latin typeface="Arial Black" panose="020B0A04020102020204" pitchFamily="34" charset="0"/>
              </a:rPr>
              <a:t>2024</a:t>
            </a:r>
            <a:r>
              <a:rPr lang="ja-JP" altLang="en-US">
                <a:latin typeface="Arial Black" panose="020B0A04020102020204" pitchFamily="34" charset="0"/>
              </a:rPr>
              <a:t>年</a:t>
            </a:r>
            <a:r>
              <a:rPr lang="en-US" altLang="ja-JP">
                <a:latin typeface="Arial Black" panose="020B0A04020102020204" pitchFamily="34" charset="0"/>
              </a:rPr>
              <a:t>8</a:t>
            </a:r>
            <a:r>
              <a:rPr lang="ja-JP" altLang="en-US">
                <a:latin typeface="Arial Black" panose="020B0A04020102020204" pitchFamily="34" charset="0"/>
              </a:rPr>
              <a:t>月時点）</a:t>
            </a:r>
            <a:endParaRPr lang="en-US" altLang="ja-JP">
              <a:latin typeface="Arial Black" panose="020B0A04020102020204" pitchFamily="34" charset="0"/>
            </a:endParaRPr>
          </a:p>
        </p:txBody>
      </p:sp>
      <p:sp>
        <p:nvSpPr>
          <p:cNvPr id="5" name="角丸四角形 120">
            <a:extLst>
              <a:ext uri="{FF2B5EF4-FFF2-40B4-BE49-F238E27FC236}">
                <a16:creationId xmlns:a16="http://schemas.microsoft.com/office/drawing/2014/main" id="{49D899B4-12D2-99E5-16FD-D4BE53AE3D15}"/>
              </a:ext>
            </a:extLst>
          </p:cNvPr>
          <p:cNvSpPr/>
          <p:nvPr/>
        </p:nvSpPr>
        <p:spPr>
          <a:xfrm>
            <a:off x="7826432" y="3292567"/>
            <a:ext cx="1440613" cy="11445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r>
              <a:rPr kumimoji="1" lang="en-US" altLang="ja-JP" sz="1400">
                <a:solidFill>
                  <a:srgbClr val="000000"/>
                </a:solidFill>
                <a:latin typeface="Arial Black" panose="020B0A04020102020204" pitchFamily="34" charset="0"/>
                <a:ea typeface="HGP創英角ｺﾞｼｯｸUB" panose="020B0900000000000000" pitchFamily="50" charset="-128"/>
              </a:rPr>
              <a:t>Internet</a:t>
            </a:r>
            <a:endParaRPr kumimoji="1" lang="ja-JP" altLang="en-US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</p:txBody>
      </p:sp>
      <p:pic>
        <p:nvPicPr>
          <p:cNvPr id="6" name="Picture 89" descr="14">
            <a:extLst>
              <a:ext uri="{FF2B5EF4-FFF2-40B4-BE49-F238E27FC236}">
                <a16:creationId xmlns:a16="http://schemas.microsoft.com/office/drawing/2014/main" id="{1697F18A-21B0-7186-DFE7-D5A937822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78" y="3491333"/>
            <a:ext cx="403180" cy="49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角丸四角形 127">
            <a:extLst>
              <a:ext uri="{FF2B5EF4-FFF2-40B4-BE49-F238E27FC236}">
                <a16:creationId xmlns:a16="http://schemas.microsoft.com/office/drawing/2014/main" id="{85D09105-3ABE-635A-D6D5-0F8402ADB7DF}"/>
              </a:ext>
            </a:extLst>
          </p:cNvPr>
          <p:cNvSpPr/>
          <p:nvPr/>
        </p:nvSpPr>
        <p:spPr>
          <a:xfrm>
            <a:off x="3993506" y="764704"/>
            <a:ext cx="1409199" cy="5672664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400" err="1">
                <a:solidFill>
                  <a:srgbClr val="000000"/>
                </a:solidFill>
                <a:latin typeface="Arial Black" panose="020B0A04020102020204" pitchFamily="34" charset="0"/>
                <a:ea typeface="HGP創英角ｺﾞｼｯｸUB" panose="020B0900000000000000" pitchFamily="50" charset="-128"/>
              </a:rPr>
              <a:t>SmartVPN</a:t>
            </a:r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  <a:ea typeface="HGP創英角ｺﾞｼｯｸUB" panose="020B0900000000000000" pitchFamily="50" charset="-128"/>
              </a:rPr>
              <a:t>（</a:t>
            </a:r>
            <a:r>
              <a:rPr kumimoji="1" lang="en-US" altLang="ja-JP" sz="1400">
                <a:solidFill>
                  <a:srgbClr val="000000"/>
                </a:solidFill>
                <a:latin typeface="Arial Black" panose="020B0A04020102020204" pitchFamily="34" charset="0"/>
                <a:ea typeface="HGP創英角ｺﾞｼｯｸUB" panose="020B0900000000000000" pitchFamily="50" charset="-128"/>
              </a:rPr>
              <a:t>MPLS)</a:t>
            </a:r>
            <a:endParaRPr kumimoji="1" lang="ja-JP" altLang="en-US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F42F5CE-BEF5-4D0B-D7E4-2C046BE146DA}"/>
              </a:ext>
            </a:extLst>
          </p:cNvPr>
          <p:cNvSpPr/>
          <p:nvPr/>
        </p:nvSpPr>
        <p:spPr>
          <a:xfrm>
            <a:off x="493847" y="4376362"/>
            <a:ext cx="2686632" cy="124374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08B595F-9A8F-782F-6A78-899CA7AA187F}"/>
              </a:ext>
            </a:extLst>
          </p:cNvPr>
          <p:cNvSpPr/>
          <p:nvPr/>
        </p:nvSpPr>
        <p:spPr>
          <a:xfrm>
            <a:off x="493262" y="1619900"/>
            <a:ext cx="1817476" cy="13148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10" name="円/楕円 224">
            <a:extLst>
              <a:ext uri="{FF2B5EF4-FFF2-40B4-BE49-F238E27FC236}">
                <a16:creationId xmlns:a16="http://schemas.microsoft.com/office/drawing/2014/main" id="{B2CA6B70-02E2-A96B-5B64-956EF1EDE61C}"/>
              </a:ext>
            </a:extLst>
          </p:cNvPr>
          <p:cNvSpPr/>
          <p:nvPr/>
        </p:nvSpPr>
        <p:spPr>
          <a:xfrm>
            <a:off x="6495247" y="3491490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11" name="円/楕円 227">
            <a:extLst>
              <a:ext uri="{FF2B5EF4-FFF2-40B4-BE49-F238E27FC236}">
                <a16:creationId xmlns:a16="http://schemas.microsoft.com/office/drawing/2014/main" id="{6F61061F-0DE8-6324-4273-D804CD861B16}"/>
              </a:ext>
            </a:extLst>
          </p:cNvPr>
          <p:cNvSpPr/>
          <p:nvPr/>
        </p:nvSpPr>
        <p:spPr>
          <a:xfrm>
            <a:off x="6500601" y="3848903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12" name="角丸四角形 5">
            <a:extLst>
              <a:ext uri="{FF2B5EF4-FFF2-40B4-BE49-F238E27FC236}">
                <a16:creationId xmlns:a16="http://schemas.microsoft.com/office/drawing/2014/main" id="{16796850-96BB-E1B0-4D68-47AAC511275A}"/>
              </a:ext>
            </a:extLst>
          </p:cNvPr>
          <p:cNvSpPr/>
          <p:nvPr/>
        </p:nvSpPr>
        <p:spPr>
          <a:xfrm>
            <a:off x="633505" y="1927801"/>
            <a:ext cx="1590594" cy="956656"/>
          </a:xfrm>
          <a:prstGeom prst="roundRect">
            <a:avLst/>
          </a:prstGeom>
          <a:solidFill>
            <a:srgbClr val="FFFF99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13" name="角丸四角形 232">
            <a:extLst>
              <a:ext uri="{FF2B5EF4-FFF2-40B4-BE49-F238E27FC236}">
                <a16:creationId xmlns:a16="http://schemas.microsoft.com/office/drawing/2014/main" id="{45B18EF6-872E-B2F7-5112-0A1B33F546DD}"/>
              </a:ext>
            </a:extLst>
          </p:cNvPr>
          <p:cNvSpPr/>
          <p:nvPr/>
        </p:nvSpPr>
        <p:spPr>
          <a:xfrm>
            <a:off x="2394584" y="1916832"/>
            <a:ext cx="1515820" cy="603025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14" name="角丸四角形 233">
            <a:extLst>
              <a:ext uri="{FF2B5EF4-FFF2-40B4-BE49-F238E27FC236}">
                <a16:creationId xmlns:a16="http://schemas.microsoft.com/office/drawing/2014/main" id="{05ABD5A4-4EE0-12CA-0946-BF085A137F6F}"/>
              </a:ext>
            </a:extLst>
          </p:cNvPr>
          <p:cNvSpPr/>
          <p:nvPr/>
        </p:nvSpPr>
        <p:spPr>
          <a:xfrm>
            <a:off x="633504" y="4876133"/>
            <a:ext cx="3250947" cy="60302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15" name="テキスト ボックス 230">
            <a:extLst>
              <a:ext uri="{FF2B5EF4-FFF2-40B4-BE49-F238E27FC236}">
                <a16:creationId xmlns:a16="http://schemas.microsoft.com/office/drawing/2014/main" id="{98F8EA47-57AE-C2C4-5396-EAA1E329B57D}"/>
              </a:ext>
            </a:extLst>
          </p:cNvPr>
          <p:cNvSpPr txBox="1"/>
          <p:nvPr/>
        </p:nvSpPr>
        <p:spPr>
          <a:xfrm>
            <a:off x="1926329" y="2061032"/>
            <a:ext cx="781503" cy="265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100">
                <a:solidFill>
                  <a:srgbClr val="000000"/>
                </a:solidFill>
                <a:latin typeface="Arial Black" panose="020B0A04020102020204" pitchFamily="34" charset="0"/>
              </a:rPr>
              <a:t>CPE-S</a:t>
            </a:r>
            <a:endParaRPr kumimoji="1" lang="ja-JP" altLang="en-US" sz="110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円/楕円 211">
            <a:extLst>
              <a:ext uri="{FF2B5EF4-FFF2-40B4-BE49-F238E27FC236}">
                <a16:creationId xmlns:a16="http://schemas.microsoft.com/office/drawing/2014/main" id="{03A720D3-1A9F-E45D-2C80-77A3CFF11612}"/>
              </a:ext>
            </a:extLst>
          </p:cNvPr>
          <p:cNvSpPr/>
          <p:nvPr/>
        </p:nvSpPr>
        <p:spPr>
          <a:xfrm>
            <a:off x="3775396" y="1997542"/>
            <a:ext cx="292000" cy="29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1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1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17" name="円/楕円 214">
            <a:extLst>
              <a:ext uri="{FF2B5EF4-FFF2-40B4-BE49-F238E27FC236}">
                <a16:creationId xmlns:a16="http://schemas.microsoft.com/office/drawing/2014/main" id="{CDB9CC8E-8FD1-DB99-43CD-4EB3F7644DDF}"/>
              </a:ext>
            </a:extLst>
          </p:cNvPr>
          <p:cNvSpPr/>
          <p:nvPr/>
        </p:nvSpPr>
        <p:spPr>
          <a:xfrm>
            <a:off x="3775396" y="4998235"/>
            <a:ext cx="292000" cy="292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1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1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18" name="テキスト ボックス 6">
            <a:extLst>
              <a:ext uri="{FF2B5EF4-FFF2-40B4-BE49-F238E27FC236}">
                <a16:creationId xmlns:a16="http://schemas.microsoft.com/office/drawing/2014/main" id="{8597FB54-E3A8-807C-2666-CD2038F96301}"/>
              </a:ext>
            </a:extLst>
          </p:cNvPr>
          <p:cNvSpPr txBox="1"/>
          <p:nvPr/>
        </p:nvSpPr>
        <p:spPr>
          <a:xfrm>
            <a:off x="2679003" y="2156588"/>
            <a:ext cx="9220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Calibri" panose="020F0502020204030204" pitchFamily="34" charset="0"/>
              </a:rPr>
              <a:t>10.11.0.40/30</a:t>
            </a:r>
            <a:endParaRPr kumimoji="1" lang="ja-JP" altLang="en-US" sz="1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テキスト ボックス 253">
            <a:extLst>
              <a:ext uri="{FF2B5EF4-FFF2-40B4-BE49-F238E27FC236}">
                <a16:creationId xmlns:a16="http://schemas.microsoft.com/office/drawing/2014/main" id="{4C2FA35E-E9AA-63E6-5AA9-E9CFB1CE5318}"/>
              </a:ext>
            </a:extLst>
          </p:cNvPr>
          <p:cNvSpPr txBox="1"/>
          <p:nvPr/>
        </p:nvSpPr>
        <p:spPr>
          <a:xfrm>
            <a:off x="2421190" y="5047028"/>
            <a:ext cx="11448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200">
                <a:solidFill>
                  <a:srgbClr val="000000"/>
                </a:solidFill>
                <a:latin typeface="Calibri" panose="020F0502020204030204" pitchFamily="34" charset="0"/>
              </a:rPr>
              <a:t>172.16.30.0/24</a:t>
            </a:r>
            <a:endParaRPr kumimoji="1" lang="ja-JP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0" name="直線コネクタ 170">
            <a:extLst>
              <a:ext uri="{FF2B5EF4-FFF2-40B4-BE49-F238E27FC236}">
                <a16:creationId xmlns:a16="http://schemas.microsoft.com/office/drawing/2014/main" id="{4E49F2EC-996D-D5E6-5850-2A4938DD610D}"/>
              </a:ext>
            </a:extLst>
          </p:cNvPr>
          <p:cNvCxnSpPr>
            <a:cxnSpLocks/>
            <a:stCxn id="261" idx="3"/>
            <a:endCxn id="262" idx="2"/>
          </p:cNvCxnSpPr>
          <p:nvPr/>
        </p:nvCxnSpPr>
        <p:spPr>
          <a:xfrm flipV="1">
            <a:off x="2220963" y="6104301"/>
            <a:ext cx="1572278" cy="648"/>
          </a:xfrm>
          <a:prstGeom prst="straightConnector1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60">
            <a:extLst>
              <a:ext uri="{FF2B5EF4-FFF2-40B4-BE49-F238E27FC236}">
                <a16:creationId xmlns:a16="http://schemas.microsoft.com/office/drawing/2014/main" id="{CB881DCA-702C-8D0A-0D18-597DADE124FE}"/>
              </a:ext>
            </a:extLst>
          </p:cNvPr>
          <p:cNvSpPr txBox="1"/>
          <p:nvPr/>
        </p:nvSpPr>
        <p:spPr>
          <a:xfrm>
            <a:off x="657919" y="5851075"/>
            <a:ext cx="1563044" cy="5077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900" err="1">
                <a:solidFill>
                  <a:srgbClr val="000000"/>
                </a:solidFill>
                <a:latin typeface="Arial Black" panose="020B0A04020102020204" pitchFamily="34" charset="0"/>
              </a:rPr>
              <a:t>SoftBank</a:t>
            </a:r>
            <a:r>
              <a:rPr kumimoji="1" lang="ja-JP" altLang="en-US" sz="900">
                <a:solidFill>
                  <a:srgbClr val="000000"/>
                </a:solidFill>
                <a:latin typeface="Arial Black" panose="020B0A04020102020204" pitchFamily="34" charset="0"/>
              </a:rPr>
              <a:t>　</a:t>
            </a:r>
            <a:r>
              <a:rPr kumimoji="1" lang="en-US" altLang="ja-JP" sz="900">
                <a:solidFill>
                  <a:srgbClr val="000000"/>
                </a:solidFill>
                <a:latin typeface="Arial Black" panose="020B0A04020102020204" pitchFamily="34" charset="0"/>
              </a:rPr>
              <a:t>CPE-S</a:t>
            </a:r>
            <a:r>
              <a:rPr kumimoji="1" lang="ja-JP" altLang="en-US" sz="900">
                <a:solidFill>
                  <a:srgbClr val="000000"/>
                </a:solidFill>
                <a:latin typeface="Arial Black" panose="020B0A04020102020204" pitchFamily="34" charset="0"/>
              </a:rPr>
              <a:t>監視</a:t>
            </a:r>
            <a:endParaRPr kumimoji="1" lang="en-US" altLang="ja-JP" sz="90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algn="ctr" defTabSz="914217" eaLnBrk="1" hangingPunct="1"/>
            <a:r>
              <a:rPr kumimoji="1" lang="en-US" altLang="ja-JP" sz="900">
                <a:solidFill>
                  <a:srgbClr val="000000"/>
                </a:solidFill>
                <a:latin typeface="Arial Black" panose="020B0A04020102020204" pitchFamily="34" charset="0"/>
              </a:rPr>
              <a:t>202.174.204.128/28</a:t>
            </a:r>
          </a:p>
          <a:p>
            <a:pPr algn="ctr" defTabSz="914217" eaLnBrk="1" hangingPunct="1"/>
            <a:r>
              <a:rPr kumimoji="1" lang="en-US" altLang="ja-JP" sz="900">
                <a:solidFill>
                  <a:srgbClr val="000000"/>
                </a:solidFill>
                <a:latin typeface="Arial Black" panose="020B0A04020102020204" pitchFamily="34" charset="0"/>
              </a:rPr>
              <a:t>211.127.162.128/26</a:t>
            </a:r>
            <a:endParaRPr kumimoji="1" lang="ja-JP" altLang="en-US" sz="90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円/楕円 261">
            <a:extLst>
              <a:ext uri="{FF2B5EF4-FFF2-40B4-BE49-F238E27FC236}">
                <a16:creationId xmlns:a16="http://schemas.microsoft.com/office/drawing/2014/main" id="{7A6E5DBF-BB26-9B21-9DA6-DF07BCAC2113}"/>
              </a:ext>
            </a:extLst>
          </p:cNvPr>
          <p:cNvSpPr/>
          <p:nvPr/>
        </p:nvSpPr>
        <p:spPr>
          <a:xfrm>
            <a:off x="3793241" y="5958301"/>
            <a:ext cx="292000" cy="29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1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1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23" name="テキスト ボックス 265">
            <a:extLst>
              <a:ext uri="{FF2B5EF4-FFF2-40B4-BE49-F238E27FC236}">
                <a16:creationId xmlns:a16="http://schemas.microsoft.com/office/drawing/2014/main" id="{89C28478-D602-58D7-E6EB-EB677AF98002}"/>
              </a:ext>
            </a:extLst>
          </p:cNvPr>
          <p:cNvSpPr txBox="1"/>
          <p:nvPr/>
        </p:nvSpPr>
        <p:spPr>
          <a:xfrm>
            <a:off x="745287" y="1916832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200">
                <a:solidFill>
                  <a:srgbClr val="000000"/>
                </a:solidFill>
                <a:latin typeface="Calibri" panose="020F0502020204030204" pitchFamily="34" charset="0"/>
              </a:rPr>
              <a:t>172.16.106.0/24</a:t>
            </a:r>
            <a:endParaRPr kumimoji="1" lang="ja-JP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円/楕円 286">
            <a:extLst>
              <a:ext uri="{FF2B5EF4-FFF2-40B4-BE49-F238E27FC236}">
                <a16:creationId xmlns:a16="http://schemas.microsoft.com/office/drawing/2014/main" id="{5F2E3175-9C4E-3E64-FC8B-26D1EA52EC96}"/>
              </a:ext>
            </a:extLst>
          </p:cNvPr>
          <p:cNvSpPr/>
          <p:nvPr/>
        </p:nvSpPr>
        <p:spPr>
          <a:xfrm>
            <a:off x="2647628" y="2149243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25" name="円/楕円 287">
            <a:extLst>
              <a:ext uri="{FF2B5EF4-FFF2-40B4-BE49-F238E27FC236}">
                <a16:creationId xmlns:a16="http://schemas.microsoft.com/office/drawing/2014/main" id="{03F15D14-2219-FDEC-D226-9E2C4F10A1DE}"/>
              </a:ext>
            </a:extLst>
          </p:cNvPr>
          <p:cNvSpPr/>
          <p:nvPr/>
        </p:nvSpPr>
        <p:spPr>
          <a:xfrm>
            <a:off x="3722404" y="2103324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26" name="円/楕円 290">
            <a:extLst>
              <a:ext uri="{FF2B5EF4-FFF2-40B4-BE49-F238E27FC236}">
                <a16:creationId xmlns:a16="http://schemas.microsoft.com/office/drawing/2014/main" id="{4604572F-152C-C06F-4650-B0AAC4741C63}"/>
              </a:ext>
            </a:extLst>
          </p:cNvPr>
          <p:cNvSpPr/>
          <p:nvPr/>
        </p:nvSpPr>
        <p:spPr>
          <a:xfrm>
            <a:off x="3721745" y="5067564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27" name="円/楕円 297">
            <a:extLst>
              <a:ext uri="{FF2B5EF4-FFF2-40B4-BE49-F238E27FC236}">
                <a16:creationId xmlns:a16="http://schemas.microsoft.com/office/drawing/2014/main" id="{4D962F31-7FD3-F67D-6DAA-73B337992A0D}"/>
              </a:ext>
            </a:extLst>
          </p:cNvPr>
          <p:cNvSpPr/>
          <p:nvPr/>
        </p:nvSpPr>
        <p:spPr>
          <a:xfrm>
            <a:off x="1877511" y="2121530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73D222A-DB42-BD72-78EB-F8F786DF34B8}"/>
              </a:ext>
            </a:extLst>
          </p:cNvPr>
          <p:cNvCxnSpPr>
            <a:cxnSpLocks/>
          </p:cNvCxnSpPr>
          <p:nvPr/>
        </p:nvCxnSpPr>
        <p:spPr>
          <a:xfrm flipV="1">
            <a:off x="4921027" y="3840237"/>
            <a:ext cx="3546858" cy="8666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82">
            <a:extLst>
              <a:ext uri="{FF2B5EF4-FFF2-40B4-BE49-F238E27FC236}">
                <a16:creationId xmlns:a16="http://schemas.microsoft.com/office/drawing/2014/main" id="{5C978F6E-4BE2-4CD8-157A-B6ECA01B1EAF}"/>
              </a:ext>
            </a:extLst>
          </p:cNvPr>
          <p:cNvSpPr txBox="1"/>
          <p:nvPr/>
        </p:nvSpPr>
        <p:spPr>
          <a:xfrm>
            <a:off x="482114" y="4422422"/>
            <a:ext cx="1952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長野：</a:t>
            </a:r>
            <a:r>
              <a:rPr kumimoji="1" lang="en-US" altLang="ja-JP" sz="1400">
                <a:solidFill>
                  <a:srgbClr val="000000"/>
                </a:solidFill>
                <a:latin typeface="Arial Black" panose="020B0A04020102020204" pitchFamily="34" charset="0"/>
              </a:rPr>
              <a:t>2022</a:t>
            </a:r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年</a:t>
            </a:r>
            <a:r>
              <a:rPr kumimoji="1" lang="en-US" altLang="ja-JP" sz="1400">
                <a:solidFill>
                  <a:srgbClr val="000000"/>
                </a:solidFill>
                <a:latin typeface="Arial Black" panose="020B0A04020102020204" pitchFamily="34" charset="0"/>
              </a:rPr>
              <a:t>4</a:t>
            </a:r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月廃止</a:t>
            </a:r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defTabSz="914217" eaLnBrk="1" hangingPunct="1"/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（ルータレス）</a:t>
            </a:r>
          </a:p>
        </p:txBody>
      </p:sp>
      <p:sp>
        <p:nvSpPr>
          <p:cNvPr id="30" name="角丸四角形 275">
            <a:extLst>
              <a:ext uri="{FF2B5EF4-FFF2-40B4-BE49-F238E27FC236}">
                <a16:creationId xmlns:a16="http://schemas.microsoft.com/office/drawing/2014/main" id="{757038ED-AF8B-4498-E328-0DE7A5E6C695}"/>
              </a:ext>
            </a:extLst>
          </p:cNvPr>
          <p:cNvSpPr/>
          <p:nvPr/>
        </p:nvSpPr>
        <p:spPr>
          <a:xfrm>
            <a:off x="5492941" y="3430770"/>
            <a:ext cx="1032273" cy="355898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31" name="角丸四角形 276">
            <a:extLst>
              <a:ext uri="{FF2B5EF4-FFF2-40B4-BE49-F238E27FC236}">
                <a16:creationId xmlns:a16="http://schemas.microsoft.com/office/drawing/2014/main" id="{C47BE56E-11E9-849A-C8B3-DED8A9EF42A3}"/>
              </a:ext>
            </a:extLst>
          </p:cNvPr>
          <p:cNvSpPr/>
          <p:nvPr/>
        </p:nvSpPr>
        <p:spPr>
          <a:xfrm>
            <a:off x="5492941" y="3874280"/>
            <a:ext cx="1025861" cy="315233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0000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32" name="円/楕円 225">
            <a:extLst>
              <a:ext uri="{FF2B5EF4-FFF2-40B4-BE49-F238E27FC236}">
                <a16:creationId xmlns:a16="http://schemas.microsoft.com/office/drawing/2014/main" id="{0EB6B409-481D-73D7-92A2-24BFB19FC2E9}"/>
              </a:ext>
            </a:extLst>
          </p:cNvPr>
          <p:cNvSpPr/>
          <p:nvPr/>
        </p:nvSpPr>
        <p:spPr>
          <a:xfrm>
            <a:off x="5281067" y="3484695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33" name="円/楕円 228">
            <a:extLst>
              <a:ext uri="{FF2B5EF4-FFF2-40B4-BE49-F238E27FC236}">
                <a16:creationId xmlns:a16="http://schemas.microsoft.com/office/drawing/2014/main" id="{09333F87-FC51-C674-D8B4-41BE5DDAC1C9}"/>
              </a:ext>
            </a:extLst>
          </p:cNvPr>
          <p:cNvSpPr/>
          <p:nvPr/>
        </p:nvSpPr>
        <p:spPr>
          <a:xfrm>
            <a:off x="5293765" y="3840237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34" name="テキスト ボックス 126">
            <a:extLst>
              <a:ext uri="{FF2B5EF4-FFF2-40B4-BE49-F238E27FC236}">
                <a16:creationId xmlns:a16="http://schemas.microsoft.com/office/drawing/2014/main" id="{BEEBCD1D-7548-4638-044E-93E4974EA041}"/>
              </a:ext>
            </a:extLst>
          </p:cNvPr>
          <p:cNvSpPr txBox="1"/>
          <p:nvPr/>
        </p:nvSpPr>
        <p:spPr>
          <a:xfrm>
            <a:off x="5497091" y="3428510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chemeClr val="tx1"/>
                </a:solidFill>
                <a:latin typeface="Calibri" panose="020F0502020204030204" pitchFamily="34" charset="0"/>
              </a:rPr>
              <a:t>VPN(</a:t>
            </a:r>
            <a:r>
              <a:rPr kumimoji="1" lang="ja-JP" altLang="en-US" sz="1000">
                <a:solidFill>
                  <a:schemeClr val="tx1"/>
                </a:solidFill>
                <a:latin typeface="Calibri" panose="020F0502020204030204" pitchFamily="34" charset="0"/>
              </a:rPr>
              <a:t>メイン</a:t>
            </a:r>
            <a:r>
              <a:rPr kumimoji="1" lang="en-US" altLang="ja-JP" sz="100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</a:p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10.11.0.48/30</a:t>
            </a:r>
            <a:endParaRPr kumimoji="1" lang="ja-JP" altLang="en-US" sz="10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円/楕円 287">
            <a:extLst>
              <a:ext uri="{FF2B5EF4-FFF2-40B4-BE49-F238E27FC236}">
                <a16:creationId xmlns:a16="http://schemas.microsoft.com/office/drawing/2014/main" id="{7D41CD01-E90C-438A-FB1A-89F646569155}"/>
              </a:ext>
            </a:extLst>
          </p:cNvPr>
          <p:cNvSpPr/>
          <p:nvPr/>
        </p:nvSpPr>
        <p:spPr>
          <a:xfrm>
            <a:off x="5468598" y="3541441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36" name="円/楕円 287">
            <a:extLst>
              <a:ext uri="{FF2B5EF4-FFF2-40B4-BE49-F238E27FC236}">
                <a16:creationId xmlns:a16="http://schemas.microsoft.com/office/drawing/2014/main" id="{56466FD5-5910-8798-3FDA-3484CEA5C936}"/>
              </a:ext>
            </a:extLst>
          </p:cNvPr>
          <p:cNvSpPr/>
          <p:nvPr/>
        </p:nvSpPr>
        <p:spPr>
          <a:xfrm>
            <a:off x="5497091" y="3901481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37" name="円/楕円 287">
            <a:extLst>
              <a:ext uri="{FF2B5EF4-FFF2-40B4-BE49-F238E27FC236}">
                <a16:creationId xmlns:a16="http://schemas.microsoft.com/office/drawing/2014/main" id="{938E208A-9D34-3307-B767-E970D82021A9}"/>
              </a:ext>
            </a:extLst>
          </p:cNvPr>
          <p:cNvSpPr/>
          <p:nvPr/>
        </p:nvSpPr>
        <p:spPr>
          <a:xfrm>
            <a:off x="6433195" y="3541441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38" name="円/楕円 287">
            <a:extLst>
              <a:ext uri="{FF2B5EF4-FFF2-40B4-BE49-F238E27FC236}">
                <a16:creationId xmlns:a16="http://schemas.microsoft.com/office/drawing/2014/main" id="{C70452E4-9A08-6D37-1697-3CFF3167EE89}"/>
              </a:ext>
            </a:extLst>
          </p:cNvPr>
          <p:cNvSpPr/>
          <p:nvPr/>
        </p:nvSpPr>
        <p:spPr>
          <a:xfrm>
            <a:off x="6451229" y="3890717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A22E954-D7AB-2171-239D-9C4D1287C592}"/>
              </a:ext>
            </a:extLst>
          </p:cNvPr>
          <p:cNvSpPr/>
          <p:nvPr/>
        </p:nvSpPr>
        <p:spPr>
          <a:xfrm>
            <a:off x="5442313" y="3089518"/>
            <a:ext cx="2201245" cy="276999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/>
            <a:r>
              <a:rPr lang="ja-JP" altLang="en-US" sz="1200"/>
              <a:t>セキュアインターネットアクセス３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B28B28A-525E-6921-70D2-B6FE0E318247}"/>
              </a:ext>
            </a:extLst>
          </p:cNvPr>
          <p:cNvSpPr/>
          <p:nvPr/>
        </p:nvSpPr>
        <p:spPr>
          <a:xfrm>
            <a:off x="131957" y="6365365"/>
            <a:ext cx="1912703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r>
              <a:rPr lang="en-US" altLang="ja-JP" sz="1200">
                <a:solidFill>
                  <a:schemeClr val="tx1"/>
                </a:solidFill>
              </a:rPr>
              <a:t>※</a:t>
            </a:r>
            <a:r>
              <a:rPr lang="en-US" altLang="ja-JP" sz="1200" err="1">
                <a:solidFill>
                  <a:schemeClr val="tx1"/>
                </a:solidFill>
              </a:rPr>
              <a:t>x.x.x.x:Private</a:t>
            </a:r>
            <a:r>
              <a:rPr lang="ja-JP" altLang="en-US" sz="1200">
                <a:solidFill>
                  <a:schemeClr val="tx1"/>
                </a:solidFill>
              </a:rPr>
              <a:t> </a:t>
            </a:r>
            <a:r>
              <a:rPr lang="en-US" altLang="ja-JP" sz="1200">
                <a:solidFill>
                  <a:schemeClr val="tx1"/>
                </a:solidFill>
              </a:rPr>
              <a:t>IP</a:t>
            </a:r>
            <a:r>
              <a:rPr lang="ja-JP" altLang="en-US" sz="1200">
                <a:solidFill>
                  <a:schemeClr val="tx1"/>
                </a:solidFill>
              </a:rPr>
              <a:t>アドレス</a:t>
            </a:r>
          </a:p>
        </p:txBody>
      </p:sp>
      <p:pic>
        <p:nvPicPr>
          <p:cNvPr id="41" name="Picture 27" descr="15">
            <a:extLst>
              <a:ext uri="{FF2B5EF4-FFF2-40B4-BE49-F238E27FC236}">
                <a16:creationId xmlns:a16="http://schemas.microsoft.com/office/drawing/2014/main" id="{3E31C5F8-C823-2991-BFD8-A7FDE21B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434" y="3028578"/>
            <a:ext cx="326978" cy="461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円/楕円 5">
            <a:extLst>
              <a:ext uri="{FF2B5EF4-FFF2-40B4-BE49-F238E27FC236}">
                <a16:creationId xmlns:a16="http://schemas.microsoft.com/office/drawing/2014/main" id="{277B0F03-B1DE-0AA1-0506-274333FB898C}"/>
              </a:ext>
            </a:extLst>
          </p:cNvPr>
          <p:cNvSpPr/>
          <p:nvPr/>
        </p:nvSpPr>
        <p:spPr>
          <a:xfrm>
            <a:off x="8467885" y="3131724"/>
            <a:ext cx="182711" cy="182711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73E75C2-D667-1161-03B8-6261F7120DF9}"/>
              </a:ext>
            </a:extLst>
          </p:cNvPr>
          <p:cNvSpPr/>
          <p:nvPr/>
        </p:nvSpPr>
        <p:spPr>
          <a:xfrm>
            <a:off x="7940009" y="3085130"/>
            <a:ext cx="1515158" cy="430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ja-JP" altLang="en-US" sz="1100">
                <a:solidFill>
                  <a:srgbClr val="FF0000"/>
                </a:solidFill>
                <a:latin typeface="HGP創英角ｺﾞｼｯｸUB" panose="020B0900000000000000" pitchFamily="50" charset="-128"/>
              </a:rPr>
              <a:t>グローバル</a:t>
            </a:r>
            <a:r>
              <a:rPr kumimoji="1" lang="en-US" altLang="ja-JP" sz="1100">
                <a:solidFill>
                  <a:srgbClr val="FF0000"/>
                </a:solidFill>
                <a:latin typeface="HGP創英角ｺﾞｼｯｸUB" panose="020B0900000000000000" pitchFamily="50" charset="-128"/>
              </a:rPr>
              <a:t>IP</a:t>
            </a:r>
            <a:r>
              <a:rPr kumimoji="1" lang="ja-JP" altLang="en-US" sz="1100">
                <a:solidFill>
                  <a:srgbClr val="FF0000"/>
                </a:solidFill>
                <a:latin typeface="HGP創英角ｺﾞｼｯｸUB" panose="020B0900000000000000" pitchFamily="50" charset="-128"/>
              </a:rPr>
              <a:t>アドレス</a:t>
            </a:r>
            <a:endParaRPr kumimoji="1" lang="en-US" altLang="ja-JP" sz="1100">
              <a:solidFill>
                <a:srgbClr val="FF0000"/>
              </a:solidFill>
              <a:latin typeface="HGP創英角ｺﾞｼｯｸUB" panose="020B0900000000000000" pitchFamily="50" charset="-128"/>
            </a:endParaRPr>
          </a:p>
          <a:p>
            <a:pPr defTabSz="914217" eaLnBrk="1" hangingPunct="1"/>
            <a:r>
              <a:rPr kumimoji="1" lang="en-US" altLang="ja-JP" sz="1100">
                <a:solidFill>
                  <a:srgbClr val="FF0000"/>
                </a:solidFill>
                <a:latin typeface="HGP創英角ｺﾞｼｯｸUB" panose="020B0900000000000000" pitchFamily="50" charset="-128"/>
              </a:rPr>
              <a:t>126.144.25.108/29</a:t>
            </a:r>
          </a:p>
        </p:txBody>
      </p:sp>
      <p:sp>
        <p:nvSpPr>
          <p:cNvPr id="44" name="テキスト ボックス 238">
            <a:extLst>
              <a:ext uri="{FF2B5EF4-FFF2-40B4-BE49-F238E27FC236}">
                <a16:creationId xmlns:a16="http://schemas.microsoft.com/office/drawing/2014/main" id="{2EAD4453-7FC1-47A2-ADDD-B2858C1CA3F2}"/>
              </a:ext>
            </a:extLst>
          </p:cNvPr>
          <p:cNvSpPr txBox="1"/>
          <p:nvPr/>
        </p:nvSpPr>
        <p:spPr>
          <a:xfrm>
            <a:off x="549659" y="16288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本社</a:t>
            </a:r>
          </a:p>
        </p:txBody>
      </p:sp>
      <p:sp>
        <p:nvSpPr>
          <p:cNvPr id="45" name="円/楕円 224">
            <a:extLst>
              <a:ext uri="{FF2B5EF4-FFF2-40B4-BE49-F238E27FC236}">
                <a16:creationId xmlns:a16="http://schemas.microsoft.com/office/drawing/2014/main" id="{2F26C12C-6098-4985-AA49-339ECF505B7E}"/>
              </a:ext>
            </a:extLst>
          </p:cNvPr>
          <p:cNvSpPr/>
          <p:nvPr/>
        </p:nvSpPr>
        <p:spPr>
          <a:xfrm>
            <a:off x="3908305" y="976054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46" name="円/楕円 227">
            <a:extLst>
              <a:ext uri="{FF2B5EF4-FFF2-40B4-BE49-F238E27FC236}">
                <a16:creationId xmlns:a16="http://schemas.microsoft.com/office/drawing/2014/main" id="{2ED131AE-76FE-47DE-9297-5C7B14B9D58A}"/>
              </a:ext>
            </a:extLst>
          </p:cNvPr>
          <p:cNvSpPr/>
          <p:nvPr/>
        </p:nvSpPr>
        <p:spPr>
          <a:xfrm>
            <a:off x="3913659" y="1333467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47" name="角丸四角形 275">
            <a:extLst>
              <a:ext uri="{FF2B5EF4-FFF2-40B4-BE49-F238E27FC236}">
                <a16:creationId xmlns:a16="http://schemas.microsoft.com/office/drawing/2014/main" id="{AF3584EA-76C7-4E7C-8B18-35E08C3D2E37}"/>
              </a:ext>
            </a:extLst>
          </p:cNvPr>
          <p:cNvSpPr/>
          <p:nvPr/>
        </p:nvSpPr>
        <p:spPr>
          <a:xfrm>
            <a:off x="2427935" y="915334"/>
            <a:ext cx="1510338" cy="355898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48" name="角丸四角形 276">
            <a:extLst>
              <a:ext uri="{FF2B5EF4-FFF2-40B4-BE49-F238E27FC236}">
                <a16:creationId xmlns:a16="http://schemas.microsoft.com/office/drawing/2014/main" id="{0E341540-5630-41DD-A446-0E8727D62245}"/>
              </a:ext>
            </a:extLst>
          </p:cNvPr>
          <p:cNvSpPr/>
          <p:nvPr/>
        </p:nvSpPr>
        <p:spPr>
          <a:xfrm>
            <a:off x="2430904" y="1358844"/>
            <a:ext cx="1500957" cy="315233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49" name="円/楕円 225">
            <a:extLst>
              <a:ext uri="{FF2B5EF4-FFF2-40B4-BE49-F238E27FC236}">
                <a16:creationId xmlns:a16="http://schemas.microsoft.com/office/drawing/2014/main" id="{9B57374E-4DC4-46F7-8276-3090D6E0C47C}"/>
              </a:ext>
            </a:extLst>
          </p:cNvPr>
          <p:cNvSpPr/>
          <p:nvPr/>
        </p:nvSpPr>
        <p:spPr>
          <a:xfrm>
            <a:off x="2168700" y="969259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50" name="円/楕円 228">
            <a:extLst>
              <a:ext uri="{FF2B5EF4-FFF2-40B4-BE49-F238E27FC236}">
                <a16:creationId xmlns:a16="http://schemas.microsoft.com/office/drawing/2014/main" id="{B46D1530-4CE5-4F44-A389-D9EF712C1A8B}"/>
              </a:ext>
            </a:extLst>
          </p:cNvPr>
          <p:cNvSpPr/>
          <p:nvPr/>
        </p:nvSpPr>
        <p:spPr>
          <a:xfrm>
            <a:off x="2181398" y="1324801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51" name="テキスト ボックス 92">
            <a:extLst>
              <a:ext uri="{FF2B5EF4-FFF2-40B4-BE49-F238E27FC236}">
                <a16:creationId xmlns:a16="http://schemas.microsoft.com/office/drawing/2014/main" id="{96D34AAB-95B5-41B6-9599-6CA5C1306179}"/>
              </a:ext>
            </a:extLst>
          </p:cNvPr>
          <p:cNvSpPr txBox="1"/>
          <p:nvPr/>
        </p:nvSpPr>
        <p:spPr>
          <a:xfrm>
            <a:off x="2495671" y="967085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200">
                <a:solidFill>
                  <a:srgbClr val="000000"/>
                </a:solidFill>
                <a:latin typeface="Calibri" panose="020F0502020204030204" pitchFamily="34" charset="0"/>
              </a:rPr>
              <a:t>10.11.0.24/29</a:t>
            </a:r>
            <a:endParaRPr kumimoji="1" lang="ja-JP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テキスト ボックス 93">
            <a:extLst>
              <a:ext uri="{FF2B5EF4-FFF2-40B4-BE49-F238E27FC236}">
                <a16:creationId xmlns:a16="http://schemas.microsoft.com/office/drawing/2014/main" id="{87D7D643-EA22-4D45-BCEE-D07B1ED1D739}"/>
              </a:ext>
            </a:extLst>
          </p:cNvPr>
          <p:cNvSpPr txBox="1"/>
          <p:nvPr/>
        </p:nvSpPr>
        <p:spPr>
          <a:xfrm>
            <a:off x="2495671" y="1364102"/>
            <a:ext cx="147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200">
                <a:solidFill>
                  <a:srgbClr val="000000"/>
                </a:solidFill>
                <a:latin typeface="Calibri" panose="020F0502020204030204" pitchFamily="34" charset="0"/>
              </a:rPr>
              <a:t>10.11.0.32/29</a:t>
            </a:r>
            <a:endParaRPr kumimoji="1" lang="ja-JP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円/楕円 287">
            <a:extLst>
              <a:ext uri="{FF2B5EF4-FFF2-40B4-BE49-F238E27FC236}">
                <a16:creationId xmlns:a16="http://schemas.microsoft.com/office/drawing/2014/main" id="{9E2FBB54-F3D8-49CB-8321-50CE55D5D884}"/>
              </a:ext>
            </a:extLst>
          </p:cNvPr>
          <p:cNvSpPr/>
          <p:nvPr/>
        </p:nvSpPr>
        <p:spPr>
          <a:xfrm>
            <a:off x="2356231" y="1026005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54" name="円/楕円 287">
            <a:extLst>
              <a:ext uri="{FF2B5EF4-FFF2-40B4-BE49-F238E27FC236}">
                <a16:creationId xmlns:a16="http://schemas.microsoft.com/office/drawing/2014/main" id="{36CE2B4C-0C93-4BB3-8865-52FDA5DBF97F}"/>
              </a:ext>
            </a:extLst>
          </p:cNvPr>
          <p:cNvSpPr/>
          <p:nvPr/>
        </p:nvSpPr>
        <p:spPr>
          <a:xfrm>
            <a:off x="2384724" y="1386045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55" name="円/楕円 287">
            <a:extLst>
              <a:ext uri="{FF2B5EF4-FFF2-40B4-BE49-F238E27FC236}">
                <a16:creationId xmlns:a16="http://schemas.microsoft.com/office/drawing/2014/main" id="{E089CC6C-130E-4CFA-884B-C3671BBC1809}"/>
              </a:ext>
            </a:extLst>
          </p:cNvPr>
          <p:cNvSpPr/>
          <p:nvPr/>
        </p:nvSpPr>
        <p:spPr>
          <a:xfrm>
            <a:off x="3846253" y="1026005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56" name="円/楕円 287">
            <a:extLst>
              <a:ext uri="{FF2B5EF4-FFF2-40B4-BE49-F238E27FC236}">
                <a16:creationId xmlns:a16="http://schemas.microsoft.com/office/drawing/2014/main" id="{CBE3899F-A925-4867-B4F5-B105103CA6C4}"/>
              </a:ext>
            </a:extLst>
          </p:cNvPr>
          <p:cNvSpPr/>
          <p:nvPr/>
        </p:nvSpPr>
        <p:spPr>
          <a:xfrm>
            <a:off x="3864287" y="1375281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pic>
        <p:nvPicPr>
          <p:cNvPr id="57" name="サーバ.png">
            <a:extLst>
              <a:ext uri="{FF2B5EF4-FFF2-40B4-BE49-F238E27FC236}">
                <a16:creationId xmlns:a16="http://schemas.microsoft.com/office/drawing/2014/main" id="{7A70D41E-0119-416D-9C32-08220473EE2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18124" y="989143"/>
            <a:ext cx="556619" cy="577723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0BBA0DA6-A6A3-4421-93EB-3DFF19112AE2}"/>
              </a:ext>
            </a:extLst>
          </p:cNvPr>
          <p:cNvSpPr/>
          <p:nvPr/>
        </p:nvSpPr>
        <p:spPr>
          <a:xfrm>
            <a:off x="1539153" y="796465"/>
            <a:ext cx="849912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900">
                <a:solidFill>
                  <a:srgbClr val="000000"/>
                </a:solidFill>
                <a:latin typeface="Arial Black" panose="020B0A04020102020204" pitchFamily="34" charset="0"/>
              </a:rPr>
              <a:t>DHCP</a:t>
            </a:r>
            <a:r>
              <a:rPr kumimoji="1" lang="ja-JP" altLang="en-US" sz="900">
                <a:solidFill>
                  <a:srgbClr val="000000"/>
                </a:solidFill>
                <a:latin typeface="Arial Black" panose="020B0A04020102020204" pitchFamily="34" charset="0"/>
              </a:rPr>
              <a:t>サーバ</a:t>
            </a:r>
          </a:p>
        </p:txBody>
      </p:sp>
      <p:sp>
        <p:nvSpPr>
          <p:cNvPr id="59" name="テキスト ボックス 138">
            <a:extLst>
              <a:ext uri="{FF2B5EF4-FFF2-40B4-BE49-F238E27FC236}">
                <a16:creationId xmlns:a16="http://schemas.microsoft.com/office/drawing/2014/main" id="{15C17C1B-625C-4E77-AA18-56CA7EB61D26}"/>
              </a:ext>
            </a:extLst>
          </p:cNvPr>
          <p:cNvSpPr txBox="1"/>
          <p:nvPr/>
        </p:nvSpPr>
        <p:spPr>
          <a:xfrm>
            <a:off x="5497091" y="3834581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chemeClr val="tx1"/>
                </a:solidFill>
                <a:latin typeface="Calibri" panose="020F0502020204030204" pitchFamily="34" charset="0"/>
              </a:rPr>
              <a:t>VPN(</a:t>
            </a:r>
            <a:r>
              <a:rPr kumimoji="1" lang="ja-JP" altLang="en-US" sz="1000">
                <a:solidFill>
                  <a:schemeClr val="tx1"/>
                </a:solidFill>
                <a:latin typeface="Calibri" panose="020F0502020204030204" pitchFamily="34" charset="0"/>
              </a:rPr>
              <a:t>サブ</a:t>
            </a:r>
            <a:r>
              <a:rPr kumimoji="1" lang="en-US" altLang="ja-JP" sz="100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</a:p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10.11.0.52/30</a:t>
            </a:r>
            <a:endParaRPr kumimoji="1" lang="ja-JP" altLang="en-US" sz="10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テキスト ボックス 139">
            <a:extLst>
              <a:ext uri="{FF2B5EF4-FFF2-40B4-BE49-F238E27FC236}">
                <a16:creationId xmlns:a16="http://schemas.microsoft.com/office/drawing/2014/main" id="{55D3EE3C-410D-4A4C-8995-104157356D09}"/>
              </a:ext>
            </a:extLst>
          </p:cNvPr>
          <p:cNvSpPr txBox="1"/>
          <p:nvPr/>
        </p:nvSpPr>
        <p:spPr>
          <a:xfrm>
            <a:off x="6727714" y="3615107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10.11.9.0/24</a:t>
            </a:r>
            <a:endParaRPr kumimoji="1" lang="ja-JP" altLang="en-US" sz="10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B52AEE1-9890-4EAF-9DDE-8BCA7413FE30}"/>
              </a:ext>
            </a:extLst>
          </p:cNvPr>
          <p:cNvSpPr/>
          <p:nvPr/>
        </p:nvSpPr>
        <p:spPr>
          <a:xfrm>
            <a:off x="493581" y="3039623"/>
            <a:ext cx="2686632" cy="12437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62" name="角丸四角形 233">
            <a:extLst>
              <a:ext uri="{FF2B5EF4-FFF2-40B4-BE49-F238E27FC236}">
                <a16:creationId xmlns:a16="http://schemas.microsoft.com/office/drawing/2014/main" id="{1192BFA6-7845-4D0F-B3E7-30898E40E70B}"/>
              </a:ext>
            </a:extLst>
          </p:cNvPr>
          <p:cNvSpPr/>
          <p:nvPr/>
        </p:nvSpPr>
        <p:spPr>
          <a:xfrm>
            <a:off x="633238" y="3539394"/>
            <a:ext cx="3250947" cy="603025"/>
          </a:xfrm>
          <a:prstGeom prst="roundRect">
            <a:avLst/>
          </a:prstGeom>
          <a:solidFill>
            <a:srgbClr val="FFFF99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63" name="円/楕円 214">
            <a:extLst>
              <a:ext uri="{FF2B5EF4-FFF2-40B4-BE49-F238E27FC236}">
                <a16:creationId xmlns:a16="http://schemas.microsoft.com/office/drawing/2014/main" id="{933F5E66-E9A6-48A5-B014-F25F6BD5627C}"/>
              </a:ext>
            </a:extLst>
          </p:cNvPr>
          <p:cNvSpPr/>
          <p:nvPr/>
        </p:nvSpPr>
        <p:spPr>
          <a:xfrm>
            <a:off x="3775130" y="3661496"/>
            <a:ext cx="292000" cy="29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1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1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64" name="テキスト ボックス 110">
            <a:extLst>
              <a:ext uri="{FF2B5EF4-FFF2-40B4-BE49-F238E27FC236}">
                <a16:creationId xmlns:a16="http://schemas.microsoft.com/office/drawing/2014/main" id="{38C25FBC-6389-4541-9EEA-FA584FCAF7C6}"/>
              </a:ext>
            </a:extLst>
          </p:cNvPr>
          <p:cNvSpPr txBox="1"/>
          <p:nvPr/>
        </p:nvSpPr>
        <p:spPr>
          <a:xfrm>
            <a:off x="2420924" y="3710289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200">
                <a:solidFill>
                  <a:srgbClr val="000000"/>
                </a:solidFill>
                <a:latin typeface="Calibri" panose="020F0502020204030204" pitchFamily="34" charset="0"/>
              </a:rPr>
              <a:t>192.168.10.0/24</a:t>
            </a:r>
            <a:endParaRPr kumimoji="1" lang="ja-JP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5" name="円/楕円 290">
            <a:extLst>
              <a:ext uri="{FF2B5EF4-FFF2-40B4-BE49-F238E27FC236}">
                <a16:creationId xmlns:a16="http://schemas.microsoft.com/office/drawing/2014/main" id="{18BF4C36-AB91-4B50-9005-52BBECBF0573}"/>
              </a:ext>
            </a:extLst>
          </p:cNvPr>
          <p:cNvSpPr/>
          <p:nvPr/>
        </p:nvSpPr>
        <p:spPr>
          <a:xfrm>
            <a:off x="3721479" y="3730825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66" name="テキスト ボックス 128">
            <a:extLst>
              <a:ext uri="{FF2B5EF4-FFF2-40B4-BE49-F238E27FC236}">
                <a16:creationId xmlns:a16="http://schemas.microsoft.com/office/drawing/2014/main" id="{6924CF1D-F03A-461C-A6D1-75F2BF45E686}"/>
              </a:ext>
            </a:extLst>
          </p:cNvPr>
          <p:cNvSpPr txBox="1"/>
          <p:nvPr/>
        </p:nvSpPr>
        <p:spPr>
          <a:xfrm>
            <a:off x="481848" y="3085683"/>
            <a:ext cx="1130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大阪</a:t>
            </a:r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defTabSz="914217" eaLnBrk="1" hangingPunct="1"/>
            <a:r>
              <a:rPr kumimoji="1" lang="ja-JP" altLang="en-US" sz="1400">
                <a:solidFill>
                  <a:srgbClr val="000000"/>
                </a:solidFill>
                <a:latin typeface="Arial Black" panose="020B0A04020102020204" pitchFamily="34" charset="0"/>
              </a:rPr>
              <a:t>（ルータレス）</a:t>
            </a:r>
          </a:p>
        </p:txBody>
      </p:sp>
      <p:sp>
        <p:nvSpPr>
          <p:cNvPr id="67" name="角丸四角形 120">
            <a:extLst>
              <a:ext uri="{FF2B5EF4-FFF2-40B4-BE49-F238E27FC236}">
                <a16:creationId xmlns:a16="http://schemas.microsoft.com/office/drawing/2014/main" id="{7CE2B63E-2BC4-44E1-B26F-124F1F812F78}"/>
              </a:ext>
            </a:extLst>
          </p:cNvPr>
          <p:cNvSpPr/>
          <p:nvPr/>
        </p:nvSpPr>
        <p:spPr>
          <a:xfrm>
            <a:off x="7826432" y="995159"/>
            <a:ext cx="1440613" cy="11445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r>
              <a:rPr kumimoji="1" lang="en-US" altLang="ja-JP" sz="1400">
                <a:solidFill>
                  <a:srgbClr val="000000"/>
                </a:solidFill>
                <a:latin typeface="Arial Black" panose="020B0A04020102020204" pitchFamily="34" charset="0"/>
                <a:ea typeface="HGP創英角ｺﾞｼｯｸUB" panose="020B0900000000000000" pitchFamily="50" charset="-128"/>
              </a:rPr>
              <a:t>Azure</a:t>
            </a:r>
            <a:endParaRPr kumimoji="1" lang="ja-JP" altLang="en-US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</p:txBody>
      </p:sp>
      <p:sp>
        <p:nvSpPr>
          <p:cNvPr id="68" name="円/楕円 224">
            <a:extLst>
              <a:ext uri="{FF2B5EF4-FFF2-40B4-BE49-F238E27FC236}">
                <a16:creationId xmlns:a16="http://schemas.microsoft.com/office/drawing/2014/main" id="{9D2A3FA5-083E-4667-AFA7-58597D244A9E}"/>
              </a:ext>
            </a:extLst>
          </p:cNvPr>
          <p:cNvSpPr/>
          <p:nvPr/>
        </p:nvSpPr>
        <p:spPr>
          <a:xfrm>
            <a:off x="7677323" y="1194082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69" name="円/楕円 227">
            <a:extLst>
              <a:ext uri="{FF2B5EF4-FFF2-40B4-BE49-F238E27FC236}">
                <a16:creationId xmlns:a16="http://schemas.microsoft.com/office/drawing/2014/main" id="{EA7C2879-A908-4CC0-B3CC-C8AA0562AF25}"/>
              </a:ext>
            </a:extLst>
          </p:cNvPr>
          <p:cNvSpPr/>
          <p:nvPr/>
        </p:nvSpPr>
        <p:spPr>
          <a:xfrm>
            <a:off x="7682677" y="1551495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0" name="角丸四角形 275">
            <a:extLst>
              <a:ext uri="{FF2B5EF4-FFF2-40B4-BE49-F238E27FC236}">
                <a16:creationId xmlns:a16="http://schemas.microsoft.com/office/drawing/2014/main" id="{D87A443B-E3C0-4700-832E-7E2DB29FC764}"/>
              </a:ext>
            </a:extLst>
          </p:cNvPr>
          <p:cNvSpPr/>
          <p:nvPr/>
        </p:nvSpPr>
        <p:spPr>
          <a:xfrm>
            <a:off x="5492941" y="1133362"/>
            <a:ext cx="2222831" cy="355898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71" name="角丸四角形 276">
            <a:extLst>
              <a:ext uri="{FF2B5EF4-FFF2-40B4-BE49-F238E27FC236}">
                <a16:creationId xmlns:a16="http://schemas.microsoft.com/office/drawing/2014/main" id="{52BDC411-9AE5-445F-B8F3-3BA5DC087536}"/>
              </a:ext>
            </a:extLst>
          </p:cNvPr>
          <p:cNvSpPr/>
          <p:nvPr/>
        </p:nvSpPr>
        <p:spPr>
          <a:xfrm>
            <a:off x="5492941" y="1576872"/>
            <a:ext cx="2209024" cy="315233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72" name="円/楕円 225">
            <a:extLst>
              <a:ext uri="{FF2B5EF4-FFF2-40B4-BE49-F238E27FC236}">
                <a16:creationId xmlns:a16="http://schemas.microsoft.com/office/drawing/2014/main" id="{3A4DA816-807F-47B8-8BC4-A4A9F164922E}"/>
              </a:ext>
            </a:extLst>
          </p:cNvPr>
          <p:cNvSpPr/>
          <p:nvPr/>
        </p:nvSpPr>
        <p:spPr>
          <a:xfrm>
            <a:off x="5281067" y="1187287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3" name="円/楕円 228">
            <a:extLst>
              <a:ext uri="{FF2B5EF4-FFF2-40B4-BE49-F238E27FC236}">
                <a16:creationId xmlns:a16="http://schemas.microsoft.com/office/drawing/2014/main" id="{CAC8892A-2106-4682-A04C-02F63C0E4AD3}"/>
              </a:ext>
            </a:extLst>
          </p:cNvPr>
          <p:cNvSpPr/>
          <p:nvPr/>
        </p:nvSpPr>
        <p:spPr>
          <a:xfrm>
            <a:off x="5293765" y="1542829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4" name="テキスト ボックス 149">
            <a:extLst>
              <a:ext uri="{FF2B5EF4-FFF2-40B4-BE49-F238E27FC236}">
                <a16:creationId xmlns:a16="http://schemas.microsoft.com/office/drawing/2014/main" id="{A802FB12-EEB8-4C6B-A391-4D5A79CC8EF3}"/>
              </a:ext>
            </a:extLst>
          </p:cNvPr>
          <p:cNvSpPr txBox="1"/>
          <p:nvPr/>
        </p:nvSpPr>
        <p:spPr>
          <a:xfrm>
            <a:off x="5997062" y="1179244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Calibri" panose="020F0502020204030204" pitchFamily="34" charset="0"/>
              </a:rPr>
              <a:t>10.11.0.16</a:t>
            </a:r>
            <a:r>
              <a:rPr kumimoji="1" lang="en-US" altLang="ja-JP" sz="1000" b="1">
                <a:solidFill>
                  <a:srgbClr val="000000"/>
                </a:solidFill>
                <a:latin typeface="+mn-ea"/>
                <a:ea typeface="+mn-ea"/>
              </a:rPr>
              <a:t>/30</a:t>
            </a:r>
            <a:endParaRPr kumimoji="1" lang="ja-JP" altLang="en-US" sz="1000" b="1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5" name="円/楕円 287">
            <a:extLst>
              <a:ext uri="{FF2B5EF4-FFF2-40B4-BE49-F238E27FC236}">
                <a16:creationId xmlns:a16="http://schemas.microsoft.com/office/drawing/2014/main" id="{C1FD4047-5182-4A95-9D02-6AC30EA0A07F}"/>
              </a:ext>
            </a:extLst>
          </p:cNvPr>
          <p:cNvSpPr/>
          <p:nvPr/>
        </p:nvSpPr>
        <p:spPr>
          <a:xfrm>
            <a:off x="5468598" y="1244033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6" name="円/楕円 287">
            <a:extLst>
              <a:ext uri="{FF2B5EF4-FFF2-40B4-BE49-F238E27FC236}">
                <a16:creationId xmlns:a16="http://schemas.microsoft.com/office/drawing/2014/main" id="{2A3ADC5B-B68D-4B41-9709-019A31EE2058}"/>
              </a:ext>
            </a:extLst>
          </p:cNvPr>
          <p:cNvSpPr/>
          <p:nvPr/>
        </p:nvSpPr>
        <p:spPr>
          <a:xfrm>
            <a:off x="5497091" y="1604073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7" name="円/楕円 287">
            <a:extLst>
              <a:ext uri="{FF2B5EF4-FFF2-40B4-BE49-F238E27FC236}">
                <a16:creationId xmlns:a16="http://schemas.microsoft.com/office/drawing/2014/main" id="{7BE24363-2F5D-413F-9F42-7B792BEF884D}"/>
              </a:ext>
            </a:extLst>
          </p:cNvPr>
          <p:cNvSpPr/>
          <p:nvPr/>
        </p:nvSpPr>
        <p:spPr>
          <a:xfrm>
            <a:off x="7615271" y="1244033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8" name="円/楕円 287">
            <a:extLst>
              <a:ext uri="{FF2B5EF4-FFF2-40B4-BE49-F238E27FC236}">
                <a16:creationId xmlns:a16="http://schemas.microsoft.com/office/drawing/2014/main" id="{6DA49DF4-C2F7-46C3-87D4-E6A4E6DF7FBE}"/>
              </a:ext>
            </a:extLst>
          </p:cNvPr>
          <p:cNvSpPr/>
          <p:nvPr/>
        </p:nvSpPr>
        <p:spPr>
          <a:xfrm>
            <a:off x="7633305" y="1593309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3C13DC9D-FC22-4B82-8367-46B3E7F004E7}"/>
              </a:ext>
            </a:extLst>
          </p:cNvPr>
          <p:cNvSpPr/>
          <p:nvPr/>
        </p:nvSpPr>
        <p:spPr>
          <a:xfrm>
            <a:off x="5571584" y="792110"/>
            <a:ext cx="1942712" cy="276999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/>
            <a:r>
              <a:rPr lang="ja-JP" altLang="en-US" sz="1200"/>
              <a:t>ダイレクトアクセス </a:t>
            </a:r>
            <a:r>
              <a:rPr lang="en-US" altLang="ja-JP" sz="1200"/>
              <a:t>for Azure</a:t>
            </a:r>
            <a:endParaRPr lang="ja-JP" altLang="en-US" sz="1200"/>
          </a:p>
        </p:txBody>
      </p:sp>
      <p:sp>
        <p:nvSpPr>
          <p:cNvPr id="80" name="テキスト ボックス 157">
            <a:extLst>
              <a:ext uri="{FF2B5EF4-FFF2-40B4-BE49-F238E27FC236}">
                <a16:creationId xmlns:a16="http://schemas.microsoft.com/office/drawing/2014/main" id="{17E7171A-109D-4279-8D92-8B56E4FC7240}"/>
              </a:ext>
            </a:extLst>
          </p:cNvPr>
          <p:cNvSpPr txBox="1"/>
          <p:nvPr/>
        </p:nvSpPr>
        <p:spPr>
          <a:xfrm>
            <a:off x="5997062" y="1605458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Calibri" panose="020F0502020204030204" pitchFamily="34" charset="0"/>
              </a:rPr>
              <a:t>10.11.0.20</a:t>
            </a:r>
            <a:r>
              <a:rPr kumimoji="1" lang="en-US" altLang="ja-JP" sz="1000" b="1">
                <a:solidFill>
                  <a:srgbClr val="000000"/>
                </a:solidFill>
                <a:latin typeface="+mn-ea"/>
                <a:ea typeface="+mn-ea"/>
              </a:rPr>
              <a:t>/30</a:t>
            </a:r>
            <a:endParaRPr kumimoji="1" lang="ja-JP" altLang="en-US" sz="1000" b="1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81" name="サーバ.png">
            <a:extLst>
              <a:ext uri="{FF2B5EF4-FFF2-40B4-BE49-F238E27FC236}">
                <a16:creationId xmlns:a16="http://schemas.microsoft.com/office/drawing/2014/main" id="{66892621-D2A5-4377-AAF4-0F9855BCFC4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52145" y="1124200"/>
            <a:ext cx="556619" cy="577723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77DBA96-FBE0-4259-A583-039F9A79D98D}"/>
              </a:ext>
            </a:extLst>
          </p:cNvPr>
          <p:cNvSpPr/>
          <p:nvPr/>
        </p:nvSpPr>
        <p:spPr>
          <a:xfrm>
            <a:off x="5497091" y="5044132"/>
            <a:ext cx="1779653" cy="276999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/>
            <a:r>
              <a:rPr lang="ja-JP" altLang="en-US" sz="1200"/>
              <a:t>セキュアリモートアクセス</a:t>
            </a:r>
            <a:r>
              <a:rPr lang="en-US" altLang="ja-JP" sz="1200"/>
              <a:t>2</a:t>
            </a:r>
            <a:endParaRPr lang="ja-JP" altLang="en-US" sz="1200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801277B1-C167-4BC3-A829-B4B7888611A2}"/>
              </a:ext>
            </a:extLst>
          </p:cNvPr>
          <p:cNvSpPr/>
          <p:nvPr/>
        </p:nvSpPr>
        <p:spPr>
          <a:xfrm>
            <a:off x="6695360" y="3429815"/>
            <a:ext cx="750526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</a:rPr>
              <a:t>プライベート</a:t>
            </a:r>
          </a:p>
        </p:txBody>
      </p:sp>
      <p:sp>
        <p:nvSpPr>
          <p:cNvPr id="84" name="角丸四角形 278">
            <a:extLst>
              <a:ext uri="{FF2B5EF4-FFF2-40B4-BE49-F238E27FC236}">
                <a16:creationId xmlns:a16="http://schemas.microsoft.com/office/drawing/2014/main" id="{1364E2A4-2390-45DD-A961-A257105264D5}"/>
              </a:ext>
            </a:extLst>
          </p:cNvPr>
          <p:cNvSpPr/>
          <p:nvPr/>
        </p:nvSpPr>
        <p:spPr>
          <a:xfrm>
            <a:off x="6685747" y="5369202"/>
            <a:ext cx="1058810" cy="1273162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85" name="角丸四角形 120">
            <a:extLst>
              <a:ext uri="{FF2B5EF4-FFF2-40B4-BE49-F238E27FC236}">
                <a16:creationId xmlns:a16="http://schemas.microsoft.com/office/drawing/2014/main" id="{FC196AAC-7631-46C5-A7DA-6239D6345495}"/>
              </a:ext>
            </a:extLst>
          </p:cNvPr>
          <p:cNvSpPr/>
          <p:nvPr/>
        </p:nvSpPr>
        <p:spPr>
          <a:xfrm>
            <a:off x="7826432" y="5236783"/>
            <a:ext cx="1440613" cy="11445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endParaRPr kumimoji="1" lang="en-US" altLang="ja-JP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  <a:p>
            <a:pPr algn="ctr" defTabSz="914217" eaLnBrk="1" hangingPunct="1"/>
            <a:r>
              <a:rPr kumimoji="1" lang="en-US" altLang="ja-JP" sz="1400">
                <a:solidFill>
                  <a:srgbClr val="000000"/>
                </a:solidFill>
                <a:latin typeface="Arial Black" panose="020B0A04020102020204" pitchFamily="34" charset="0"/>
                <a:ea typeface="HGP創英角ｺﾞｼｯｸUB" panose="020B0900000000000000" pitchFamily="50" charset="-128"/>
              </a:rPr>
              <a:t>Internet</a:t>
            </a:r>
            <a:endParaRPr kumimoji="1" lang="ja-JP" altLang="en-US" sz="1400">
              <a:solidFill>
                <a:srgbClr val="000000"/>
              </a:solidFill>
              <a:latin typeface="Arial Black" panose="020B0A04020102020204" pitchFamily="34" charset="0"/>
              <a:ea typeface="HGP創英角ｺﾞｼｯｸUB" panose="020B0900000000000000" pitchFamily="50" charset="-128"/>
            </a:endParaRPr>
          </a:p>
        </p:txBody>
      </p:sp>
      <p:pic>
        <p:nvPicPr>
          <p:cNvPr id="86" name="Picture 89" descr="14">
            <a:extLst>
              <a:ext uri="{FF2B5EF4-FFF2-40B4-BE49-F238E27FC236}">
                <a16:creationId xmlns:a16="http://schemas.microsoft.com/office/drawing/2014/main" id="{7BD84620-8653-4961-8C71-1450A04B2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578" y="5435549"/>
            <a:ext cx="403180" cy="499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円/楕円 224">
            <a:extLst>
              <a:ext uri="{FF2B5EF4-FFF2-40B4-BE49-F238E27FC236}">
                <a16:creationId xmlns:a16="http://schemas.microsoft.com/office/drawing/2014/main" id="{73A354BE-ED16-4D06-A202-5E0C546E2CE9}"/>
              </a:ext>
            </a:extLst>
          </p:cNvPr>
          <p:cNvSpPr/>
          <p:nvPr/>
        </p:nvSpPr>
        <p:spPr>
          <a:xfrm>
            <a:off x="6495247" y="5435706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88" name="円/楕円 227">
            <a:extLst>
              <a:ext uri="{FF2B5EF4-FFF2-40B4-BE49-F238E27FC236}">
                <a16:creationId xmlns:a16="http://schemas.microsoft.com/office/drawing/2014/main" id="{47847458-3D52-45C8-8D22-EB1C7A341C81}"/>
              </a:ext>
            </a:extLst>
          </p:cNvPr>
          <p:cNvSpPr/>
          <p:nvPr/>
        </p:nvSpPr>
        <p:spPr>
          <a:xfrm>
            <a:off x="6500601" y="5793119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64A125F9-6024-4F08-ACE4-C63064DA4608}"/>
              </a:ext>
            </a:extLst>
          </p:cNvPr>
          <p:cNvCxnSpPr>
            <a:cxnSpLocks/>
          </p:cNvCxnSpPr>
          <p:nvPr/>
        </p:nvCxnSpPr>
        <p:spPr>
          <a:xfrm flipV="1">
            <a:off x="4921027" y="5784453"/>
            <a:ext cx="3546858" cy="8666"/>
          </a:xfrm>
          <a:prstGeom prst="straightConnector1">
            <a:avLst/>
          </a:prstGeom>
          <a:ln w="34925">
            <a:solidFill>
              <a:srgbClr val="0070C0"/>
            </a:solidFill>
            <a:prstDash val="sysDot"/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角丸四角形 275">
            <a:extLst>
              <a:ext uri="{FF2B5EF4-FFF2-40B4-BE49-F238E27FC236}">
                <a16:creationId xmlns:a16="http://schemas.microsoft.com/office/drawing/2014/main" id="{7B094DBE-88D6-4234-8729-4B1CF964F9AF}"/>
              </a:ext>
            </a:extLst>
          </p:cNvPr>
          <p:cNvSpPr/>
          <p:nvPr/>
        </p:nvSpPr>
        <p:spPr>
          <a:xfrm>
            <a:off x="5492941" y="5374986"/>
            <a:ext cx="1032273" cy="355898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91" name="角丸四角形 276">
            <a:extLst>
              <a:ext uri="{FF2B5EF4-FFF2-40B4-BE49-F238E27FC236}">
                <a16:creationId xmlns:a16="http://schemas.microsoft.com/office/drawing/2014/main" id="{7FF05A8D-8322-46D0-8F34-39536E6AF32E}"/>
              </a:ext>
            </a:extLst>
          </p:cNvPr>
          <p:cNvSpPr/>
          <p:nvPr/>
        </p:nvSpPr>
        <p:spPr>
          <a:xfrm>
            <a:off x="5492941" y="5818496"/>
            <a:ext cx="1025861" cy="315233"/>
          </a:xfrm>
          <a:prstGeom prst="roundRect">
            <a:avLst/>
          </a:prstGeom>
          <a:solidFill>
            <a:srgbClr val="FFCCFF"/>
          </a:solidFill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92" name="円/楕円 225">
            <a:extLst>
              <a:ext uri="{FF2B5EF4-FFF2-40B4-BE49-F238E27FC236}">
                <a16:creationId xmlns:a16="http://schemas.microsoft.com/office/drawing/2014/main" id="{54A6A219-66F8-488B-B44E-93B0757F7F88}"/>
              </a:ext>
            </a:extLst>
          </p:cNvPr>
          <p:cNvSpPr/>
          <p:nvPr/>
        </p:nvSpPr>
        <p:spPr>
          <a:xfrm>
            <a:off x="5281067" y="5428911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93" name="円/楕円 228">
            <a:extLst>
              <a:ext uri="{FF2B5EF4-FFF2-40B4-BE49-F238E27FC236}">
                <a16:creationId xmlns:a16="http://schemas.microsoft.com/office/drawing/2014/main" id="{C4F322DE-2B9E-40BB-B715-4FA7D79D297C}"/>
              </a:ext>
            </a:extLst>
          </p:cNvPr>
          <p:cNvSpPr/>
          <p:nvPr/>
        </p:nvSpPr>
        <p:spPr>
          <a:xfrm>
            <a:off x="5293765" y="5784453"/>
            <a:ext cx="262686" cy="2626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Arial Black" panose="020B0A04020102020204" pitchFamily="34" charset="0"/>
                <a:ea typeface="ＭＳ Ｐゴシック"/>
              </a:rPr>
              <a:t>R</a:t>
            </a:r>
            <a:endParaRPr kumimoji="1" lang="ja-JP" altLang="en-US" sz="1000">
              <a:solidFill>
                <a:srgbClr val="000000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94" name="テキスト ボックス 254">
            <a:extLst>
              <a:ext uri="{FF2B5EF4-FFF2-40B4-BE49-F238E27FC236}">
                <a16:creationId xmlns:a16="http://schemas.microsoft.com/office/drawing/2014/main" id="{1528313D-AF7F-4A4B-A4C6-DFC92196E0BE}"/>
              </a:ext>
            </a:extLst>
          </p:cNvPr>
          <p:cNvSpPr txBox="1"/>
          <p:nvPr/>
        </p:nvSpPr>
        <p:spPr>
          <a:xfrm>
            <a:off x="5497091" y="5420868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Calibri" panose="020F0502020204030204" pitchFamily="34" charset="0"/>
              </a:rPr>
              <a:t>10.11.0.8/30</a:t>
            </a:r>
            <a:endParaRPr kumimoji="1" lang="ja-JP" altLang="en-US" sz="1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円/楕円 287">
            <a:extLst>
              <a:ext uri="{FF2B5EF4-FFF2-40B4-BE49-F238E27FC236}">
                <a16:creationId xmlns:a16="http://schemas.microsoft.com/office/drawing/2014/main" id="{12A04274-99FA-4EF2-8905-FC8B947433A4}"/>
              </a:ext>
            </a:extLst>
          </p:cNvPr>
          <p:cNvSpPr/>
          <p:nvPr/>
        </p:nvSpPr>
        <p:spPr>
          <a:xfrm>
            <a:off x="5468598" y="5485657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96" name="円/楕円 287">
            <a:extLst>
              <a:ext uri="{FF2B5EF4-FFF2-40B4-BE49-F238E27FC236}">
                <a16:creationId xmlns:a16="http://schemas.microsoft.com/office/drawing/2014/main" id="{55C55854-B060-4694-BE7D-9119B03DB953}"/>
              </a:ext>
            </a:extLst>
          </p:cNvPr>
          <p:cNvSpPr/>
          <p:nvPr/>
        </p:nvSpPr>
        <p:spPr>
          <a:xfrm>
            <a:off x="5497091" y="5845697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97" name="円/楕円 287">
            <a:extLst>
              <a:ext uri="{FF2B5EF4-FFF2-40B4-BE49-F238E27FC236}">
                <a16:creationId xmlns:a16="http://schemas.microsoft.com/office/drawing/2014/main" id="{604CB988-109A-463C-B579-394F97EB1FA5}"/>
              </a:ext>
            </a:extLst>
          </p:cNvPr>
          <p:cNvSpPr/>
          <p:nvPr/>
        </p:nvSpPr>
        <p:spPr>
          <a:xfrm>
            <a:off x="6433195" y="5485657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98" name="円/楕円 287">
            <a:extLst>
              <a:ext uri="{FF2B5EF4-FFF2-40B4-BE49-F238E27FC236}">
                <a16:creationId xmlns:a16="http://schemas.microsoft.com/office/drawing/2014/main" id="{FDCF0AEE-BF8C-442E-93BC-300BEFB75F91}"/>
              </a:ext>
            </a:extLst>
          </p:cNvPr>
          <p:cNvSpPr/>
          <p:nvPr/>
        </p:nvSpPr>
        <p:spPr>
          <a:xfrm>
            <a:off x="6451229" y="5834933"/>
            <a:ext cx="100501" cy="100501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17" eaLnBrk="1" hangingPunct="1"/>
            <a:endParaRPr kumimoji="1" lang="ja-JP" altLang="en-US">
              <a:solidFill>
                <a:srgbClr val="FFFFFF"/>
              </a:solidFill>
              <a:latin typeface="Arial Black" panose="020B0A04020102020204" pitchFamily="34" charset="0"/>
              <a:ea typeface="ＭＳ Ｐゴシック"/>
            </a:endParaRPr>
          </a:p>
        </p:txBody>
      </p:sp>
      <p:sp>
        <p:nvSpPr>
          <p:cNvPr id="99" name="テキスト ボックス 262">
            <a:extLst>
              <a:ext uri="{FF2B5EF4-FFF2-40B4-BE49-F238E27FC236}">
                <a16:creationId xmlns:a16="http://schemas.microsoft.com/office/drawing/2014/main" id="{5E0AB91D-2DF3-4E7D-BBD5-87E39563909E}"/>
              </a:ext>
            </a:extLst>
          </p:cNvPr>
          <p:cNvSpPr txBox="1"/>
          <p:nvPr/>
        </p:nvSpPr>
        <p:spPr>
          <a:xfrm>
            <a:off x="5497091" y="5847082"/>
            <a:ext cx="9220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Calibri" panose="020F0502020204030204" pitchFamily="34" charset="0"/>
              </a:rPr>
              <a:t>10.11.0.12/30</a:t>
            </a:r>
            <a:endParaRPr kumimoji="1" lang="ja-JP" altLang="en-US" sz="1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テキスト ボックス 263">
            <a:extLst>
              <a:ext uri="{FF2B5EF4-FFF2-40B4-BE49-F238E27FC236}">
                <a16:creationId xmlns:a16="http://schemas.microsoft.com/office/drawing/2014/main" id="{0D55E06B-54F9-41E0-8E86-E0E6C75F7712}"/>
              </a:ext>
            </a:extLst>
          </p:cNvPr>
          <p:cNvSpPr txBox="1"/>
          <p:nvPr/>
        </p:nvSpPr>
        <p:spPr>
          <a:xfrm>
            <a:off x="6727714" y="5559323"/>
            <a:ext cx="856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000000"/>
                </a:solidFill>
                <a:latin typeface="Calibri" panose="020F0502020204030204" pitchFamily="34" charset="0"/>
              </a:rPr>
              <a:t>10.11.2.0/24</a:t>
            </a:r>
            <a:endParaRPr kumimoji="1" lang="ja-JP" altLang="en-US" sz="1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70C333C3-AF8A-4F9C-B0A2-2C1964051F53}"/>
              </a:ext>
            </a:extLst>
          </p:cNvPr>
          <p:cNvSpPr/>
          <p:nvPr/>
        </p:nvSpPr>
        <p:spPr>
          <a:xfrm>
            <a:off x="6695360" y="5374031"/>
            <a:ext cx="750526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</a:rPr>
              <a:t>プライベート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587DFC4C-3C64-4B4E-983A-C9FCD4DDA00D}"/>
              </a:ext>
            </a:extLst>
          </p:cNvPr>
          <p:cNvSpPr/>
          <p:nvPr/>
        </p:nvSpPr>
        <p:spPr>
          <a:xfrm>
            <a:off x="5427600" y="1964418"/>
            <a:ext cx="2409634" cy="861774"/>
          </a:xfrm>
          <a:prstGeom prst="rect">
            <a:avLst/>
          </a:prstGeom>
          <a:solidFill>
            <a:srgbClr val="0070C0"/>
          </a:solidFill>
        </p:spPr>
        <p:txBody>
          <a:bodyPr wrap="none" lIns="91440" tIns="45720" rIns="91440" bIns="45720" anchor="t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algn="ctr"/>
            <a:r>
              <a:rPr lang="ja-JP" altLang="en-US" sz="1000"/>
              <a:t>ダイレクトアクセス</a:t>
            </a:r>
            <a:r>
              <a:rPr lang="en-US" altLang="ja-JP" sz="1000"/>
              <a:t>for Azure</a:t>
            </a:r>
          </a:p>
          <a:p>
            <a:pPr algn="ctr"/>
            <a:r>
              <a:rPr lang="en-US" altLang="ja-JP" sz="1000">
                <a:latin typeface="Times New Roman"/>
                <a:ea typeface="HGP創英角ｺﾞｼｯｸUB"/>
                <a:cs typeface="Times New Roman"/>
              </a:rPr>
              <a:t>ExpressRoute </a:t>
            </a:r>
            <a:r>
              <a:rPr lang="en-US" altLang="ja-JP" sz="1000" dirty="0" err="1">
                <a:latin typeface="Times New Roman"/>
                <a:ea typeface="HGP創英角ｺﾞｼｯｸUB"/>
                <a:cs typeface="Times New Roman"/>
              </a:rPr>
              <a:t>ServiceKey</a:t>
            </a:r>
            <a:r>
              <a:rPr lang="ja-JP" altLang="en-US" sz="1000">
                <a:latin typeface="Times New Roman"/>
                <a:ea typeface="HGP創英角ｺﾞｼｯｸUB"/>
                <a:cs typeface="Times New Roman"/>
              </a:rPr>
              <a:t>：</a:t>
            </a:r>
            <a:endParaRPr lang="en-US" altLang="ja-JP" sz="1000">
              <a:latin typeface="Times New Roman"/>
              <a:ea typeface="HGP創英角ｺﾞｼｯｸUB"/>
              <a:cs typeface="Times New Roman"/>
            </a:endParaRPr>
          </a:p>
          <a:p>
            <a:pPr algn="ctr"/>
            <a:r>
              <a:rPr lang="en-US" altLang="ja-JP" sz="1000">
                <a:solidFill>
                  <a:schemeClr val="tx1"/>
                </a:solidFill>
              </a:rPr>
              <a:t>23e27dda-0690-42b5-81e9-620b98c12824</a:t>
            </a:r>
          </a:p>
          <a:p>
            <a:pPr algn="ctr"/>
            <a:r>
              <a:rPr lang="en-US" altLang="ja-JP" sz="1000"/>
              <a:t>Premium</a:t>
            </a:r>
            <a:r>
              <a:rPr lang="ja-JP" altLang="en-US" sz="1000"/>
              <a:t>ｱﾄﾞｵﾝ： </a:t>
            </a:r>
            <a:r>
              <a:rPr lang="en-US" altLang="ja-JP" sz="1000">
                <a:solidFill>
                  <a:schemeClr val="tx1"/>
                </a:solidFill>
              </a:rPr>
              <a:t>Standard</a:t>
            </a:r>
          </a:p>
          <a:p>
            <a:pPr algn="ctr"/>
            <a:r>
              <a:rPr lang="ja-JP" altLang="en-US" sz="1000"/>
              <a:t>デプロイメントモデル： </a:t>
            </a:r>
            <a:r>
              <a:rPr lang="en-US" altLang="ja-JP" sz="1000">
                <a:solidFill>
                  <a:schemeClr val="tx1"/>
                </a:solidFill>
              </a:rPr>
              <a:t>ARM</a:t>
            </a:r>
            <a:endParaRPr lang="ja-JP" altLang="en-US" sz="1000">
              <a:solidFill>
                <a:schemeClr val="tx1"/>
              </a:solidFill>
            </a:endParaRPr>
          </a:p>
        </p:txBody>
      </p:sp>
      <p:sp>
        <p:nvSpPr>
          <p:cNvPr id="103" name="テキスト ボックス 104">
            <a:extLst>
              <a:ext uri="{FF2B5EF4-FFF2-40B4-BE49-F238E27FC236}">
                <a16:creationId xmlns:a16="http://schemas.microsoft.com/office/drawing/2014/main" id="{02F4233D-E106-4853-90FB-321A1352ED65}"/>
              </a:ext>
            </a:extLst>
          </p:cNvPr>
          <p:cNvSpPr txBox="1"/>
          <p:nvPr/>
        </p:nvSpPr>
        <p:spPr>
          <a:xfrm>
            <a:off x="6728490" y="5937588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10.11.4.0/24</a:t>
            </a:r>
          </a:p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10.11.5.0/24</a:t>
            </a:r>
          </a:p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10.11.6.0/24</a:t>
            </a:r>
          </a:p>
          <a:p>
            <a:pPr defTabSz="914217" eaLnBrk="1" hangingPunct="1"/>
            <a:r>
              <a:rPr kumimoji="1" lang="en-US" altLang="ja-JP" sz="1000">
                <a:solidFill>
                  <a:srgbClr val="FF0000"/>
                </a:solidFill>
                <a:latin typeface="Calibri" panose="020F0502020204030204" pitchFamily="34" charset="0"/>
              </a:rPr>
              <a:t>10.11.7.0/24</a:t>
            </a:r>
            <a:endParaRPr kumimoji="1" lang="ja-JP" altLang="en-US" sz="10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442D5B6-1913-460B-A701-2A473F41BB68}"/>
              </a:ext>
            </a:extLst>
          </p:cNvPr>
          <p:cNvSpPr/>
          <p:nvPr/>
        </p:nvSpPr>
        <p:spPr>
          <a:xfrm>
            <a:off x="6697585" y="5780641"/>
            <a:ext cx="537327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r>
              <a:rPr lang="en-US" altLang="ja-JP" sz="900">
                <a:solidFill>
                  <a:schemeClr val="tx1"/>
                </a:solidFill>
              </a:rPr>
              <a:t>Pool-IP</a:t>
            </a:r>
            <a:endParaRPr lang="ja-JP" altLang="en-US" sz="900">
              <a:solidFill>
                <a:schemeClr val="tx1"/>
              </a:solidFill>
            </a:endParaRPr>
          </a:p>
        </p:txBody>
      </p: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67559563-3D06-4BB8-9C34-EA34626320A3}"/>
              </a:ext>
            </a:extLst>
          </p:cNvPr>
          <p:cNvCxnSpPr>
            <a:cxnSpLocks/>
            <a:stCxn id="298" idx="2"/>
          </p:cNvCxnSpPr>
          <p:nvPr/>
        </p:nvCxnSpPr>
        <p:spPr>
          <a:xfrm flipH="1">
            <a:off x="697883" y="2171781"/>
            <a:ext cx="1179628" cy="2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93B5752D-EABB-4469-A757-465D40312C58}"/>
              </a:ext>
            </a:extLst>
          </p:cNvPr>
          <p:cNvCxnSpPr>
            <a:cxnSpLocks/>
          </p:cNvCxnSpPr>
          <p:nvPr/>
        </p:nvCxnSpPr>
        <p:spPr>
          <a:xfrm flipV="1">
            <a:off x="697883" y="2046835"/>
            <a:ext cx="0" cy="739599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7" name="Picture 37" descr="91">
            <a:extLst>
              <a:ext uri="{FF2B5EF4-FFF2-40B4-BE49-F238E27FC236}">
                <a16:creationId xmlns:a16="http://schemas.microsoft.com/office/drawing/2014/main" id="{39A8BBBF-1B48-4054-9C7E-C3C7121FA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27" y="2131300"/>
            <a:ext cx="230937" cy="25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テキスト ボックス 115">
            <a:extLst>
              <a:ext uri="{FF2B5EF4-FFF2-40B4-BE49-F238E27FC236}">
                <a16:creationId xmlns:a16="http://schemas.microsoft.com/office/drawing/2014/main" id="{B23D911C-FD12-4B17-8408-E01A25AD1DAB}"/>
              </a:ext>
            </a:extLst>
          </p:cNvPr>
          <p:cNvSpPr txBox="1"/>
          <p:nvPr/>
        </p:nvSpPr>
        <p:spPr>
          <a:xfrm>
            <a:off x="751833" y="2217058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HGP創英角ｺﾞｼｯｸUB" panose="020B0900000000000000" pitchFamily="50" charset="-128"/>
                <a:cs typeface="+mn-cs"/>
              </a:defRPr>
            </a:lvl9pPr>
          </a:lstStyle>
          <a:p>
            <a:pPr defTabSz="914217" eaLnBrk="1" hangingPunct="1"/>
            <a:r>
              <a:rPr kumimoji="1" lang="en-US" altLang="ja-JP" sz="800">
                <a:solidFill>
                  <a:srgbClr val="000000"/>
                </a:solidFill>
                <a:latin typeface="Calibri" panose="020F0502020204030204" pitchFamily="34" charset="0"/>
              </a:rPr>
              <a:t>172.16.108.0/22</a:t>
            </a:r>
          </a:p>
          <a:p>
            <a:pPr defTabSz="914217" eaLnBrk="1" hangingPunct="1"/>
            <a:r>
              <a:rPr kumimoji="1" lang="en-US" altLang="ja-JP" sz="800">
                <a:solidFill>
                  <a:srgbClr val="000000"/>
                </a:solidFill>
                <a:latin typeface="Calibri" panose="020F0502020204030204" pitchFamily="34" charset="0"/>
              </a:rPr>
              <a:t>172.16.112.0/22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056AB60C-9E8E-449A-99FF-466FCEE08E7F}"/>
              </a:ext>
            </a:extLst>
          </p:cNvPr>
          <p:cNvSpPr/>
          <p:nvPr/>
        </p:nvSpPr>
        <p:spPr>
          <a:xfrm>
            <a:off x="5065043" y="2934726"/>
            <a:ext cx="4474379" cy="172754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pic>
        <p:nvPicPr>
          <p:cNvPr id="110" name="図 109">
            <a:extLst>
              <a:ext uri="{FF2B5EF4-FFF2-40B4-BE49-F238E27FC236}">
                <a16:creationId xmlns:a16="http://schemas.microsoft.com/office/drawing/2014/main" id="{22B76E46-DBFE-7D75-13E8-D2BCB43A8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971" y="140238"/>
            <a:ext cx="1914792" cy="50489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5AF3EF-3042-1079-9E82-BF446AFF7A2C}"/>
              </a:ext>
            </a:extLst>
          </p:cNvPr>
          <p:cNvSpPr txBox="1"/>
          <p:nvPr/>
        </p:nvSpPr>
        <p:spPr>
          <a:xfrm>
            <a:off x="9410800" y="1358163"/>
            <a:ext cx="205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契約速度</a:t>
            </a:r>
            <a:r>
              <a:rPr kumimoji="1" lang="en-US" altLang="ja-JP"/>
              <a:t>200M</a:t>
            </a:r>
            <a:r>
              <a:rPr lang="ja-JP" altLang="en-US"/>
              <a:t> </a:t>
            </a:r>
            <a:r>
              <a:rPr lang="en-US" altLang="ja-JP"/>
              <a:t>bps</a:t>
            </a:r>
            <a:endParaRPr kumimoji="1" lang="ja-JP" altLang="en-US"/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16D96753-3B3B-8E93-2D1C-105059D1DF37}"/>
              </a:ext>
            </a:extLst>
          </p:cNvPr>
          <p:cNvSpPr txBox="1"/>
          <p:nvPr/>
        </p:nvSpPr>
        <p:spPr>
          <a:xfrm>
            <a:off x="9722296" y="3573004"/>
            <a:ext cx="205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契約速度</a:t>
            </a:r>
            <a:r>
              <a:rPr lang="en-US" altLang="ja-JP"/>
              <a:t>3</a:t>
            </a:r>
            <a:r>
              <a:rPr kumimoji="1" lang="en-US" altLang="ja-JP"/>
              <a:t>00M</a:t>
            </a:r>
            <a:r>
              <a:rPr lang="ja-JP" altLang="en-US"/>
              <a:t> </a:t>
            </a:r>
            <a:r>
              <a:rPr lang="en-US" altLang="ja-JP"/>
              <a:t>bps</a:t>
            </a:r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0450838B-92C1-C83E-2A60-38C477F41E4B}"/>
              </a:ext>
            </a:extLst>
          </p:cNvPr>
          <p:cNvSpPr txBox="1"/>
          <p:nvPr/>
        </p:nvSpPr>
        <p:spPr>
          <a:xfrm>
            <a:off x="9362663" y="5650267"/>
            <a:ext cx="2050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契約速度</a:t>
            </a:r>
            <a:r>
              <a:rPr lang="en-US" altLang="ja-JP"/>
              <a:t>1</a:t>
            </a:r>
            <a:r>
              <a:rPr kumimoji="1" lang="en-US" altLang="ja-JP"/>
              <a:t>00M</a:t>
            </a:r>
            <a:r>
              <a:rPr lang="ja-JP" altLang="en-US"/>
              <a:t> </a:t>
            </a:r>
            <a:r>
              <a:rPr lang="en-US" altLang="ja-JP"/>
              <a:t>bps</a:t>
            </a:r>
          </a:p>
          <a:p>
            <a:r>
              <a:rPr kumimoji="1" lang="en-US" altLang="ja-JP"/>
              <a:t>(VPN)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26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7523DA10-A7D1-4E20-A926-9596761B19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4374902"/>
              </p:ext>
            </p:ext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7523DA10-A7D1-4E20-A926-9596761B1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1F882B7D-EEA1-4A56-BD68-82ED7731FF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en-US" altLang="ja-JP" sz="2800" b="1">
              <a:solidFill>
                <a:prstClr val="white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120" name="正方形/長方形 119"/>
          <p:cNvSpPr/>
          <p:nvPr/>
        </p:nvSpPr>
        <p:spPr>
          <a:xfrm>
            <a:off x="663630" y="764895"/>
            <a:ext cx="3187149" cy="2301751"/>
          </a:xfrm>
          <a:prstGeom prst="rect">
            <a:avLst/>
          </a:prstGeom>
          <a:solidFill>
            <a:schemeClr val="accent1">
              <a:alpha val="18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FMI</a:t>
            </a:r>
            <a:r>
              <a:rPr lang="ja-JP" altLang="en-US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六本木）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8B5EF6FA-995B-4819-B416-316AB31B4EB8}"/>
              </a:ext>
            </a:extLst>
          </p:cNvPr>
          <p:cNvSpPr/>
          <p:nvPr/>
        </p:nvSpPr>
        <p:spPr>
          <a:xfrm>
            <a:off x="707805" y="3396525"/>
            <a:ext cx="1498381" cy="61942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10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大阪支店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698177" y="6269205"/>
            <a:ext cx="1498382" cy="428644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FMSI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 上海*</a:t>
            </a:r>
          </a:p>
        </p:txBody>
      </p:sp>
      <p:sp>
        <p:nvSpPr>
          <p:cNvPr id="11" name="雲 10"/>
          <p:cNvSpPr/>
          <p:nvPr/>
        </p:nvSpPr>
        <p:spPr>
          <a:xfrm>
            <a:off x="7229236" y="1324831"/>
            <a:ext cx="1260000" cy="647700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20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Internet</a:t>
            </a:r>
            <a:endParaRPr lang="ja-JP" altLang="en-US" sz="120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17" name="カギ線コネクタ 16"/>
          <p:cNvCxnSpPr>
            <a:cxnSpLocks/>
            <a:stCxn id="11" idx="1"/>
            <a:endCxn id="9" idx="3"/>
          </p:cNvCxnSpPr>
          <p:nvPr/>
        </p:nvCxnSpPr>
        <p:spPr>
          <a:xfrm rot="5400000">
            <a:off x="2772055" y="1396346"/>
            <a:ext cx="4511686" cy="56626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正方形/長方形 171"/>
          <p:cNvSpPr/>
          <p:nvPr/>
        </p:nvSpPr>
        <p:spPr>
          <a:xfrm>
            <a:off x="698177" y="5702131"/>
            <a:ext cx="1526565" cy="41924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シンガポール*</a:t>
            </a:r>
          </a:p>
        </p:txBody>
      </p:sp>
      <p:cxnSp>
        <p:nvCxnSpPr>
          <p:cNvPr id="177" name="カギ線コネクタ 176"/>
          <p:cNvCxnSpPr>
            <a:cxnSpLocks/>
            <a:stCxn id="11" idx="1"/>
            <a:endCxn id="172" idx="3"/>
          </p:cNvCxnSpPr>
          <p:nvPr/>
        </p:nvCxnSpPr>
        <p:spPr>
          <a:xfrm rot="5400000">
            <a:off x="3072032" y="1124551"/>
            <a:ext cx="3939914" cy="56344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タイトル 17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09574"/>
          </a:xfrm>
        </p:spPr>
        <p:txBody>
          <a:bodyPr>
            <a:noAutofit/>
          </a:bodyPr>
          <a:lstStyle/>
          <a:p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FMI NW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構成図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6300999"/>
            <a:ext cx="396000" cy="396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2338685" y="6572290"/>
            <a:ext cx="3689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*インターネットはレンタルオフィス経由</a:t>
            </a:r>
            <a:r>
              <a:rPr lang="en-US" altLang="ja-JP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/</a:t>
            </a: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本社とは</a:t>
            </a:r>
            <a:r>
              <a:rPr lang="en-US" altLang="ja-JP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SRA2</a:t>
            </a: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を利用してアクセス</a:t>
            </a: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81686" y="75602"/>
            <a:ext cx="2473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【2024</a:t>
            </a:r>
            <a:r>
              <a:rPr lang="ja-JP" altLang="en-US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年</a:t>
            </a: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月時点</a:t>
            </a: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endParaRPr lang="ja-JP" altLang="en-US" sz="11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67" name="図 6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5697699"/>
            <a:ext cx="396000" cy="396000"/>
          </a:xfrm>
          <a:prstGeom prst="rect">
            <a:avLst/>
          </a:prstGeom>
        </p:spPr>
      </p:pic>
      <p:sp>
        <p:nvSpPr>
          <p:cNvPr id="74" name="正方形/長方形 73"/>
          <p:cNvSpPr/>
          <p:nvPr/>
        </p:nvSpPr>
        <p:spPr>
          <a:xfrm>
            <a:off x="698177" y="5129508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ニューヨーク*</a:t>
            </a:r>
          </a:p>
        </p:txBody>
      </p:sp>
      <p:pic>
        <p:nvPicPr>
          <p:cNvPr id="75" name="図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5116843"/>
            <a:ext cx="396000" cy="396000"/>
          </a:xfrm>
          <a:prstGeom prst="rect">
            <a:avLst/>
          </a:prstGeom>
        </p:spPr>
      </p:pic>
      <p:cxnSp>
        <p:nvCxnSpPr>
          <p:cNvPr id="76" name="カギ線コネクタ 75"/>
          <p:cNvCxnSpPr>
            <a:cxnSpLocks/>
            <a:stCxn id="11" idx="1"/>
            <a:endCxn id="74" idx="3"/>
          </p:cNvCxnSpPr>
          <p:nvPr/>
        </p:nvCxnSpPr>
        <p:spPr>
          <a:xfrm rot="5400000">
            <a:off x="3363941" y="832642"/>
            <a:ext cx="3356096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 descr="\\fmisv105\Users02$\totsuka\download\Image\Microsoft_CloudnEnterprise_Symbols_v2.7KP\Symbols\CnE_Cloud\PNG\Azure DNS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387" y="19162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1" name="直線コネクタ 120"/>
          <p:cNvCxnSpPr>
            <a:cxnSpLocks/>
          </p:cNvCxnSpPr>
          <p:nvPr/>
        </p:nvCxnSpPr>
        <p:spPr>
          <a:xfrm>
            <a:off x="854930" y="1625949"/>
            <a:ext cx="2493120" cy="12252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3" descr="\\fmisv105\Users02$\totsuka\download\Image\Microsoft_CloudnEnterprise_Symbols_v2.7KP\Symbols\CnE_Enterprise\Domain controller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768" y="114911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テキスト ボックス 143"/>
          <p:cNvSpPr txBox="1"/>
          <p:nvPr/>
        </p:nvSpPr>
        <p:spPr>
          <a:xfrm>
            <a:off x="1707071" y="919042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Backup</a:t>
            </a:r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1215759" y="934984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</a:t>
            </a:r>
          </a:p>
        </p:txBody>
      </p:sp>
      <p:pic>
        <p:nvPicPr>
          <p:cNvPr id="1028" name="Picture 4" descr="\\fmisv105\Users02$\totsuka\download\Image\Microsoft_CloudnEnterprise_Symbols_v2.7KP\Symbols\CnE_Cloud\PNG\Cloud, Office 365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68" y="143688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F57504F1-B835-4163-BDD9-88B41C9F0DB2}"/>
              </a:ext>
            </a:extLst>
          </p:cNvPr>
          <p:cNvSpPr txBox="1"/>
          <p:nvPr/>
        </p:nvSpPr>
        <p:spPr>
          <a:xfrm>
            <a:off x="636770" y="3147484"/>
            <a:ext cx="1292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211.121.116.230/32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30" name="直線コネクタ 129">
            <a:extLst>
              <a:ext uri="{FF2B5EF4-FFF2-40B4-BE49-F238E27FC236}">
                <a16:creationId xmlns:a16="http://schemas.microsoft.com/office/drawing/2014/main" id="{C3859290-CA3E-4965-9C5F-4E2F42CB9651}"/>
              </a:ext>
            </a:extLst>
          </p:cNvPr>
          <p:cNvCxnSpPr/>
          <p:nvPr/>
        </p:nvCxnSpPr>
        <p:spPr>
          <a:xfrm>
            <a:off x="1010464" y="3890357"/>
            <a:ext cx="1039331" cy="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04A72F43-53D8-4EDF-B20F-B40E223CC5A2}"/>
              </a:ext>
            </a:extLst>
          </p:cNvPr>
          <p:cNvSpPr txBox="1"/>
          <p:nvPr/>
        </p:nvSpPr>
        <p:spPr>
          <a:xfrm>
            <a:off x="713522" y="3622105"/>
            <a:ext cx="1019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9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192.168.10.0/24</a:t>
            </a:r>
            <a:endParaRPr lang="ja-JP" altLang="en-US" sz="900">
              <a:solidFill>
                <a:prstClr val="black"/>
              </a:solidFill>
              <a:latin typeface="Verdana" panose="020B0604030504040204" pitchFamily="34" charset="0"/>
              <a:ea typeface="ＭＳ Ｐゴシック" pitchFamily="50" charset="-128"/>
            </a:endParaRPr>
          </a:p>
        </p:txBody>
      </p:sp>
      <p:sp>
        <p:nvSpPr>
          <p:cNvPr id="147" name="Firewall">
            <a:extLst>
              <a:ext uri="{FF2B5EF4-FFF2-40B4-BE49-F238E27FC236}">
                <a16:creationId xmlns:a16="http://schemas.microsoft.com/office/drawing/2014/main" id="{DA17F0CB-D9C2-4AD3-B07A-6379CAA13E4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89978" y="3487351"/>
            <a:ext cx="299467" cy="246992"/>
          </a:xfrm>
          <a:custGeom>
            <a:avLst/>
            <a:gdLst>
              <a:gd name="T0" fmla="*/ 0 w 21600"/>
              <a:gd name="T1" fmla="*/ 0 h 21600"/>
              <a:gd name="T2" fmla="*/ 10800 w 21600"/>
              <a:gd name="T3" fmla="*/ 0 h 21600"/>
              <a:gd name="T4" fmla="*/ 21600 w 21600"/>
              <a:gd name="T5" fmla="*/ 0 h 21600"/>
              <a:gd name="T6" fmla="*/ 21060 w 21600"/>
              <a:gd name="T7" fmla="*/ 10800 h 21600"/>
              <a:gd name="T8" fmla="*/ 21060 w 21600"/>
              <a:gd name="T9" fmla="*/ 21600 h 21600"/>
              <a:gd name="T10" fmla="*/ 10800 w 21600"/>
              <a:gd name="T11" fmla="*/ 21600 h 21600"/>
              <a:gd name="T12" fmla="*/ 540 w 21600"/>
              <a:gd name="T13" fmla="*/ 21600 h 21600"/>
              <a:gd name="T14" fmla="*/ 540 w 21600"/>
              <a:gd name="T15" fmla="*/ 10800 h 21600"/>
              <a:gd name="T16" fmla="*/ 761 w 21600"/>
              <a:gd name="T17" fmla="*/ 22454 h 21600"/>
              <a:gd name="T18" fmla="*/ 21069 w 21600"/>
              <a:gd name="T19" fmla="*/ 32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540" y="4628"/>
                </a:moveTo>
                <a:lnTo>
                  <a:pt x="0" y="4628"/>
                </a:lnTo>
                <a:lnTo>
                  <a:pt x="0" y="0"/>
                </a:lnTo>
                <a:lnTo>
                  <a:pt x="21600" y="0"/>
                </a:lnTo>
                <a:lnTo>
                  <a:pt x="21600" y="4628"/>
                </a:lnTo>
                <a:lnTo>
                  <a:pt x="21060" y="4628"/>
                </a:lnTo>
                <a:lnTo>
                  <a:pt x="21060" y="21600"/>
                </a:lnTo>
                <a:lnTo>
                  <a:pt x="540" y="21600"/>
                </a:lnTo>
                <a:lnTo>
                  <a:pt x="540" y="4628"/>
                </a:lnTo>
                <a:close/>
              </a:path>
              <a:path w="21600" h="21600" extrusionOk="0">
                <a:moveTo>
                  <a:pt x="540" y="4628"/>
                </a:moveTo>
                <a:lnTo>
                  <a:pt x="540" y="6171"/>
                </a:lnTo>
                <a:lnTo>
                  <a:pt x="2700" y="6171"/>
                </a:lnTo>
                <a:lnTo>
                  <a:pt x="2700" y="4628"/>
                </a:lnTo>
                <a:lnTo>
                  <a:pt x="540" y="4628"/>
                </a:lnTo>
                <a:close/>
              </a:path>
              <a:path w="21600" h="21600" extrusionOk="0">
                <a:moveTo>
                  <a:pt x="2700" y="4628"/>
                </a:moveTo>
                <a:lnTo>
                  <a:pt x="2700" y="6171"/>
                </a:lnTo>
                <a:lnTo>
                  <a:pt x="4860" y="6171"/>
                </a:lnTo>
                <a:lnTo>
                  <a:pt x="4860" y="4628"/>
                </a:lnTo>
                <a:lnTo>
                  <a:pt x="2700" y="4628"/>
                </a:lnTo>
                <a:close/>
              </a:path>
              <a:path w="21600" h="21600" extrusionOk="0">
                <a:moveTo>
                  <a:pt x="4860" y="4628"/>
                </a:moveTo>
                <a:lnTo>
                  <a:pt x="4860" y="6171"/>
                </a:lnTo>
                <a:lnTo>
                  <a:pt x="7020" y="6171"/>
                </a:lnTo>
                <a:lnTo>
                  <a:pt x="7020" y="4628"/>
                </a:lnTo>
                <a:lnTo>
                  <a:pt x="4860" y="4628"/>
                </a:lnTo>
                <a:close/>
              </a:path>
              <a:path w="21600" h="21600" extrusionOk="0">
                <a:moveTo>
                  <a:pt x="7020" y="4628"/>
                </a:moveTo>
                <a:lnTo>
                  <a:pt x="7020" y="6171"/>
                </a:lnTo>
                <a:lnTo>
                  <a:pt x="9180" y="6171"/>
                </a:lnTo>
                <a:lnTo>
                  <a:pt x="9180" y="4628"/>
                </a:lnTo>
                <a:lnTo>
                  <a:pt x="7020" y="4628"/>
                </a:lnTo>
                <a:close/>
              </a:path>
              <a:path w="21600" h="21600" extrusionOk="0">
                <a:moveTo>
                  <a:pt x="9180" y="4628"/>
                </a:moveTo>
                <a:lnTo>
                  <a:pt x="9180" y="6171"/>
                </a:lnTo>
                <a:lnTo>
                  <a:pt x="11340" y="6171"/>
                </a:lnTo>
                <a:lnTo>
                  <a:pt x="11340" y="4628"/>
                </a:lnTo>
                <a:lnTo>
                  <a:pt x="9180" y="4628"/>
                </a:lnTo>
                <a:close/>
              </a:path>
              <a:path w="21600" h="21600" extrusionOk="0">
                <a:moveTo>
                  <a:pt x="11340" y="4628"/>
                </a:moveTo>
                <a:lnTo>
                  <a:pt x="11340" y="6171"/>
                </a:lnTo>
                <a:lnTo>
                  <a:pt x="13500" y="6171"/>
                </a:lnTo>
                <a:lnTo>
                  <a:pt x="13500" y="4628"/>
                </a:lnTo>
                <a:lnTo>
                  <a:pt x="11340" y="4628"/>
                </a:lnTo>
                <a:close/>
              </a:path>
              <a:path w="21600" h="21600" extrusionOk="0">
                <a:moveTo>
                  <a:pt x="13500" y="4628"/>
                </a:moveTo>
                <a:lnTo>
                  <a:pt x="13500" y="6171"/>
                </a:lnTo>
                <a:lnTo>
                  <a:pt x="15660" y="6171"/>
                </a:lnTo>
                <a:lnTo>
                  <a:pt x="15660" y="4628"/>
                </a:lnTo>
                <a:lnTo>
                  <a:pt x="13500" y="4628"/>
                </a:lnTo>
                <a:close/>
              </a:path>
              <a:path w="21600" h="21600" extrusionOk="0">
                <a:moveTo>
                  <a:pt x="15660" y="4628"/>
                </a:moveTo>
                <a:lnTo>
                  <a:pt x="15660" y="6171"/>
                </a:lnTo>
                <a:lnTo>
                  <a:pt x="17820" y="6171"/>
                </a:lnTo>
                <a:lnTo>
                  <a:pt x="17820" y="4628"/>
                </a:lnTo>
                <a:lnTo>
                  <a:pt x="15660" y="4628"/>
                </a:lnTo>
                <a:close/>
              </a:path>
              <a:path w="21600" h="21600" extrusionOk="0">
                <a:moveTo>
                  <a:pt x="17820" y="4628"/>
                </a:moveTo>
                <a:lnTo>
                  <a:pt x="17820" y="6171"/>
                </a:lnTo>
                <a:lnTo>
                  <a:pt x="19980" y="6171"/>
                </a:lnTo>
                <a:lnTo>
                  <a:pt x="19980" y="4628"/>
                </a:lnTo>
                <a:lnTo>
                  <a:pt x="17820" y="4628"/>
                </a:lnTo>
                <a:close/>
              </a:path>
              <a:path w="21600" h="21600" extrusionOk="0">
                <a:moveTo>
                  <a:pt x="1620" y="6171"/>
                </a:moveTo>
                <a:lnTo>
                  <a:pt x="1620" y="7714"/>
                </a:lnTo>
                <a:lnTo>
                  <a:pt x="3779" y="7714"/>
                </a:lnTo>
                <a:lnTo>
                  <a:pt x="3779" y="6171"/>
                </a:lnTo>
                <a:lnTo>
                  <a:pt x="1620" y="6171"/>
                </a:lnTo>
                <a:close/>
              </a:path>
              <a:path w="21600" h="21600" extrusionOk="0">
                <a:moveTo>
                  <a:pt x="3779" y="6171"/>
                </a:moveTo>
                <a:lnTo>
                  <a:pt x="3779" y="7714"/>
                </a:lnTo>
                <a:lnTo>
                  <a:pt x="5940" y="7714"/>
                </a:lnTo>
                <a:lnTo>
                  <a:pt x="5940" y="6171"/>
                </a:lnTo>
                <a:lnTo>
                  <a:pt x="3779" y="6171"/>
                </a:lnTo>
                <a:close/>
              </a:path>
              <a:path w="21600" h="21600" extrusionOk="0">
                <a:moveTo>
                  <a:pt x="5940" y="6171"/>
                </a:moveTo>
                <a:lnTo>
                  <a:pt x="5940" y="7714"/>
                </a:lnTo>
                <a:lnTo>
                  <a:pt x="8100" y="7714"/>
                </a:lnTo>
                <a:lnTo>
                  <a:pt x="8100" y="6171"/>
                </a:lnTo>
                <a:lnTo>
                  <a:pt x="5940" y="6171"/>
                </a:lnTo>
                <a:close/>
              </a:path>
              <a:path w="21600" h="21600" extrusionOk="0">
                <a:moveTo>
                  <a:pt x="8100" y="6171"/>
                </a:moveTo>
                <a:lnTo>
                  <a:pt x="8100" y="7714"/>
                </a:lnTo>
                <a:lnTo>
                  <a:pt x="10260" y="7714"/>
                </a:lnTo>
                <a:lnTo>
                  <a:pt x="10260" y="6171"/>
                </a:lnTo>
                <a:lnTo>
                  <a:pt x="8100" y="6171"/>
                </a:lnTo>
                <a:close/>
              </a:path>
              <a:path w="21600" h="21600" extrusionOk="0">
                <a:moveTo>
                  <a:pt x="10260" y="6171"/>
                </a:moveTo>
                <a:lnTo>
                  <a:pt x="10260" y="7714"/>
                </a:lnTo>
                <a:lnTo>
                  <a:pt x="12419" y="7714"/>
                </a:lnTo>
                <a:lnTo>
                  <a:pt x="12419" y="6171"/>
                </a:lnTo>
                <a:lnTo>
                  <a:pt x="10260" y="6171"/>
                </a:lnTo>
                <a:close/>
              </a:path>
              <a:path w="21600" h="21600" extrusionOk="0">
                <a:moveTo>
                  <a:pt x="12419" y="6171"/>
                </a:moveTo>
                <a:lnTo>
                  <a:pt x="12419" y="7714"/>
                </a:lnTo>
                <a:lnTo>
                  <a:pt x="14580" y="7714"/>
                </a:lnTo>
                <a:lnTo>
                  <a:pt x="14580" y="6171"/>
                </a:lnTo>
                <a:lnTo>
                  <a:pt x="12419" y="6171"/>
                </a:lnTo>
                <a:close/>
              </a:path>
              <a:path w="21600" h="21600" extrusionOk="0">
                <a:moveTo>
                  <a:pt x="14580" y="6171"/>
                </a:moveTo>
                <a:lnTo>
                  <a:pt x="14580" y="7714"/>
                </a:lnTo>
                <a:lnTo>
                  <a:pt x="16740" y="7714"/>
                </a:lnTo>
                <a:lnTo>
                  <a:pt x="16740" y="6171"/>
                </a:lnTo>
                <a:lnTo>
                  <a:pt x="14580" y="6171"/>
                </a:lnTo>
                <a:close/>
              </a:path>
              <a:path w="21600" h="21600" extrusionOk="0">
                <a:moveTo>
                  <a:pt x="16740" y="6171"/>
                </a:moveTo>
                <a:lnTo>
                  <a:pt x="16740" y="7714"/>
                </a:lnTo>
                <a:lnTo>
                  <a:pt x="18900" y="7714"/>
                </a:lnTo>
                <a:lnTo>
                  <a:pt x="18900" y="6171"/>
                </a:lnTo>
                <a:lnTo>
                  <a:pt x="16740" y="6171"/>
                </a:lnTo>
                <a:close/>
              </a:path>
              <a:path w="21600" h="21600" extrusionOk="0">
                <a:moveTo>
                  <a:pt x="18900" y="6171"/>
                </a:moveTo>
                <a:lnTo>
                  <a:pt x="18900" y="7714"/>
                </a:lnTo>
                <a:lnTo>
                  <a:pt x="21060" y="7714"/>
                </a:lnTo>
                <a:lnTo>
                  <a:pt x="21060" y="6171"/>
                </a:lnTo>
                <a:lnTo>
                  <a:pt x="18900" y="6171"/>
                </a:lnTo>
                <a:close/>
              </a:path>
              <a:path w="21600" h="21600" extrusionOk="0">
                <a:moveTo>
                  <a:pt x="540" y="7714"/>
                </a:moveTo>
                <a:lnTo>
                  <a:pt x="540" y="9257"/>
                </a:lnTo>
                <a:lnTo>
                  <a:pt x="2700" y="9257"/>
                </a:lnTo>
                <a:lnTo>
                  <a:pt x="2700" y="7714"/>
                </a:lnTo>
                <a:lnTo>
                  <a:pt x="540" y="7714"/>
                </a:lnTo>
                <a:close/>
              </a:path>
              <a:path w="21600" h="21600" extrusionOk="0">
                <a:moveTo>
                  <a:pt x="2700" y="7714"/>
                </a:moveTo>
                <a:lnTo>
                  <a:pt x="2700" y="9257"/>
                </a:lnTo>
                <a:lnTo>
                  <a:pt x="4860" y="9257"/>
                </a:lnTo>
                <a:lnTo>
                  <a:pt x="4860" y="7714"/>
                </a:lnTo>
                <a:lnTo>
                  <a:pt x="2700" y="7714"/>
                </a:lnTo>
                <a:close/>
              </a:path>
              <a:path w="21600" h="21600" extrusionOk="0">
                <a:moveTo>
                  <a:pt x="4860" y="7714"/>
                </a:moveTo>
                <a:lnTo>
                  <a:pt x="4860" y="9257"/>
                </a:lnTo>
                <a:lnTo>
                  <a:pt x="7020" y="9257"/>
                </a:lnTo>
                <a:lnTo>
                  <a:pt x="7020" y="7714"/>
                </a:lnTo>
                <a:lnTo>
                  <a:pt x="4860" y="7714"/>
                </a:lnTo>
                <a:close/>
              </a:path>
              <a:path w="21600" h="21600" extrusionOk="0">
                <a:moveTo>
                  <a:pt x="7020" y="7714"/>
                </a:moveTo>
                <a:lnTo>
                  <a:pt x="7020" y="9257"/>
                </a:lnTo>
                <a:lnTo>
                  <a:pt x="9180" y="9257"/>
                </a:lnTo>
                <a:lnTo>
                  <a:pt x="9180" y="7714"/>
                </a:lnTo>
                <a:lnTo>
                  <a:pt x="7020" y="7714"/>
                </a:lnTo>
                <a:close/>
              </a:path>
              <a:path w="21600" h="21600" extrusionOk="0">
                <a:moveTo>
                  <a:pt x="9180" y="7714"/>
                </a:moveTo>
                <a:lnTo>
                  <a:pt x="9180" y="9257"/>
                </a:lnTo>
                <a:lnTo>
                  <a:pt x="11340" y="9257"/>
                </a:lnTo>
                <a:lnTo>
                  <a:pt x="11340" y="7714"/>
                </a:lnTo>
                <a:lnTo>
                  <a:pt x="9180" y="7714"/>
                </a:lnTo>
                <a:close/>
              </a:path>
              <a:path w="21600" h="21600" extrusionOk="0">
                <a:moveTo>
                  <a:pt x="11340" y="7714"/>
                </a:moveTo>
                <a:lnTo>
                  <a:pt x="11340" y="9257"/>
                </a:lnTo>
                <a:lnTo>
                  <a:pt x="13500" y="9257"/>
                </a:lnTo>
                <a:lnTo>
                  <a:pt x="13500" y="7714"/>
                </a:lnTo>
                <a:lnTo>
                  <a:pt x="11340" y="7714"/>
                </a:lnTo>
                <a:close/>
              </a:path>
              <a:path w="21600" h="21600" extrusionOk="0">
                <a:moveTo>
                  <a:pt x="13500" y="7714"/>
                </a:moveTo>
                <a:lnTo>
                  <a:pt x="13500" y="9257"/>
                </a:lnTo>
                <a:lnTo>
                  <a:pt x="15660" y="9257"/>
                </a:lnTo>
                <a:lnTo>
                  <a:pt x="15660" y="7714"/>
                </a:lnTo>
                <a:lnTo>
                  <a:pt x="13500" y="7714"/>
                </a:lnTo>
                <a:close/>
              </a:path>
              <a:path w="21600" h="21600" extrusionOk="0">
                <a:moveTo>
                  <a:pt x="15660" y="7714"/>
                </a:moveTo>
                <a:lnTo>
                  <a:pt x="15660" y="9257"/>
                </a:lnTo>
                <a:lnTo>
                  <a:pt x="17820" y="9257"/>
                </a:lnTo>
                <a:lnTo>
                  <a:pt x="17820" y="7714"/>
                </a:lnTo>
                <a:lnTo>
                  <a:pt x="15660" y="7714"/>
                </a:lnTo>
                <a:close/>
              </a:path>
              <a:path w="21600" h="21600" extrusionOk="0">
                <a:moveTo>
                  <a:pt x="17820" y="7714"/>
                </a:moveTo>
                <a:lnTo>
                  <a:pt x="17820" y="9257"/>
                </a:lnTo>
                <a:lnTo>
                  <a:pt x="19980" y="9257"/>
                </a:lnTo>
                <a:lnTo>
                  <a:pt x="19980" y="7714"/>
                </a:lnTo>
                <a:lnTo>
                  <a:pt x="17820" y="7714"/>
                </a:lnTo>
                <a:close/>
              </a:path>
              <a:path w="21600" h="21600" extrusionOk="0">
                <a:moveTo>
                  <a:pt x="1620" y="9257"/>
                </a:moveTo>
                <a:lnTo>
                  <a:pt x="1620" y="10800"/>
                </a:lnTo>
                <a:lnTo>
                  <a:pt x="3779" y="10800"/>
                </a:lnTo>
                <a:lnTo>
                  <a:pt x="3779" y="9257"/>
                </a:lnTo>
                <a:lnTo>
                  <a:pt x="1620" y="9257"/>
                </a:lnTo>
                <a:close/>
              </a:path>
              <a:path w="21600" h="21600" extrusionOk="0">
                <a:moveTo>
                  <a:pt x="3779" y="9257"/>
                </a:moveTo>
                <a:lnTo>
                  <a:pt x="3779" y="10800"/>
                </a:lnTo>
                <a:lnTo>
                  <a:pt x="5940" y="10800"/>
                </a:lnTo>
                <a:lnTo>
                  <a:pt x="5940" y="9257"/>
                </a:lnTo>
                <a:lnTo>
                  <a:pt x="3779" y="9257"/>
                </a:lnTo>
                <a:close/>
              </a:path>
              <a:path w="21600" h="21600" extrusionOk="0">
                <a:moveTo>
                  <a:pt x="5940" y="9257"/>
                </a:moveTo>
                <a:lnTo>
                  <a:pt x="5940" y="10800"/>
                </a:lnTo>
                <a:lnTo>
                  <a:pt x="8100" y="10800"/>
                </a:lnTo>
                <a:lnTo>
                  <a:pt x="8100" y="9257"/>
                </a:lnTo>
                <a:lnTo>
                  <a:pt x="5940" y="9257"/>
                </a:lnTo>
                <a:close/>
              </a:path>
              <a:path w="21600" h="21600" extrusionOk="0">
                <a:moveTo>
                  <a:pt x="8100" y="9257"/>
                </a:moveTo>
                <a:lnTo>
                  <a:pt x="8100" y="10800"/>
                </a:lnTo>
                <a:lnTo>
                  <a:pt x="10260" y="10800"/>
                </a:lnTo>
                <a:lnTo>
                  <a:pt x="10260" y="9257"/>
                </a:lnTo>
                <a:lnTo>
                  <a:pt x="8100" y="9257"/>
                </a:lnTo>
                <a:close/>
              </a:path>
              <a:path w="21600" h="21600" extrusionOk="0">
                <a:moveTo>
                  <a:pt x="10260" y="9257"/>
                </a:moveTo>
                <a:lnTo>
                  <a:pt x="10260" y="10800"/>
                </a:lnTo>
                <a:lnTo>
                  <a:pt x="12419" y="10800"/>
                </a:lnTo>
                <a:lnTo>
                  <a:pt x="12419" y="9257"/>
                </a:lnTo>
                <a:lnTo>
                  <a:pt x="10260" y="9257"/>
                </a:lnTo>
                <a:close/>
              </a:path>
              <a:path w="21600" h="21600" extrusionOk="0">
                <a:moveTo>
                  <a:pt x="12419" y="9257"/>
                </a:moveTo>
                <a:lnTo>
                  <a:pt x="12419" y="10800"/>
                </a:lnTo>
                <a:lnTo>
                  <a:pt x="14580" y="10800"/>
                </a:lnTo>
                <a:lnTo>
                  <a:pt x="14580" y="9257"/>
                </a:lnTo>
                <a:lnTo>
                  <a:pt x="12419" y="9257"/>
                </a:lnTo>
                <a:close/>
              </a:path>
              <a:path w="21600" h="21600" extrusionOk="0">
                <a:moveTo>
                  <a:pt x="14580" y="9257"/>
                </a:moveTo>
                <a:lnTo>
                  <a:pt x="14580" y="10800"/>
                </a:lnTo>
                <a:lnTo>
                  <a:pt x="16740" y="10800"/>
                </a:lnTo>
                <a:lnTo>
                  <a:pt x="16740" y="9257"/>
                </a:lnTo>
                <a:lnTo>
                  <a:pt x="14580" y="9257"/>
                </a:lnTo>
                <a:close/>
              </a:path>
              <a:path w="21600" h="21600" extrusionOk="0">
                <a:moveTo>
                  <a:pt x="16740" y="9257"/>
                </a:moveTo>
                <a:lnTo>
                  <a:pt x="16740" y="10800"/>
                </a:lnTo>
                <a:lnTo>
                  <a:pt x="18900" y="10800"/>
                </a:lnTo>
                <a:lnTo>
                  <a:pt x="18900" y="9257"/>
                </a:lnTo>
                <a:lnTo>
                  <a:pt x="16740" y="9257"/>
                </a:lnTo>
                <a:close/>
              </a:path>
              <a:path w="21600" h="21600" extrusionOk="0">
                <a:moveTo>
                  <a:pt x="18900" y="9257"/>
                </a:moveTo>
                <a:lnTo>
                  <a:pt x="18900" y="10800"/>
                </a:lnTo>
                <a:lnTo>
                  <a:pt x="21060" y="10800"/>
                </a:lnTo>
                <a:lnTo>
                  <a:pt x="21060" y="9257"/>
                </a:lnTo>
                <a:lnTo>
                  <a:pt x="18900" y="9257"/>
                </a:lnTo>
                <a:close/>
              </a:path>
              <a:path w="21600" h="21600" extrusionOk="0">
                <a:moveTo>
                  <a:pt x="540" y="10800"/>
                </a:moveTo>
                <a:lnTo>
                  <a:pt x="540" y="12342"/>
                </a:lnTo>
                <a:lnTo>
                  <a:pt x="2700" y="12342"/>
                </a:lnTo>
                <a:lnTo>
                  <a:pt x="2700" y="10800"/>
                </a:lnTo>
                <a:lnTo>
                  <a:pt x="540" y="10800"/>
                </a:lnTo>
                <a:close/>
              </a:path>
              <a:path w="21600" h="21600" extrusionOk="0">
                <a:moveTo>
                  <a:pt x="2700" y="10800"/>
                </a:moveTo>
                <a:lnTo>
                  <a:pt x="2700" y="12342"/>
                </a:lnTo>
                <a:lnTo>
                  <a:pt x="4860" y="12342"/>
                </a:lnTo>
                <a:lnTo>
                  <a:pt x="4860" y="10800"/>
                </a:lnTo>
                <a:lnTo>
                  <a:pt x="2700" y="10800"/>
                </a:lnTo>
                <a:close/>
              </a:path>
              <a:path w="21600" h="21600" extrusionOk="0">
                <a:moveTo>
                  <a:pt x="4860" y="10800"/>
                </a:moveTo>
                <a:lnTo>
                  <a:pt x="4860" y="12342"/>
                </a:lnTo>
                <a:lnTo>
                  <a:pt x="7020" y="12342"/>
                </a:lnTo>
                <a:lnTo>
                  <a:pt x="7020" y="10800"/>
                </a:lnTo>
                <a:lnTo>
                  <a:pt x="4860" y="10800"/>
                </a:lnTo>
                <a:close/>
              </a:path>
              <a:path w="21600" h="21600" extrusionOk="0">
                <a:moveTo>
                  <a:pt x="7020" y="10800"/>
                </a:moveTo>
                <a:lnTo>
                  <a:pt x="7020" y="12342"/>
                </a:lnTo>
                <a:lnTo>
                  <a:pt x="9180" y="12342"/>
                </a:lnTo>
                <a:lnTo>
                  <a:pt x="9180" y="10800"/>
                </a:lnTo>
                <a:lnTo>
                  <a:pt x="7020" y="10800"/>
                </a:lnTo>
                <a:close/>
              </a:path>
              <a:path w="21600" h="21600" extrusionOk="0">
                <a:moveTo>
                  <a:pt x="9180" y="10800"/>
                </a:moveTo>
                <a:lnTo>
                  <a:pt x="9180" y="12342"/>
                </a:lnTo>
                <a:lnTo>
                  <a:pt x="11340" y="12342"/>
                </a:lnTo>
                <a:lnTo>
                  <a:pt x="11340" y="10800"/>
                </a:lnTo>
                <a:lnTo>
                  <a:pt x="9180" y="10800"/>
                </a:lnTo>
                <a:close/>
              </a:path>
              <a:path w="21600" h="21600" extrusionOk="0">
                <a:moveTo>
                  <a:pt x="11340" y="10800"/>
                </a:moveTo>
                <a:lnTo>
                  <a:pt x="11340" y="12342"/>
                </a:lnTo>
                <a:lnTo>
                  <a:pt x="13500" y="12342"/>
                </a:lnTo>
                <a:lnTo>
                  <a:pt x="13500" y="10800"/>
                </a:lnTo>
                <a:lnTo>
                  <a:pt x="11340" y="10800"/>
                </a:lnTo>
                <a:close/>
              </a:path>
              <a:path w="21600" h="21600" extrusionOk="0">
                <a:moveTo>
                  <a:pt x="13500" y="10800"/>
                </a:moveTo>
                <a:lnTo>
                  <a:pt x="13500" y="12342"/>
                </a:lnTo>
                <a:lnTo>
                  <a:pt x="15660" y="12342"/>
                </a:lnTo>
                <a:lnTo>
                  <a:pt x="15660" y="10800"/>
                </a:lnTo>
                <a:lnTo>
                  <a:pt x="13500" y="10800"/>
                </a:lnTo>
                <a:close/>
              </a:path>
              <a:path w="21600" h="21600" extrusionOk="0">
                <a:moveTo>
                  <a:pt x="15660" y="10800"/>
                </a:moveTo>
                <a:lnTo>
                  <a:pt x="15660" y="12342"/>
                </a:lnTo>
                <a:lnTo>
                  <a:pt x="17820" y="12342"/>
                </a:lnTo>
                <a:lnTo>
                  <a:pt x="17820" y="10800"/>
                </a:lnTo>
                <a:lnTo>
                  <a:pt x="15660" y="10800"/>
                </a:lnTo>
                <a:close/>
              </a:path>
              <a:path w="21600" h="21600" extrusionOk="0">
                <a:moveTo>
                  <a:pt x="17820" y="10800"/>
                </a:moveTo>
                <a:lnTo>
                  <a:pt x="17820" y="12342"/>
                </a:lnTo>
                <a:lnTo>
                  <a:pt x="19980" y="12342"/>
                </a:lnTo>
                <a:lnTo>
                  <a:pt x="19980" y="10800"/>
                </a:lnTo>
                <a:lnTo>
                  <a:pt x="17820" y="10800"/>
                </a:lnTo>
                <a:close/>
              </a:path>
              <a:path w="21600" h="21600" extrusionOk="0">
                <a:moveTo>
                  <a:pt x="1620" y="12342"/>
                </a:moveTo>
                <a:lnTo>
                  <a:pt x="1620" y="13885"/>
                </a:lnTo>
                <a:lnTo>
                  <a:pt x="3779" y="13885"/>
                </a:lnTo>
                <a:lnTo>
                  <a:pt x="3779" y="12342"/>
                </a:lnTo>
                <a:lnTo>
                  <a:pt x="1620" y="12342"/>
                </a:lnTo>
                <a:close/>
              </a:path>
              <a:path w="21600" h="21600" extrusionOk="0">
                <a:moveTo>
                  <a:pt x="3779" y="12342"/>
                </a:moveTo>
                <a:lnTo>
                  <a:pt x="3779" y="13885"/>
                </a:lnTo>
                <a:lnTo>
                  <a:pt x="5940" y="13885"/>
                </a:lnTo>
                <a:lnTo>
                  <a:pt x="5940" y="12342"/>
                </a:lnTo>
                <a:lnTo>
                  <a:pt x="3779" y="12342"/>
                </a:lnTo>
                <a:close/>
              </a:path>
              <a:path w="21600" h="21600" extrusionOk="0">
                <a:moveTo>
                  <a:pt x="5940" y="12342"/>
                </a:moveTo>
                <a:lnTo>
                  <a:pt x="5940" y="13885"/>
                </a:lnTo>
                <a:lnTo>
                  <a:pt x="8100" y="13885"/>
                </a:lnTo>
                <a:lnTo>
                  <a:pt x="8100" y="12342"/>
                </a:lnTo>
                <a:lnTo>
                  <a:pt x="5940" y="12342"/>
                </a:lnTo>
                <a:close/>
              </a:path>
              <a:path w="21600" h="21600" extrusionOk="0">
                <a:moveTo>
                  <a:pt x="8100" y="12342"/>
                </a:moveTo>
                <a:lnTo>
                  <a:pt x="8100" y="13885"/>
                </a:lnTo>
                <a:lnTo>
                  <a:pt x="10260" y="13885"/>
                </a:lnTo>
                <a:lnTo>
                  <a:pt x="10260" y="12342"/>
                </a:lnTo>
                <a:lnTo>
                  <a:pt x="8100" y="12342"/>
                </a:lnTo>
                <a:close/>
              </a:path>
              <a:path w="21600" h="21600" extrusionOk="0">
                <a:moveTo>
                  <a:pt x="10260" y="12342"/>
                </a:moveTo>
                <a:lnTo>
                  <a:pt x="10260" y="13885"/>
                </a:lnTo>
                <a:lnTo>
                  <a:pt x="12419" y="13885"/>
                </a:lnTo>
                <a:lnTo>
                  <a:pt x="12419" y="12342"/>
                </a:lnTo>
                <a:lnTo>
                  <a:pt x="10260" y="12342"/>
                </a:lnTo>
                <a:close/>
              </a:path>
              <a:path w="21600" h="21600" extrusionOk="0">
                <a:moveTo>
                  <a:pt x="12419" y="12342"/>
                </a:moveTo>
                <a:lnTo>
                  <a:pt x="12419" y="13885"/>
                </a:lnTo>
                <a:lnTo>
                  <a:pt x="14580" y="13885"/>
                </a:lnTo>
                <a:lnTo>
                  <a:pt x="14580" y="12342"/>
                </a:lnTo>
                <a:lnTo>
                  <a:pt x="12419" y="12342"/>
                </a:lnTo>
                <a:close/>
              </a:path>
              <a:path w="21600" h="21600" extrusionOk="0">
                <a:moveTo>
                  <a:pt x="14580" y="12342"/>
                </a:moveTo>
                <a:lnTo>
                  <a:pt x="14580" y="13885"/>
                </a:lnTo>
                <a:lnTo>
                  <a:pt x="16740" y="13885"/>
                </a:lnTo>
                <a:lnTo>
                  <a:pt x="16740" y="12342"/>
                </a:lnTo>
                <a:lnTo>
                  <a:pt x="14580" y="12342"/>
                </a:lnTo>
                <a:close/>
              </a:path>
              <a:path w="21600" h="21600" extrusionOk="0">
                <a:moveTo>
                  <a:pt x="16740" y="12342"/>
                </a:moveTo>
                <a:lnTo>
                  <a:pt x="16740" y="13885"/>
                </a:lnTo>
                <a:lnTo>
                  <a:pt x="18900" y="13885"/>
                </a:lnTo>
                <a:lnTo>
                  <a:pt x="18900" y="12342"/>
                </a:lnTo>
                <a:lnTo>
                  <a:pt x="16740" y="12342"/>
                </a:lnTo>
                <a:close/>
              </a:path>
              <a:path w="21600" h="21600" extrusionOk="0">
                <a:moveTo>
                  <a:pt x="18900" y="12342"/>
                </a:moveTo>
                <a:lnTo>
                  <a:pt x="18900" y="13885"/>
                </a:lnTo>
                <a:lnTo>
                  <a:pt x="21060" y="13885"/>
                </a:lnTo>
                <a:lnTo>
                  <a:pt x="21060" y="12342"/>
                </a:lnTo>
                <a:lnTo>
                  <a:pt x="18900" y="12342"/>
                </a:lnTo>
                <a:close/>
              </a:path>
              <a:path w="21600" h="21600" extrusionOk="0">
                <a:moveTo>
                  <a:pt x="540" y="13885"/>
                </a:moveTo>
                <a:lnTo>
                  <a:pt x="540" y="15428"/>
                </a:lnTo>
                <a:lnTo>
                  <a:pt x="2700" y="15428"/>
                </a:lnTo>
                <a:lnTo>
                  <a:pt x="2700" y="13885"/>
                </a:lnTo>
                <a:lnTo>
                  <a:pt x="540" y="13885"/>
                </a:lnTo>
                <a:close/>
              </a:path>
              <a:path w="21600" h="21600" extrusionOk="0">
                <a:moveTo>
                  <a:pt x="2700" y="13885"/>
                </a:moveTo>
                <a:lnTo>
                  <a:pt x="2700" y="15428"/>
                </a:lnTo>
                <a:lnTo>
                  <a:pt x="4860" y="15428"/>
                </a:lnTo>
                <a:lnTo>
                  <a:pt x="4860" y="13885"/>
                </a:lnTo>
                <a:lnTo>
                  <a:pt x="2700" y="13885"/>
                </a:lnTo>
                <a:close/>
              </a:path>
              <a:path w="21600" h="21600" extrusionOk="0">
                <a:moveTo>
                  <a:pt x="4860" y="13885"/>
                </a:moveTo>
                <a:lnTo>
                  <a:pt x="4860" y="15428"/>
                </a:lnTo>
                <a:lnTo>
                  <a:pt x="7020" y="15428"/>
                </a:lnTo>
                <a:lnTo>
                  <a:pt x="7020" y="13885"/>
                </a:lnTo>
                <a:lnTo>
                  <a:pt x="4860" y="13885"/>
                </a:lnTo>
                <a:close/>
              </a:path>
              <a:path w="21600" h="21600" extrusionOk="0">
                <a:moveTo>
                  <a:pt x="7020" y="13885"/>
                </a:moveTo>
                <a:lnTo>
                  <a:pt x="7020" y="15428"/>
                </a:lnTo>
                <a:lnTo>
                  <a:pt x="9180" y="15428"/>
                </a:lnTo>
                <a:lnTo>
                  <a:pt x="9180" y="13885"/>
                </a:lnTo>
                <a:lnTo>
                  <a:pt x="7020" y="13885"/>
                </a:lnTo>
                <a:close/>
              </a:path>
              <a:path w="21600" h="21600" extrusionOk="0">
                <a:moveTo>
                  <a:pt x="9180" y="13885"/>
                </a:moveTo>
                <a:lnTo>
                  <a:pt x="9180" y="15428"/>
                </a:lnTo>
                <a:lnTo>
                  <a:pt x="11340" y="15428"/>
                </a:lnTo>
                <a:lnTo>
                  <a:pt x="11340" y="13885"/>
                </a:lnTo>
                <a:lnTo>
                  <a:pt x="9180" y="13885"/>
                </a:lnTo>
                <a:close/>
              </a:path>
              <a:path w="21600" h="21600" extrusionOk="0">
                <a:moveTo>
                  <a:pt x="11340" y="13885"/>
                </a:moveTo>
                <a:lnTo>
                  <a:pt x="11340" y="15428"/>
                </a:lnTo>
                <a:lnTo>
                  <a:pt x="13500" y="15428"/>
                </a:lnTo>
                <a:lnTo>
                  <a:pt x="13500" y="13885"/>
                </a:lnTo>
                <a:lnTo>
                  <a:pt x="11340" y="13885"/>
                </a:lnTo>
                <a:close/>
              </a:path>
              <a:path w="21600" h="21600" extrusionOk="0">
                <a:moveTo>
                  <a:pt x="13500" y="13885"/>
                </a:moveTo>
                <a:lnTo>
                  <a:pt x="13500" y="15428"/>
                </a:lnTo>
                <a:lnTo>
                  <a:pt x="15660" y="15428"/>
                </a:lnTo>
                <a:lnTo>
                  <a:pt x="15660" y="13885"/>
                </a:lnTo>
                <a:lnTo>
                  <a:pt x="13500" y="13885"/>
                </a:lnTo>
                <a:close/>
              </a:path>
              <a:path w="21600" h="21600" extrusionOk="0">
                <a:moveTo>
                  <a:pt x="15660" y="13885"/>
                </a:moveTo>
                <a:lnTo>
                  <a:pt x="15660" y="15428"/>
                </a:lnTo>
                <a:lnTo>
                  <a:pt x="17820" y="15428"/>
                </a:lnTo>
                <a:lnTo>
                  <a:pt x="17820" y="13885"/>
                </a:lnTo>
                <a:lnTo>
                  <a:pt x="15660" y="13885"/>
                </a:lnTo>
                <a:close/>
              </a:path>
              <a:path w="21600" h="21600" extrusionOk="0">
                <a:moveTo>
                  <a:pt x="17820" y="13885"/>
                </a:moveTo>
                <a:lnTo>
                  <a:pt x="17820" y="15428"/>
                </a:lnTo>
                <a:lnTo>
                  <a:pt x="19980" y="15428"/>
                </a:lnTo>
                <a:lnTo>
                  <a:pt x="19980" y="13885"/>
                </a:lnTo>
                <a:lnTo>
                  <a:pt x="17820" y="13885"/>
                </a:lnTo>
                <a:close/>
              </a:path>
              <a:path w="21600" h="21600" extrusionOk="0">
                <a:moveTo>
                  <a:pt x="1620" y="15428"/>
                </a:moveTo>
                <a:lnTo>
                  <a:pt x="1620" y="16971"/>
                </a:lnTo>
                <a:lnTo>
                  <a:pt x="3779" y="16971"/>
                </a:lnTo>
                <a:lnTo>
                  <a:pt x="3779" y="15428"/>
                </a:lnTo>
                <a:lnTo>
                  <a:pt x="1620" y="15428"/>
                </a:lnTo>
                <a:close/>
              </a:path>
              <a:path w="21600" h="21600" extrusionOk="0">
                <a:moveTo>
                  <a:pt x="3779" y="15428"/>
                </a:moveTo>
                <a:lnTo>
                  <a:pt x="3779" y="16971"/>
                </a:lnTo>
                <a:lnTo>
                  <a:pt x="5940" y="16971"/>
                </a:lnTo>
                <a:lnTo>
                  <a:pt x="5940" y="15428"/>
                </a:lnTo>
                <a:lnTo>
                  <a:pt x="3779" y="15428"/>
                </a:lnTo>
                <a:close/>
              </a:path>
              <a:path w="21600" h="21600" extrusionOk="0">
                <a:moveTo>
                  <a:pt x="5940" y="15428"/>
                </a:moveTo>
                <a:lnTo>
                  <a:pt x="5940" y="16971"/>
                </a:lnTo>
                <a:lnTo>
                  <a:pt x="8100" y="16971"/>
                </a:lnTo>
                <a:lnTo>
                  <a:pt x="8100" y="15428"/>
                </a:lnTo>
                <a:lnTo>
                  <a:pt x="5940" y="15428"/>
                </a:lnTo>
                <a:close/>
              </a:path>
              <a:path w="21600" h="21600" extrusionOk="0">
                <a:moveTo>
                  <a:pt x="8100" y="15428"/>
                </a:moveTo>
                <a:lnTo>
                  <a:pt x="8100" y="16971"/>
                </a:lnTo>
                <a:lnTo>
                  <a:pt x="10260" y="16971"/>
                </a:lnTo>
                <a:lnTo>
                  <a:pt x="10260" y="15428"/>
                </a:lnTo>
                <a:lnTo>
                  <a:pt x="8100" y="15428"/>
                </a:lnTo>
                <a:close/>
              </a:path>
              <a:path w="21600" h="21600" extrusionOk="0">
                <a:moveTo>
                  <a:pt x="10260" y="15428"/>
                </a:moveTo>
                <a:lnTo>
                  <a:pt x="10260" y="16971"/>
                </a:lnTo>
                <a:lnTo>
                  <a:pt x="12419" y="16971"/>
                </a:lnTo>
                <a:lnTo>
                  <a:pt x="12419" y="15428"/>
                </a:lnTo>
                <a:lnTo>
                  <a:pt x="10260" y="15428"/>
                </a:lnTo>
                <a:close/>
              </a:path>
              <a:path w="21600" h="21600" extrusionOk="0">
                <a:moveTo>
                  <a:pt x="12419" y="15428"/>
                </a:moveTo>
                <a:lnTo>
                  <a:pt x="12419" y="16971"/>
                </a:lnTo>
                <a:lnTo>
                  <a:pt x="14580" y="16971"/>
                </a:lnTo>
                <a:lnTo>
                  <a:pt x="14580" y="15428"/>
                </a:lnTo>
                <a:lnTo>
                  <a:pt x="12419" y="15428"/>
                </a:lnTo>
                <a:close/>
              </a:path>
              <a:path w="21600" h="21600" extrusionOk="0">
                <a:moveTo>
                  <a:pt x="14580" y="15428"/>
                </a:moveTo>
                <a:lnTo>
                  <a:pt x="14580" y="16971"/>
                </a:lnTo>
                <a:lnTo>
                  <a:pt x="16740" y="16971"/>
                </a:lnTo>
                <a:lnTo>
                  <a:pt x="16740" y="15428"/>
                </a:lnTo>
                <a:lnTo>
                  <a:pt x="14580" y="15428"/>
                </a:lnTo>
                <a:close/>
              </a:path>
              <a:path w="21600" h="21600" extrusionOk="0">
                <a:moveTo>
                  <a:pt x="16740" y="15428"/>
                </a:moveTo>
                <a:lnTo>
                  <a:pt x="16740" y="16971"/>
                </a:lnTo>
                <a:lnTo>
                  <a:pt x="18900" y="16971"/>
                </a:lnTo>
                <a:lnTo>
                  <a:pt x="18900" y="15428"/>
                </a:lnTo>
                <a:lnTo>
                  <a:pt x="16740" y="15428"/>
                </a:lnTo>
                <a:close/>
              </a:path>
              <a:path w="21600" h="21600" extrusionOk="0">
                <a:moveTo>
                  <a:pt x="18900" y="15428"/>
                </a:moveTo>
                <a:lnTo>
                  <a:pt x="18900" y="16971"/>
                </a:lnTo>
                <a:lnTo>
                  <a:pt x="21060" y="16971"/>
                </a:lnTo>
                <a:lnTo>
                  <a:pt x="21060" y="15428"/>
                </a:lnTo>
                <a:lnTo>
                  <a:pt x="18900" y="15428"/>
                </a:lnTo>
                <a:close/>
              </a:path>
              <a:path w="21600" h="21600" extrusionOk="0">
                <a:moveTo>
                  <a:pt x="540" y="16971"/>
                </a:moveTo>
                <a:lnTo>
                  <a:pt x="540" y="18514"/>
                </a:lnTo>
                <a:lnTo>
                  <a:pt x="2700" y="18514"/>
                </a:lnTo>
                <a:lnTo>
                  <a:pt x="2700" y="16971"/>
                </a:lnTo>
                <a:lnTo>
                  <a:pt x="540" y="16971"/>
                </a:lnTo>
                <a:close/>
              </a:path>
              <a:path w="21600" h="21600" extrusionOk="0">
                <a:moveTo>
                  <a:pt x="2700" y="16971"/>
                </a:moveTo>
                <a:lnTo>
                  <a:pt x="2700" y="18514"/>
                </a:lnTo>
                <a:lnTo>
                  <a:pt x="4860" y="18514"/>
                </a:lnTo>
                <a:lnTo>
                  <a:pt x="4860" y="16971"/>
                </a:lnTo>
                <a:lnTo>
                  <a:pt x="2700" y="16971"/>
                </a:lnTo>
                <a:close/>
              </a:path>
              <a:path w="21600" h="21600" extrusionOk="0">
                <a:moveTo>
                  <a:pt x="4860" y="16971"/>
                </a:moveTo>
                <a:lnTo>
                  <a:pt x="4860" y="18514"/>
                </a:lnTo>
                <a:lnTo>
                  <a:pt x="7020" y="18514"/>
                </a:lnTo>
                <a:lnTo>
                  <a:pt x="7020" y="16971"/>
                </a:lnTo>
                <a:lnTo>
                  <a:pt x="4860" y="16971"/>
                </a:lnTo>
                <a:close/>
              </a:path>
              <a:path w="21600" h="21600" extrusionOk="0">
                <a:moveTo>
                  <a:pt x="7020" y="16971"/>
                </a:moveTo>
                <a:lnTo>
                  <a:pt x="7020" y="18514"/>
                </a:lnTo>
                <a:lnTo>
                  <a:pt x="9180" y="18514"/>
                </a:lnTo>
                <a:lnTo>
                  <a:pt x="9180" y="16971"/>
                </a:lnTo>
                <a:lnTo>
                  <a:pt x="7020" y="16971"/>
                </a:lnTo>
                <a:close/>
              </a:path>
              <a:path w="21600" h="21600" extrusionOk="0">
                <a:moveTo>
                  <a:pt x="9180" y="16971"/>
                </a:moveTo>
                <a:lnTo>
                  <a:pt x="9180" y="18514"/>
                </a:lnTo>
                <a:lnTo>
                  <a:pt x="11340" y="18514"/>
                </a:lnTo>
                <a:lnTo>
                  <a:pt x="11340" y="16971"/>
                </a:lnTo>
                <a:lnTo>
                  <a:pt x="9180" y="16971"/>
                </a:lnTo>
                <a:close/>
              </a:path>
              <a:path w="21600" h="21600" extrusionOk="0">
                <a:moveTo>
                  <a:pt x="11340" y="16971"/>
                </a:moveTo>
                <a:lnTo>
                  <a:pt x="11340" y="18514"/>
                </a:lnTo>
                <a:lnTo>
                  <a:pt x="13500" y="18514"/>
                </a:lnTo>
                <a:lnTo>
                  <a:pt x="13500" y="16971"/>
                </a:lnTo>
                <a:lnTo>
                  <a:pt x="11340" y="16971"/>
                </a:lnTo>
                <a:close/>
              </a:path>
              <a:path w="21600" h="21600" extrusionOk="0">
                <a:moveTo>
                  <a:pt x="13500" y="16971"/>
                </a:moveTo>
                <a:lnTo>
                  <a:pt x="13500" y="18514"/>
                </a:lnTo>
                <a:lnTo>
                  <a:pt x="15660" y="18514"/>
                </a:lnTo>
                <a:lnTo>
                  <a:pt x="15660" y="16971"/>
                </a:lnTo>
                <a:lnTo>
                  <a:pt x="13500" y="16971"/>
                </a:lnTo>
                <a:close/>
              </a:path>
              <a:path w="21600" h="21600" extrusionOk="0">
                <a:moveTo>
                  <a:pt x="15660" y="16971"/>
                </a:moveTo>
                <a:lnTo>
                  <a:pt x="15660" y="18514"/>
                </a:lnTo>
                <a:lnTo>
                  <a:pt x="17820" y="18514"/>
                </a:lnTo>
                <a:lnTo>
                  <a:pt x="17820" y="16971"/>
                </a:lnTo>
                <a:lnTo>
                  <a:pt x="15660" y="16971"/>
                </a:lnTo>
                <a:close/>
              </a:path>
              <a:path w="21600" h="21600" extrusionOk="0">
                <a:moveTo>
                  <a:pt x="17820" y="16971"/>
                </a:moveTo>
                <a:lnTo>
                  <a:pt x="17820" y="18514"/>
                </a:lnTo>
                <a:lnTo>
                  <a:pt x="19980" y="18514"/>
                </a:lnTo>
                <a:lnTo>
                  <a:pt x="19980" y="16971"/>
                </a:lnTo>
                <a:lnTo>
                  <a:pt x="17820" y="16971"/>
                </a:lnTo>
                <a:close/>
              </a:path>
              <a:path w="21600" h="21600" extrusionOk="0">
                <a:moveTo>
                  <a:pt x="1620" y="18514"/>
                </a:moveTo>
                <a:lnTo>
                  <a:pt x="1620" y="20057"/>
                </a:lnTo>
                <a:lnTo>
                  <a:pt x="3779" y="20057"/>
                </a:lnTo>
                <a:lnTo>
                  <a:pt x="3779" y="18514"/>
                </a:lnTo>
                <a:lnTo>
                  <a:pt x="1620" y="18514"/>
                </a:lnTo>
                <a:close/>
              </a:path>
              <a:path w="21600" h="21600" extrusionOk="0">
                <a:moveTo>
                  <a:pt x="3779" y="18514"/>
                </a:moveTo>
                <a:lnTo>
                  <a:pt x="3779" y="20057"/>
                </a:lnTo>
                <a:lnTo>
                  <a:pt x="5940" y="20057"/>
                </a:lnTo>
                <a:lnTo>
                  <a:pt x="5940" y="18514"/>
                </a:lnTo>
                <a:lnTo>
                  <a:pt x="3779" y="18514"/>
                </a:lnTo>
                <a:close/>
              </a:path>
              <a:path w="21600" h="21600" extrusionOk="0">
                <a:moveTo>
                  <a:pt x="5940" y="18514"/>
                </a:moveTo>
                <a:lnTo>
                  <a:pt x="5940" y="20057"/>
                </a:lnTo>
                <a:lnTo>
                  <a:pt x="8100" y="20057"/>
                </a:lnTo>
                <a:lnTo>
                  <a:pt x="8100" y="18514"/>
                </a:lnTo>
                <a:lnTo>
                  <a:pt x="5940" y="18514"/>
                </a:lnTo>
                <a:close/>
              </a:path>
              <a:path w="21600" h="21600" extrusionOk="0">
                <a:moveTo>
                  <a:pt x="8100" y="18514"/>
                </a:moveTo>
                <a:lnTo>
                  <a:pt x="8100" y="20057"/>
                </a:lnTo>
                <a:lnTo>
                  <a:pt x="10260" y="20057"/>
                </a:lnTo>
                <a:lnTo>
                  <a:pt x="10260" y="18514"/>
                </a:lnTo>
                <a:lnTo>
                  <a:pt x="8100" y="18514"/>
                </a:lnTo>
                <a:close/>
              </a:path>
              <a:path w="21600" h="21600" extrusionOk="0">
                <a:moveTo>
                  <a:pt x="10260" y="18514"/>
                </a:moveTo>
                <a:lnTo>
                  <a:pt x="10260" y="20057"/>
                </a:lnTo>
                <a:lnTo>
                  <a:pt x="12419" y="20057"/>
                </a:lnTo>
                <a:lnTo>
                  <a:pt x="12419" y="18514"/>
                </a:lnTo>
                <a:lnTo>
                  <a:pt x="10260" y="18514"/>
                </a:lnTo>
                <a:close/>
              </a:path>
              <a:path w="21600" h="21600" extrusionOk="0">
                <a:moveTo>
                  <a:pt x="12419" y="18514"/>
                </a:moveTo>
                <a:lnTo>
                  <a:pt x="12419" y="20057"/>
                </a:lnTo>
                <a:lnTo>
                  <a:pt x="14580" y="20057"/>
                </a:lnTo>
                <a:lnTo>
                  <a:pt x="14580" y="18514"/>
                </a:lnTo>
                <a:lnTo>
                  <a:pt x="12419" y="18514"/>
                </a:lnTo>
                <a:close/>
              </a:path>
              <a:path w="21600" h="21600" extrusionOk="0">
                <a:moveTo>
                  <a:pt x="14580" y="18514"/>
                </a:moveTo>
                <a:lnTo>
                  <a:pt x="14580" y="20057"/>
                </a:lnTo>
                <a:lnTo>
                  <a:pt x="16740" y="20057"/>
                </a:lnTo>
                <a:lnTo>
                  <a:pt x="16740" y="18514"/>
                </a:lnTo>
                <a:lnTo>
                  <a:pt x="14580" y="18514"/>
                </a:lnTo>
                <a:close/>
              </a:path>
              <a:path w="21600" h="21600" extrusionOk="0">
                <a:moveTo>
                  <a:pt x="16740" y="18514"/>
                </a:moveTo>
                <a:lnTo>
                  <a:pt x="16740" y="20057"/>
                </a:lnTo>
                <a:lnTo>
                  <a:pt x="18900" y="20057"/>
                </a:lnTo>
                <a:lnTo>
                  <a:pt x="18900" y="18514"/>
                </a:lnTo>
                <a:lnTo>
                  <a:pt x="16740" y="18514"/>
                </a:lnTo>
                <a:close/>
              </a:path>
              <a:path w="21600" h="21600" extrusionOk="0">
                <a:moveTo>
                  <a:pt x="18900" y="18514"/>
                </a:moveTo>
                <a:lnTo>
                  <a:pt x="18900" y="20057"/>
                </a:lnTo>
                <a:lnTo>
                  <a:pt x="21060" y="20057"/>
                </a:lnTo>
                <a:lnTo>
                  <a:pt x="21060" y="18514"/>
                </a:lnTo>
                <a:lnTo>
                  <a:pt x="18900" y="18514"/>
                </a:lnTo>
                <a:close/>
              </a:path>
              <a:path w="21600" h="21600" extrusionOk="0">
                <a:moveTo>
                  <a:pt x="540" y="20057"/>
                </a:moveTo>
                <a:lnTo>
                  <a:pt x="540" y="21600"/>
                </a:lnTo>
                <a:lnTo>
                  <a:pt x="2700" y="21600"/>
                </a:lnTo>
                <a:lnTo>
                  <a:pt x="2700" y="20057"/>
                </a:lnTo>
                <a:lnTo>
                  <a:pt x="540" y="20057"/>
                </a:lnTo>
                <a:close/>
              </a:path>
              <a:path w="21600" h="21600" extrusionOk="0">
                <a:moveTo>
                  <a:pt x="2700" y="20057"/>
                </a:moveTo>
                <a:lnTo>
                  <a:pt x="2700" y="21600"/>
                </a:lnTo>
                <a:lnTo>
                  <a:pt x="4860" y="21600"/>
                </a:lnTo>
                <a:lnTo>
                  <a:pt x="4860" y="20057"/>
                </a:lnTo>
                <a:lnTo>
                  <a:pt x="2700" y="20057"/>
                </a:lnTo>
                <a:close/>
              </a:path>
              <a:path w="21600" h="21600" extrusionOk="0">
                <a:moveTo>
                  <a:pt x="4860" y="20057"/>
                </a:moveTo>
                <a:lnTo>
                  <a:pt x="4860" y="21600"/>
                </a:lnTo>
                <a:lnTo>
                  <a:pt x="7020" y="21600"/>
                </a:lnTo>
                <a:lnTo>
                  <a:pt x="7020" y="20057"/>
                </a:lnTo>
                <a:lnTo>
                  <a:pt x="4860" y="20057"/>
                </a:lnTo>
                <a:close/>
              </a:path>
              <a:path w="21600" h="21600" extrusionOk="0">
                <a:moveTo>
                  <a:pt x="7020" y="20057"/>
                </a:moveTo>
                <a:lnTo>
                  <a:pt x="7020" y="21600"/>
                </a:lnTo>
                <a:lnTo>
                  <a:pt x="9180" y="21600"/>
                </a:lnTo>
                <a:lnTo>
                  <a:pt x="9180" y="20057"/>
                </a:lnTo>
                <a:lnTo>
                  <a:pt x="7020" y="20057"/>
                </a:lnTo>
                <a:close/>
              </a:path>
              <a:path w="21600" h="21600" extrusionOk="0">
                <a:moveTo>
                  <a:pt x="9180" y="20057"/>
                </a:moveTo>
                <a:lnTo>
                  <a:pt x="9180" y="21600"/>
                </a:lnTo>
                <a:lnTo>
                  <a:pt x="11340" y="21600"/>
                </a:lnTo>
                <a:lnTo>
                  <a:pt x="11340" y="20057"/>
                </a:lnTo>
                <a:lnTo>
                  <a:pt x="9180" y="20057"/>
                </a:lnTo>
                <a:close/>
              </a:path>
              <a:path w="21600" h="21600" extrusionOk="0">
                <a:moveTo>
                  <a:pt x="11340" y="20057"/>
                </a:moveTo>
                <a:lnTo>
                  <a:pt x="11340" y="21600"/>
                </a:lnTo>
                <a:lnTo>
                  <a:pt x="13500" y="21600"/>
                </a:lnTo>
                <a:lnTo>
                  <a:pt x="13500" y="20057"/>
                </a:lnTo>
                <a:lnTo>
                  <a:pt x="11340" y="20057"/>
                </a:lnTo>
                <a:close/>
              </a:path>
              <a:path w="21600" h="21600" extrusionOk="0">
                <a:moveTo>
                  <a:pt x="13500" y="20057"/>
                </a:moveTo>
                <a:lnTo>
                  <a:pt x="13500" y="21600"/>
                </a:lnTo>
                <a:lnTo>
                  <a:pt x="15660" y="21600"/>
                </a:lnTo>
                <a:lnTo>
                  <a:pt x="15660" y="20057"/>
                </a:lnTo>
                <a:lnTo>
                  <a:pt x="13500" y="20057"/>
                </a:lnTo>
                <a:close/>
              </a:path>
              <a:path w="21600" h="21600" extrusionOk="0">
                <a:moveTo>
                  <a:pt x="15660" y="20057"/>
                </a:moveTo>
                <a:lnTo>
                  <a:pt x="15660" y="21600"/>
                </a:lnTo>
                <a:lnTo>
                  <a:pt x="17820" y="21600"/>
                </a:lnTo>
                <a:lnTo>
                  <a:pt x="17820" y="20057"/>
                </a:lnTo>
                <a:lnTo>
                  <a:pt x="15660" y="20057"/>
                </a:lnTo>
                <a:close/>
              </a:path>
              <a:path w="21600" h="21600" extrusionOk="0">
                <a:moveTo>
                  <a:pt x="17820" y="20057"/>
                </a:moveTo>
                <a:lnTo>
                  <a:pt x="17820" y="21600"/>
                </a:lnTo>
                <a:lnTo>
                  <a:pt x="19980" y="21600"/>
                </a:lnTo>
                <a:lnTo>
                  <a:pt x="19980" y="20057"/>
                </a:lnTo>
                <a:lnTo>
                  <a:pt x="17820" y="20057"/>
                </a:lnTo>
                <a:close/>
              </a:path>
              <a:path w="21600" h="21600" extrusionOk="0">
                <a:moveTo>
                  <a:pt x="19980" y="4628"/>
                </a:moveTo>
                <a:lnTo>
                  <a:pt x="21060" y="4628"/>
                </a:lnTo>
                <a:lnTo>
                  <a:pt x="21060" y="6171"/>
                </a:lnTo>
                <a:lnTo>
                  <a:pt x="19980" y="6171"/>
                </a:lnTo>
                <a:lnTo>
                  <a:pt x="19980" y="4628"/>
                </a:lnTo>
                <a:close/>
              </a:path>
            </a:pathLst>
          </a:cu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endParaRPr lang="ja-JP" altLang="en-US" sz="1000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6B78F6E8-46A4-4702-B2F6-A9E0FED85016}"/>
              </a:ext>
            </a:extLst>
          </p:cNvPr>
          <p:cNvCxnSpPr/>
          <p:nvPr/>
        </p:nvCxnSpPr>
        <p:spPr>
          <a:xfrm>
            <a:off x="1861841" y="3734343"/>
            <a:ext cx="0" cy="156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図 99" descr="SmartVPN">
            <a:extLst>
              <a:ext uri="{FF2B5EF4-FFF2-40B4-BE49-F238E27FC236}">
                <a16:creationId xmlns:a16="http://schemas.microsoft.com/office/drawing/2014/main" id="{6AC71435-B231-47E1-97C2-3DE4107ABFA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009" y="3510676"/>
            <a:ext cx="720000" cy="720000"/>
          </a:xfrm>
          <a:prstGeom prst="rect">
            <a:avLst/>
          </a:prstGeom>
        </p:spPr>
      </p:pic>
      <p:pic>
        <p:nvPicPr>
          <p:cNvPr id="101" name="Picture 4" descr="\\fmisv105\Users02$\totsuka\download\Image\Microsoft_CloudnEnterprise_Symbols_v2.7KP\Symbols\CnE_Enterprise\Database server.png">
            <a:extLst>
              <a:ext uri="{FF2B5EF4-FFF2-40B4-BE49-F238E27FC236}">
                <a16:creationId xmlns:a16="http://schemas.microsoft.com/office/drawing/2014/main" id="{D52392E1-582E-4E57-83DD-10730EC9F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238" y="114359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AB4F01-761F-4FBF-8EAC-305AB39A5B4F}"/>
              </a:ext>
            </a:extLst>
          </p:cNvPr>
          <p:cNvSpPr txBox="1"/>
          <p:nvPr/>
        </p:nvSpPr>
        <p:spPr>
          <a:xfrm>
            <a:off x="935502" y="1633252"/>
            <a:ext cx="2619662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172.16.106.0/24 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固定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172.16.108.0/22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有線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172.16.112.0/22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172.16.117.0/24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ゲスト用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172.16.118.0/24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外部接続不可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172.17.108.0/22 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有線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172.17.112.0/22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b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172.17.118.0/24 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セキュリティ関連機器用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59" name="カギ線コネクタ 128">
            <a:extLst>
              <a:ext uri="{FF2B5EF4-FFF2-40B4-BE49-F238E27FC236}">
                <a16:creationId xmlns:a16="http://schemas.microsoft.com/office/drawing/2014/main" id="{CD852559-23AF-472F-BE4E-5C40F0DFEE1B}"/>
              </a:ext>
            </a:extLst>
          </p:cNvPr>
          <p:cNvCxnSpPr>
            <a:cxnSpLocks/>
            <a:endCxn id="161" idx="2"/>
          </p:cNvCxnSpPr>
          <p:nvPr/>
        </p:nvCxnSpPr>
        <p:spPr>
          <a:xfrm rot="16200000" flipV="1">
            <a:off x="3177024" y="2198853"/>
            <a:ext cx="1841256" cy="110553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2229335F-8ABA-4C29-AE23-5D385EE2290B}"/>
              </a:ext>
            </a:extLst>
          </p:cNvPr>
          <p:cNvCxnSpPr>
            <a:cxnSpLocks/>
            <a:stCxn id="11" idx="2"/>
            <a:endCxn id="161" idx="3"/>
          </p:cNvCxnSpPr>
          <p:nvPr/>
        </p:nvCxnSpPr>
        <p:spPr>
          <a:xfrm rot="10800000" flipV="1">
            <a:off x="3724886" y="1648681"/>
            <a:ext cx="3508258" cy="231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3D396956-B78F-422C-917A-57D99E54515C}"/>
              </a:ext>
            </a:extLst>
          </p:cNvPr>
          <p:cNvSpPr txBox="1"/>
          <p:nvPr/>
        </p:nvSpPr>
        <p:spPr>
          <a:xfrm>
            <a:off x="4108707" y="4050631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SmartVPN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1" name="Picture 6" descr="\\fmisv105\Users02$\totsuka\download\Image\Microsoft_CloudnEnterprise_Symbols_v2.7KP\Symbols\CnE_Enterprise\Gateway.png">
            <a:extLst>
              <a:ext uri="{FF2B5EF4-FFF2-40B4-BE49-F238E27FC236}">
                <a16:creationId xmlns:a16="http://schemas.microsoft.com/office/drawing/2014/main" id="{5F967444-9F92-4CFC-9786-A5CC379E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86" y="147099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CF7886B2-97AF-4710-8D36-A34897CE1FF9}"/>
              </a:ext>
            </a:extLst>
          </p:cNvPr>
          <p:cNvSpPr txBox="1"/>
          <p:nvPr/>
        </p:nvSpPr>
        <p:spPr>
          <a:xfrm>
            <a:off x="3765193" y="1395876"/>
            <a:ext cx="20408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ゲスト用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Internet(172.16.117.0/24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5" name="Picture 5">
            <a:extLst>
              <a:ext uri="{FF2B5EF4-FFF2-40B4-BE49-F238E27FC236}">
                <a16:creationId xmlns:a16="http://schemas.microsoft.com/office/drawing/2014/main" id="{031445F3-F0A3-4EE8-9E91-275C70301A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809" y="3308187"/>
            <a:ext cx="361045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F1FDA57-9D24-4FCC-A6D4-475811609DF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4827301" y="1648681"/>
            <a:ext cx="2405843" cy="210029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5B942C5D-45BA-47F0-AEB4-978ECB24F23D}"/>
              </a:ext>
            </a:extLst>
          </p:cNvPr>
          <p:cNvCxnSpPr>
            <a:cxnSpLocks/>
            <a:stCxn id="100" idx="1"/>
            <a:endCxn id="123" idx="3"/>
          </p:cNvCxnSpPr>
          <p:nvPr/>
        </p:nvCxnSpPr>
        <p:spPr>
          <a:xfrm flipH="1" flipV="1">
            <a:off x="2206186" y="3706239"/>
            <a:ext cx="2035823" cy="16443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94FEE27E-B91E-452D-8486-EC8590FC72EB}"/>
              </a:ext>
            </a:extLst>
          </p:cNvPr>
          <p:cNvSpPr/>
          <p:nvPr/>
        </p:nvSpPr>
        <p:spPr>
          <a:xfrm>
            <a:off x="698177" y="4231824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名古屋支店*</a:t>
            </a:r>
          </a:p>
        </p:txBody>
      </p:sp>
      <p:pic>
        <p:nvPicPr>
          <p:cNvPr id="106" name="図 105">
            <a:extLst>
              <a:ext uri="{FF2B5EF4-FFF2-40B4-BE49-F238E27FC236}">
                <a16:creationId xmlns:a16="http://schemas.microsoft.com/office/drawing/2014/main" id="{70EF3522-06C5-4D1A-A1FD-27F381485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4239656"/>
            <a:ext cx="396000" cy="396000"/>
          </a:xfrm>
          <a:prstGeom prst="rect">
            <a:avLst/>
          </a:prstGeom>
        </p:spPr>
      </p:pic>
      <p:cxnSp>
        <p:nvCxnSpPr>
          <p:cNvPr id="107" name="カギ線コネクタ 75">
            <a:extLst>
              <a:ext uri="{FF2B5EF4-FFF2-40B4-BE49-F238E27FC236}">
                <a16:creationId xmlns:a16="http://schemas.microsoft.com/office/drawing/2014/main" id="{520F491B-CA90-4903-8A45-3FE5795DF5BA}"/>
              </a:ext>
            </a:extLst>
          </p:cNvPr>
          <p:cNvCxnSpPr>
            <a:cxnSpLocks/>
            <a:stCxn id="11" idx="1"/>
            <a:endCxn id="105" idx="3"/>
          </p:cNvCxnSpPr>
          <p:nvPr/>
        </p:nvCxnSpPr>
        <p:spPr>
          <a:xfrm rot="5400000">
            <a:off x="3812783" y="383800"/>
            <a:ext cx="2458412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AB3D1F8F-D4A6-491E-9F97-0A2260E58876}"/>
              </a:ext>
            </a:extLst>
          </p:cNvPr>
          <p:cNvCxnSpPr>
            <a:cxnSpLocks/>
            <a:stCxn id="11" idx="0"/>
            <a:endCxn id="1028" idx="1"/>
          </p:cNvCxnSpPr>
          <p:nvPr/>
        </p:nvCxnSpPr>
        <p:spPr>
          <a:xfrm>
            <a:off x="8488186" y="1648681"/>
            <a:ext cx="579682" cy="4201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4E83C2E1-BBF2-45DE-A72C-6D1217AAFAB0}"/>
              </a:ext>
            </a:extLst>
          </p:cNvPr>
          <p:cNvCxnSpPr>
            <a:cxnSpLocks/>
            <a:stCxn id="1033" idx="1"/>
            <a:endCxn id="11" idx="0"/>
          </p:cNvCxnSpPr>
          <p:nvPr/>
        </p:nvCxnSpPr>
        <p:spPr>
          <a:xfrm rot="10800000">
            <a:off x="8488187" y="1648681"/>
            <a:ext cx="603201" cy="44758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48">
            <a:extLst>
              <a:ext uri="{FF2B5EF4-FFF2-40B4-BE49-F238E27FC236}">
                <a16:creationId xmlns:a16="http://schemas.microsoft.com/office/drawing/2014/main" id="{40BE16F0-BFC5-43F6-A382-E571EF0AC99D}"/>
              </a:ext>
            </a:extLst>
          </p:cNvPr>
          <p:cNvCxnSpPr>
            <a:cxnSpLocks/>
            <a:endCxn id="4125" idx="1"/>
          </p:cNvCxnSpPr>
          <p:nvPr/>
        </p:nvCxnSpPr>
        <p:spPr>
          <a:xfrm rot="16200000" flipH="1">
            <a:off x="8194838" y="1707902"/>
            <a:ext cx="928396" cy="848237"/>
          </a:xfrm>
          <a:prstGeom prst="bent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8C41AA32-D79B-43DB-8B37-B0AE7E71AD10}"/>
              </a:ext>
            </a:extLst>
          </p:cNvPr>
          <p:cNvCxnSpPr>
            <a:cxnSpLocks/>
          </p:cNvCxnSpPr>
          <p:nvPr/>
        </p:nvCxnSpPr>
        <p:spPr>
          <a:xfrm flipV="1">
            <a:off x="8748277" y="6383322"/>
            <a:ext cx="360209" cy="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5C2EC4-50EA-408F-9BB3-589E10F59D5A}"/>
              </a:ext>
            </a:extLst>
          </p:cNvPr>
          <p:cNvSpPr txBox="1"/>
          <p:nvPr/>
        </p:nvSpPr>
        <p:spPr>
          <a:xfrm>
            <a:off x="4102064" y="4191481"/>
            <a:ext cx="1101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126.144.25.108</a:t>
            </a:r>
            <a:endParaRPr kumimoji="1" lang="ja-JP" altLang="en-US" sz="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589AED-6C2C-444A-B283-5C88D5A1429F}"/>
              </a:ext>
            </a:extLst>
          </p:cNvPr>
          <p:cNvSpPr txBox="1"/>
          <p:nvPr/>
        </p:nvSpPr>
        <p:spPr>
          <a:xfrm>
            <a:off x="9142992" y="6490233"/>
            <a:ext cx="31975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SVPN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の出入り口は弊社専用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126.144.25.108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pic>
        <p:nvPicPr>
          <p:cNvPr id="4125" name="Picture 29" descr="無料で「AnyConnect」アプリの最新版 APK4.9.00576をダウンロードー Android用「AnyConnect  APK」の最新バージョンをダウンロード- apkfab.com/jp">
            <a:extLst>
              <a:ext uri="{FF2B5EF4-FFF2-40B4-BE49-F238E27FC236}">
                <a16:creationId xmlns:a16="http://schemas.microsoft.com/office/drawing/2014/main" id="{210088B0-58FF-45BD-BFE7-1527CC29B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155" y="23802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図 128">
            <a:extLst>
              <a:ext uri="{FF2B5EF4-FFF2-40B4-BE49-F238E27FC236}">
                <a16:creationId xmlns:a16="http://schemas.microsoft.com/office/drawing/2014/main" id="{B2CB5952-768B-4A24-A65D-B76E564560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626" y="2500827"/>
            <a:ext cx="396000" cy="396000"/>
          </a:xfrm>
          <a:prstGeom prst="rect">
            <a:avLst/>
          </a:prstGeom>
        </p:spPr>
      </p:pic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EFEC297D-866D-4332-8C2E-B7D2A9D07FF5}"/>
              </a:ext>
            </a:extLst>
          </p:cNvPr>
          <p:cNvSpPr txBox="1"/>
          <p:nvPr/>
        </p:nvSpPr>
        <p:spPr>
          <a:xfrm>
            <a:off x="9367272" y="2870155"/>
            <a:ext cx="1045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VPN</a:t>
            </a:r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利用時</a:t>
            </a:r>
            <a:endParaRPr kumimoji="1" lang="ja-JP" alt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560DA9D-CF3F-0A2A-A5D6-022AF5671723}"/>
              </a:ext>
            </a:extLst>
          </p:cNvPr>
          <p:cNvSpPr/>
          <p:nvPr/>
        </p:nvSpPr>
        <p:spPr>
          <a:xfrm>
            <a:off x="688524" y="4677245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福岡支店*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3CE06DA-D6B1-0DB7-E7D4-A917F308F1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400" y="4685077"/>
            <a:ext cx="396000" cy="396000"/>
          </a:xfrm>
          <a:prstGeom prst="rect">
            <a:avLst/>
          </a:prstGeom>
        </p:spPr>
      </p:pic>
      <p:cxnSp>
        <p:nvCxnSpPr>
          <p:cNvPr id="23" name="カギ線コネクタ 75">
            <a:extLst>
              <a:ext uri="{FF2B5EF4-FFF2-40B4-BE49-F238E27FC236}">
                <a16:creationId xmlns:a16="http://schemas.microsoft.com/office/drawing/2014/main" id="{296D2C46-3AFA-8745-F91B-8C0F24486862}"/>
              </a:ext>
            </a:extLst>
          </p:cNvPr>
          <p:cNvCxnSpPr>
            <a:cxnSpLocks/>
          </p:cNvCxnSpPr>
          <p:nvPr/>
        </p:nvCxnSpPr>
        <p:spPr>
          <a:xfrm rot="5400000">
            <a:off x="3853931" y="883951"/>
            <a:ext cx="2353637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959B6943-E087-4078-AB9F-DF4807EA7A71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8665880" y="4911349"/>
            <a:ext cx="3055" cy="928877"/>
          </a:xfrm>
          <a:prstGeom prst="line">
            <a:avLst/>
          </a:prstGeom>
          <a:ln w="127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正方形/長方形 86"/>
          <p:cNvSpPr/>
          <p:nvPr/>
        </p:nvSpPr>
        <p:spPr>
          <a:xfrm>
            <a:off x="8425338" y="3539889"/>
            <a:ext cx="3608151" cy="2465405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ja-JP" altLang="en-US" sz="100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pic>
        <p:nvPicPr>
          <p:cNvPr id="88" name="Picture 6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920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ãazureãã®ç»åæ¤ç´¢çµæ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972" y="3346186"/>
            <a:ext cx="1132168" cy="58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線コネクタ 94"/>
          <p:cNvCxnSpPr>
            <a:cxnSpLocks/>
          </p:cNvCxnSpPr>
          <p:nvPr/>
        </p:nvCxnSpPr>
        <p:spPr>
          <a:xfrm>
            <a:off x="8563998" y="4267226"/>
            <a:ext cx="3317043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テキスト ボックス 95"/>
          <p:cNvSpPr txBox="1"/>
          <p:nvPr/>
        </p:nvSpPr>
        <p:spPr>
          <a:xfrm>
            <a:off x="8600414" y="4623133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勘定奉行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99" name="Picture 5" descr="\\fmisv105\Users02$\totsuka\download\Image\Microsoft_CloudnEnterprise_Symbols_v2.7KP\Symbols\CnE_Cloud\PNG\Azure VPN Gateway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880" y="455134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テキスト ボックス 107"/>
          <p:cNvSpPr txBox="1"/>
          <p:nvPr/>
        </p:nvSpPr>
        <p:spPr>
          <a:xfrm>
            <a:off x="8644484" y="4028464"/>
            <a:ext cx="112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10.10.1.0/24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37" name="直線コネクタ 136"/>
          <p:cNvCxnSpPr/>
          <p:nvPr/>
        </p:nvCxnSpPr>
        <p:spPr>
          <a:xfrm>
            <a:off x="8563998" y="5831226"/>
            <a:ext cx="2755824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テキスト ボックス 138"/>
          <p:cNvSpPr txBox="1"/>
          <p:nvPr/>
        </p:nvSpPr>
        <p:spPr>
          <a:xfrm>
            <a:off x="9272033" y="4623133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WSUS</a:t>
            </a:r>
          </a:p>
        </p:txBody>
      </p:sp>
      <p:pic>
        <p:nvPicPr>
          <p:cNvPr id="141" name="Picture 3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626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3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332" y="546019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テキスト ボックス 142"/>
          <p:cNvSpPr txBox="1"/>
          <p:nvPr/>
        </p:nvSpPr>
        <p:spPr>
          <a:xfrm>
            <a:off x="8632589" y="5633523"/>
            <a:ext cx="13468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DMZ 10.10.254.0/24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98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6684A834-3289-47C4-A0DD-1E750FB82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332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EDE485A6-AAE1-446E-BA34-C95CE7A0DCA9}"/>
              </a:ext>
            </a:extLst>
          </p:cNvPr>
          <p:cNvSpPr txBox="1"/>
          <p:nvPr/>
        </p:nvSpPr>
        <p:spPr>
          <a:xfrm>
            <a:off x="9706986" y="4623133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D365bat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4044A1CC-2B3A-4D86-A03B-C746B6CB7550}"/>
              </a:ext>
            </a:extLst>
          </p:cNvPr>
          <p:cNvSpPr txBox="1"/>
          <p:nvPr/>
        </p:nvSpPr>
        <p:spPr>
          <a:xfrm>
            <a:off x="10288177" y="5590236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SKYSEA</a:t>
            </a:r>
          </a:p>
        </p:txBody>
      </p:sp>
      <p:pic>
        <p:nvPicPr>
          <p:cNvPr id="119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AB933774-494F-46CF-8F33-CFFAECB9E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037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37B02A1-98F1-4DB6-8116-34A6BDF2CDE5}"/>
              </a:ext>
            </a:extLst>
          </p:cNvPr>
          <p:cNvSpPr txBox="1"/>
          <p:nvPr/>
        </p:nvSpPr>
        <p:spPr>
          <a:xfrm>
            <a:off x="10231329" y="4623133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SKYSEA</a:t>
            </a:r>
          </a:p>
        </p:txBody>
      </p:sp>
      <p:pic>
        <p:nvPicPr>
          <p:cNvPr id="149" name="Picture 10" descr="\\fmisv105\Users02$\totsuka\download\Image\Microsoft_CloudnEnterprise_Symbols_v2.7KP\Symbols\CnE_Cloud\PNG\Azure Active Directory.png">
            <a:extLst>
              <a:ext uri="{FF2B5EF4-FFF2-40B4-BE49-F238E27FC236}">
                <a16:creationId xmlns:a16="http://schemas.microsoft.com/office/drawing/2014/main" id="{7F33A193-32D5-4B6C-9482-4F0D14E8B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5927" y="38692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1" descr="\\fmisv105\Users02$\totsuka\download\Image\Microsoft_CloudnEnterprise_Symbols_v2.7KP\Symbols\CnE_Cloud\PNG\Azure App Service - Web App (was Websites).png">
            <a:extLst>
              <a:ext uri="{FF2B5EF4-FFF2-40B4-BE49-F238E27FC236}">
                <a16:creationId xmlns:a16="http://schemas.microsoft.com/office/drawing/2014/main" id="{717915E8-3613-431E-8CC9-B356E4BF3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30" y="38692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79577BC2-E2CA-49B6-8019-32948E0B41A5}"/>
              </a:ext>
            </a:extLst>
          </p:cNvPr>
          <p:cNvSpPr txBox="1"/>
          <p:nvPr/>
        </p:nvSpPr>
        <p:spPr>
          <a:xfrm>
            <a:off x="9375565" y="3662979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504583E5-CBAC-4E78-8664-30E64B84D633}"/>
              </a:ext>
            </a:extLst>
          </p:cNvPr>
          <p:cNvSpPr txBox="1"/>
          <p:nvPr/>
        </p:nvSpPr>
        <p:spPr>
          <a:xfrm>
            <a:off x="10381415" y="3662979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X-point</a:t>
            </a:r>
          </a:p>
        </p:txBody>
      </p:sp>
      <p:pic>
        <p:nvPicPr>
          <p:cNvPr id="155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EAD069A7-292F-4987-B6E0-AF48BBAB0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4847" y="429426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A5C80EFA-F150-4FFB-89C4-4DBF60198484}"/>
              </a:ext>
            </a:extLst>
          </p:cNvPr>
          <p:cNvSpPr txBox="1"/>
          <p:nvPr/>
        </p:nvSpPr>
        <p:spPr>
          <a:xfrm>
            <a:off x="10598824" y="4677285"/>
            <a:ext cx="846859" cy="274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ts val="5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AAD</a:t>
            </a:r>
          </a:p>
          <a:p>
            <a:pPr algn="ctr" fontAlgn="base">
              <a:lnSpc>
                <a:spcPts val="5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Connect</a:t>
            </a:r>
          </a:p>
        </p:txBody>
      </p: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F810DBFC-489F-4762-9AB4-7F299EE38EA5}"/>
              </a:ext>
            </a:extLst>
          </p:cNvPr>
          <p:cNvCxnSpPr>
            <a:cxnSpLocks/>
          </p:cNvCxnSpPr>
          <p:nvPr/>
        </p:nvCxnSpPr>
        <p:spPr>
          <a:xfrm flipV="1">
            <a:off x="4909771" y="3770457"/>
            <a:ext cx="3398780" cy="6216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59A01A2B-9057-40AA-922E-EBEC8AE2FBD2}"/>
              </a:ext>
            </a:extLst>
          </p:cNvPr>
          <p:cNvCxnSpPr>
            <a:cxnSpLocks/>
            <a:endCxn id="99" idx="0"/>
          </p:cNvCxnSpPr>
          <p:nvPr/>
        </p:nvCxnSpPr>
        <p:spPr>
          <a:xfrm flipH="1">
            <a:off x="8665880" y="4266724"/>
            <a:ext cx="3055" cy="284625"/>
          </a:xfrm>
          <a:prstGeom prst="line">
            <a:avLst/>
          </a:prstGeom>
          <a:ln w="127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EA18978-5F0D-4C7D-A87B-A5701E12DF5F}"/>
              </a:ext>
            </a:extLst>
          </p:cNvPr>
          <p:cNvCxnSpPr>
            <a:cxnSpLocks/>
          </p:cNvCxnSpPr>
          <p:nvPr/>
        </p:nvCxnSpPr>
        <p:spPr>
          <a:xfrm flipV="1">
            <a:off x="8778027" y="6136595"/>
            <a:ext cx="360000" cy="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FBDA56-AADB-46D1-877D-9D3B8B29D9FB}"/>
              </a:ext>
            </a:extLst>
          </p:cNvPr>
          <p:cNvSpPr txBox="1"/>
          <p:nvPr/>
        </p:nvSpPr>
        <p:spPr>
          <a:xfrm>
            <a:off x="9144574" y="6032817"/>
            <a:ext cx="20869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ソフトバンク閉域網（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SmartVPN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82B779B1-888D-4740-A46B-8FE98A30BD26}"/>
              </a:ext>
            </a:extLst>
          </p:cNvPr>
          <p:cNvSpPr txBox="1"/>
          <p:nvPr/>
        </p:nvSpPr>
        <p:spPr>
          <a:xfrm>
            <a:off x="9142992" y="6267897"/>
            <a:ext cx="1045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ExpressRoute</a:t>
            </a:r>
            <a:endParaRPr kumimoji="1" lang="ja-JP" alt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35A0B457-28A9-4EB9-A8FC-964E59797612}"/>
              </a:ext>
            </a:extLst>
          </p:cNvPr>
          <p:cNvCxnSpPr/>
          <p:nvPr/>
        </p:nvCxnSpPr>
        <p:spPr>
          <a:xfrm rot="5400000" flipH="1" flipV="1">
            <a:off x="8269608" y="3823749"/>
            <a:ext cx="77886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D723ABC-96DF-71B3-FD1B-57D2A3B61580}"/>
              </a:ext>
            </a:extLst>
          </p:cNvPr>
          <p:cNvCxnSpPr>
            <a:cxnSpLocks/>
          </p:cNvCxnSpPr>
          <p:nvPr/>
        </p:nvCxnSpPr>
        <p:spPr>
          <a:xfrm>
            <a:off x="8607180" y="5096052"/>
            <a:ext cx="2757600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3393FA-9815-FEDD-D0B2-32B3073790A1}"/>
              </a:ext>
            </a:extLst>
          </p:cNvPr>
          <p:cNvSpPr txBox="1"/>
          <p:nvPr/>
        </p:nvSpPr>
        <p:spPr>
          <a:xfrm>
            <a:off x="8654009" y="4895239"/>
            <a:ext cx="112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10.10.2.0/24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5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6153FAE9-EB16-361A-8272-6A041EDB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387" y="513920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77CD48-C9EB-1888-E979-B942D5DCA0E4}"/>
              </a:ext>
            </a:extLst>
          </p:cNvPr>
          <p:cNvSpPr txBox="1"/>
          <p:nvPr/>
        </p:nvSpPr>
        <p:spPr>
          <a:xfrm>
            <a:off x="8619464" y="5461333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</a:t>
            </a:r>
          </a:p>
        </p:txBody>
      </p:sp>
      <p:pic>
        <p:nvPicPr>
          <p:cNvPr id="10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8E38B3B3-EB69-FAE8-0EC5-02709CCAC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138" y="430603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7BFC50C-613C-0F5A-7E08-B1CB75CDDF1C}"/>
              </a:ext>
            </a:extLst>
          </p:cNvPr>
          <p:cNvSpPr txBox="1"/>
          <p:nvPr/>
        </p:nvSpPr>
        <p:spPr>
          <a:xfrm>
            <a:off x="11129533" y="4638748"/>
            <a:ext cx="6744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60968146-66DF-4642-2FFC-7F1C9D20ED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138" y="1395876"/>
            <a:ext cx="396000" cy="396000"/>
          </a:xfrm>
          <a:prstGeom prst="rect">
            <a:avLst/>
          </a:prstGeom>
        </p:spPr>
      </p:pic>
      <p:pic>
        <p:nvPicPr>
          <p:cNvPr id="25" name="図 24" descr="アイコン&#10;&#10;自動的に生成された説明">
            <a:extLst>
              <a:ext uri="{FF2B5EF4-FFF2-40B4-BE49-F238E27FC236}">
                <a16:creationId xmlns:a16="http://schemas.microsoft.com/office/drawing/2014/main" id="{79B7FA28-D0C7-8DAC-4574-906EBE2E4C5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9878497" y="1314077"/>
            <a:ext cx="657764" cy="657764"/>
          </a:xfrm>
          <a:prstGeom prst="rect">
            <a:avLst/>
          </a:prstGeom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1176A7C-8A16-0C8B-10E4-BC7B9CC8E940}"/>
              </a:ext>
            </a:extLst>
          </p:cNvPr>
          <p:cNvCxnSpPr>
            <a:stCxn id="25" idx="1"/>
            <a:endCxn id="1028" idx="3"/>
          </p:cNvCxnSpPr>
          <p:nvPr/>
        </p:nvCxnSpPr>
        <p:spPr>
          <a:xfrm flipH="1">
            <a:off x="9499868" y="1642959"/>
            <a:ext cx="378629" cy="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78A142B-9DA7-F39C-EB44-0EE6109CEF1E}"/>
              </a:ext>
            </a:extLst>
          </p:cNvPr>
          <p:cNvCxnSpPr>
            <a:stCxn id="20" idx="1"/>
            <a:endCxn id="25" idx="3"/>
          </p:cNvCxnSpPr>
          <p:nvPr/>
        </p:nvCxnSpPr>
        <p:spPr>
          <a:xfrm flipH="1">
            <a:off x="10536261" y="1593876"/>
            <a:ext cx="544877" cy="49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C1B2CCF-BBA6-AE61-40C3-6E1CA8477DCD}"/>
              </a:ext>
            </a:extLst>
          </p:cNvPr>
          <p:cNvSpPr txBox="1"/>
          <p:nvPr/>
        </p:nvSpPr>
        <p:spPr>
          <a:xfrm>
            <a:off x="9751626" y="792281"/>
            <a:ext cx="186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/>
              <a:t>多要素認証</a:t>
            </a:r>
            <a:endParaRPr kumimoji="1" lang="en-US" altLang="ja-JP" sz="1200"/>
          </a:p>
          <a:p>
            <a:r>
              <a:rPr lang="en-US" altLang="ja-JP" sz="1200"/>
              <a:t>2023</a:t>
            </a:r>
            <a:r>
              <a:rPr lang="ja-JP" altLang="en-US" sz="1200"/>
              <a:t>より導入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8C6F42FD-8FB1-052F-0B53-ACA1D45F3FF6}"/>
              </a:ext>
            </a:extLst>
          </p:cNvPr>
          <p:cNvSpPr/>
          <p:nvPr/>
        </p:nvSpPr>
        <p:spPr>
          <a:xfrm>
            <a:off x="9706986" y="584212"/>
            <a:ext cx="1082446" cy="150212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91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7523DA10-A7D1-4E20-A926-9596761B19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7523DA10-A7D1-4E20-A926-9596761B1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1F882B7D-EEA1-4A56-BD68-82ED7731FF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en-US" altLang="ja-JP" sz="2800" b="1">
              <a:solidFill>
                <a:prstClr val="white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959B6943-E087-4078-AB9F-DF4807EA7A71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8665880" y="4911349"/>
            <a:ext cx="3055" cy="928877"/>
          </a:xfrm>
          <a:prstGeom prst="line">
            <a:avLst/>
          </a:prstGeom>
          <a:ln w="127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正方形/長方形 119"/>
          <p:cNvSpPr/>
          <p:nvPr/>
        </p:nvSpPr>
        <p:spPr>
          <a:xfrm>
            <a:off x="663630" y="764895"/>
            <a:ext cx="3187149" cy="2301751"/>
          </a:xfrm>
          <a:prstGeom prst="rect">
            <a:avLst/>
          </a:prstGeom>
          <a:solidFill>
            <a:schemeClr val="accent1">
              <a:alpha val="18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FMI</a:t>
            </a:r>
            <a:r>
              <a:rPr lang="ja-JP" altLang="en-US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六本木）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8B5EF6FA-995B-4819-B416-316AB31B4EB8}"/>
              </a:ext>
            </a:extLst>
          </p:cNvPr>
          <p:cNvSpPr/>
          <p:nvPr/>
        </p:nvSpPr>
        <p:spPr>
          <a:xfrm>
            <a:off x="707805" y="3396525"/>
            <a:ext cx="1498381" cy="61942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10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大阪支店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698177" y="6269205"/>
            <a:ext cx="1498382" cy="428644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FMSI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 上海*</a:t>
            </a:r>
          </a:p>
        </p:txBody>
      </p:sp>
      <p:sp>
        <p:nvSpPr>
          <p:cNvPr id="11" name="雲 10"/>
          <p:cNvSpPr/>
          <p:nvPr/>
        </p:nvSpPr>
        <p:spPr>
          <a:xfrm>
            <a:off x="7229236" y="1324831"/>
            <a:ext cx="1260000" cy="647700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20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Internet</a:t>
            </a:r>
            <a:endParaRPr lang="ja-JP" altLang="en-US" sz="120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17" name="カギ線コネクタ 16"/>
          <p:cNvCxnSpPr>
            <a:cxnSpLocks/>
            <a:stCxn id="11" idx="1"/>
            <a:endCxn id="9" idx="3"/>
          </p:cNvCxnSpPr>
          <p:nvPr/>
        </p:nvCxnSpPr>
        <p:spPr>
          <a:xfrm rot="5400000">
            <a:off x="2772055" y="1396346"/>
            <a:ext cx="4511686" cy="56626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正方形/長方形 171"/>
          <p:cNvSpPr/>
          <p:nvPr/>
        </p:nvSpPr>
        <p:spPr>
          <a:xfrm>
            <a:off x="698177" y="5702131"/>
            <a:ext cx="1526565" cy="41924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シンガポール*</a:t>
            </a:r>
          </a:p>
        </p:txBody>
      </p:sp>
      <p:cxnSp>
        <p:nvCxnSpPr>
          <p:cNvPr id="177" name="カギ線コネクタ 176"/>
          <p:cNvCxnSpPr>
            <a:cxnSpLocks/>
            <a:stCxn id="11" idx="1"/>
            <a:endCxn id="172" idx="3"/>
          </p:cNvCxnSpPr>
          <p:nvPr/>
        </p:nvCxnSpPr>
        <p:spPr>
          <a:xfrm rot="5400000">
            <a:off x="3072032" y="1124551"/>
            <a:ext cx="3939914" cy="56344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タイトル 17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09574"/>
          </a:xfrm>
        </p:spPr>
        <p:txBody>
          <a:bodyPr>
            <a:noAutofit/>
          </a:bodyPr>
          <a:lstStyle/>
          <a:p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FMI NW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構成図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6300999"/>
            <a:ext cx="396000" cy="396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2338685" y="6572290"/>
            <a:ext cx="3689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*インターネットはレンタルオフィス経由</a:t>
            </a:r>
            <a:r>
              <a:rPr lang="en-US" altLang="ja-JP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/</a:t>
            </a: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本社とは</a:t>
            </a:r>
            <a:r>
              <a:rPr lang="en-US" altLang="ja-JP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SRA2</a:t>
            </a: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を利用してアクセス</a:t>
            </a: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81686" y="75602"/>
            <a:ext cx="2473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【2023</a:t>
            </a:r>
            <a:r>
              <a:rPr lang="ja-JP" altLang="en-US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年</a:t>
            </a: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月時点</a:t>
            </a: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endParaRPr lang="ja-JP" altLang="en-US" sz="11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67" name="図 6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5697699"/>
            <a:ext cx="396000" cy="396000"/>
          </a:xfrm>
          <a:prstGeom prst="rect">
            <a:avLst/>
          </a:prstGeom>
        </p:spPr>
      </p:pic>
      <p:sp>
        <p:nvSpPr>
          <p:cNvPr id="74" name="正方形/長方形 73"/>
          <p:cNvSpPr/>
          <p:nvPr/>
        </p:nvSpPr>
        <p:spPr>
          <a:xfrm>
            <a:off x="698177" y="5129508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ニューヨーク*</a:t>
            </a:r>
          </a:p>
        </p:txBody>
      </p:sp>
      <p:pic>
        <p:nvPicPr>
          <p:cNvPr id="75" name="図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5116843"/>
            <a:ext cx="396000" cy="396000"/>
          </a:xfrm>
          <a:prstGeom prst="rect">
            <a:avLst/>
          </a:prstGeom>
        </p:spPr>
      </p:pic>
      <p:cxnSp>
        <p:nvCxnSpPr>
          <p:cNvPr id="76" name="カギ線コネクタ 75"/>
          <p:cNvCxnSpPr>
            <a:cxnSpLocks/>
            <a:stCxn id="11" idx="1"/>
            <a:endCxn id="74" idx="3"/>
          </p:cNvCxnSpPr>
          <p:nvPr/>
        </p:nvCxnSpPr>
        <p:spPr>
          <a:xfrm rot="5400000">
            <a:off x="3363941" y="832642"/>
            <a:ext cx="3356096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 descr="\\fmisv105\Users02$\totsuka\download\Image\Microsoft_CloudnEnterprise_Symbols_v2.7KP\Symbols\CnE_Cloud\PNG\Azure DNS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387" y="19162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正方形/長方形 86"/>
          <p:cNvSpPr/>
          <p:nvPr/>
        </p:nvSpPr>
        <p:spPr>
          <a:xfrm>
            <a:off x="8425338" y="3539889"/>
            <a:ext cx="3608151" cy="2465405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ja-JP" altLang="en-US" sz="100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pic>
        <p:nvPicPr>
          <p:cNvPr id="88" name="Picture 6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920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ãazureãã®ç»åæ¤ç´¢çµæ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972" y="3346186"/>
            <a:ext cx="1132168" cy="58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線コネクタ 94"/>
          <p:cNvCxnSpPr>
            <a:cxnSpLocks/>
          </p:cNvCxnSpPr>
          <p:nvPr/>
        </p:nvCxnSpPr>
        <p:spPr>
          <a:xfrm>
            <a:off x="8563998" y="4267226"/>
            <a:ext cx="3317043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テキスト ボックス 95"/>
          <p:cNvSpPr txBox="1"/>
          <p:nvPr/>
        </p:nvSpPr>
        <p:spPr>
          <a:xfrm>
            <a:off x="8600414" y="4623133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勘定奉行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99" name="Picture 5" descr="\\fmisv105\Users02$\totsuka\download\Image\Microsoft_CloudnEnterprise_Symbols_v2.7KP\Symbols\CnE_Cloud\PNG\Azure VPN Gateway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880" y="455134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テキスト ボックス 107"/>
          <p:cNvSpPr txBox="1"/>
          <p:nvPr/>
        </p:nvSpPr>
        <p:spPr>
          <a:xfrm>
            <a:off x="8644484" y="4028464"/>
            <a:ext cx="112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10.10.1.0/24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21" name="直線コネクタ 120"/>
          <p:cNvCxnSpPr>
            <a:cxnSpLocks/>
          </p:cNvCxnSpPr>
          <p:nvPr/>
        </p:nvCxnSpPr>
        <p:spPr>
          <a:xfrm>
            <a:off x="854930" y="1625949"/>
            <a:ext cx="2493120" cy="12252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3" descr="\\fmisv105\Users02$\totsuka\download\Image\Microsoft_CloudnEnterprise_Symbols_v2.7KP\Symbols\CnE_Enterprise\Domain controller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768" y="114911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7" name="直線コネクタ 136"/>
          <p:cNvCxnSpPr/>
          <p:nvPr/>
        </p:nvCxnSpPr>
        <p:spPr>
          <a:xfrm>
            <a:off x="8563998" y="5831226"/>
            <a:ext cx="2755824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テキスト ボックス 138"/>
          <p:cNvSpPr txBox="1"/>
          <p:nvPr/>
        </p:nvSpPr>
        <p:spPr>
          <a:xfrm>
            <a:off x="9272033" y="4623133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WSUS</a:t>
            </a:r>
          </a:p>
        </p:txBody>
      </p:sp>
      <p:pic>
        <p:nvPicPr>
          <p:cNvPr id="141" name="Picture 3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626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3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332" y="546019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テキスト ボックス 142"/>
          <p:cNvSpPr txBox="1"/>
          <p:nvPr/>
        </p:nvSpPr>
        <p:spPr>
          <a:xfrm>
            <a:off x="8632589" y="5633523"/>
            <a:ext cx="13468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DMZ 10.10.254.0/24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1707071" y="919042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Backup</a:t>
            </a:r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1215759" y="934984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</a:t>
            </a:r>
          </a:p>
        </p:txBody>
      </p:sp>
      <p:pic>
        <p:nvPicPr>
          <p:cNvPr id="1028" name="Picture 4" descr="\\fmisv105\Users02$\totsuka\download\Image\Microsoft_CloudnEnterprise_Symbols_v2.7KP\Symbols\CnE_Cloud\PNG\Cloud, Office 365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68" y="143688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6684A834-3289-47C4-A0DD-1E750FB82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332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EDE485A6-AAE1-446E-BA34-C95CE7A0DCA9}"/>
              </a:ext>
            </a:extLst>
          </p:cNvPr>
          <p:cNvSpPr txBox="1"/>
          <p:nvPr/>
        </p:nvSpPr>
        <p:spPr>
          <a:xfrm>
            <a:off x="9706986" y="4623133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D365bat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F57504F1-B835-4163-BDD9-88B41C9F0DB2}"/>
              </a:ext>
            </a:extLst>
          </p:cNvPr>
          <p:cNvSpPr txBox="1"/>
          <p:nvPr/>
        </p:nvSpPr>
        <p:spPr>
          <a:xfrm>
            <a:off x="636770" y="3147484"/>
            <a:ext cx="1292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211.121.116.230/32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30" name="直線コネクタ 129">
            <a:extLst>
              <a:ext uri="{FF2B5EF4-FFF2-40B4-BE49-F238E27FC236}">
                <a16:creationId xmlns:a16="http://schemas.microsoft.com/office/drawing/2014/main" id="{C3859290-CA3E-4965-9C5F-4E2F42CB9651}"/>
              </a:ext>
            </a:extLst>
          </p:cNvPr>
          <p:cNvCxnSpPr/>
          <p:nvPr/>
        </p:nvCxnSpPr>
        <p:spPr>
          <a:xfrm>
            <a:off x="1010464" y="3890357"/>
            <a:ext cx="1039331" cy="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04A72F43-53D8-4EDF-B20F-B40E223CC5A2}"/>
              </a:ext>
            </a:extLst>
          </p:cNvPr>
          <p:cNvSpPr txBox="1"/>
          <p:nvPr/>
        </p:nvSpPr>
        <p:spPr>
          <a:xfrm>
            <a:off x="713522" y="3622105"/>
            <a:ext cx="1019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9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192.168.10.0/24</a:t>
            </a:r>
            <a:endParaRPr lang="ja-JP" altLang="en-US" sz="900">
              <a:solidFill>
                <a:prstClr val="black"/>
              </a:solidFill>
              <a:latin typeface="Verdana" panose="020B0604030504040204" pitchFamily="34" charset="0"/>
              <a:ea typeface="ＭＳ Ｐゴシック" pitchFamily="50" charset="-128"/>
            </a:endParaRPr>
          </a:p>
        </p:txBody>
      </p:sp>
      <p:sp>
        <p:nvSpPr>
          <p:cNvPr id="147" name="Firewall">
            <a:extLst>
              <a:ext uri="{FF2B5EF4-FFF2-40B4-BE49-F238E27FC236}">
                <a16:creationId xmlns:a16="http://schemas.microsoft.com/office/drawing/2014/main" id="{DA17F0CB-D9C2-4AD3-B07A-6379CAA13E4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89978" y="3487351"/>
            <a:ext cx="299467" cy="246992"/>
          </a:xfrm>
          <a:custGeom>
            <a:avLst/>
            <a:gdLst>
              <a:gd name="T0" fmla="*/ 0 w 21600"/>
              <a:gd name="T1" fmla="*/ 0 h 21600"/>
              <a:gd name="T2" fmla="*/ 10800 w 21600"/>
              <a:gd name="T3" fmla="*/ 0 h 21600"/>
              <a:gd name="T4" fmla="*/ 21600 w 21600"/>
              <a:gd name="T5" fmla="*/ 0 h 21600"/>
              <a:gd name="T6" fmla="*/ 21060 w 21600"/>
              <a:gd name="T7" fmla="*/ 10800 h 21600"/>
              <a:gd name="T8" fmla="*/ 21060 w 21600"/>
              <a:gd name="T9" fmla="*/ 21600 h 21600"/>
              <a:gd name="T10" fmla="*/ 10800 w 21600"/>
              <a:gd name="T11" fmla="*/ 21600 h 21600"/>
              <a:gd name="T12" fmla="*/ 540 w 21600"/>
              <a:gd name="T13" fmla="*/ 21600 h 21600"/>
              <a:gd name="T14" fmla="*/ 540 w 21600"/>
              <a:gd name="T15" fmla="*/ 10800 h 21600"/>
              <a:gd name="T16" fmla="*/ 761 w 21600"/>
              <a:gd name="T17" fmla="*/ 22454 h 21600"/>
              <a:gd name="T18" fmla="*/ 21069 w 21600"/>
              <a:gd name="T19" fmla="*/ 32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540" y="4628"/>
                </a:moveTo>
                <a:lnTo>
                  <a:pt x="0" y="4628"/>
                </a:lnTo>
                <a:lnTo>
                  <a:pt x="0" y="0"/>
                </a:lnTo>
                <a:lnTo>
                  <a:pt x="21600" y="0"/>
                </a:lnTo>
                <a:lnTo>
                  <a:pt x="21600" y="4628"/>
                </a:lnTo>
                <a:lnTo>
                  <a:pt x="21060" y="4628"/>
                </a:lnTo>
                <a:lnTo>
                  <a:pt x="21060" y="21600"/>
                </a:lnTo>
                <a:lnTo>
                  <a:pt x="540" y="21600"/>
                </a:lnTo>
                <a:lnTo>
                  <a:pt x="540" y="4628"/>
                </a:lnTo>
                <a:close/>
              </a:path>
              <a:path w="21600" h="21600" extrusionOk="0">
                <a:moveTo>
                  <a:pt x="540" y="4628"/>
                </a:moveTo>
                <a:lnTo>
                  <a:pt x="540" y="6171"/>
                </a:lnTo>
                <a:lnTo>
                  <a:pt x="2700" y="6171"/>
                </a:lnTo>
                <a:lnTo>
                  <a:pt x="2700" y="4628"/>
                </a:lnTo>
                <a:lnTo>
                  <a:pt x="540" y="4628"/>
                </a:lnTo>
                <a:close/>
              </a:path>
              <a:path w="21600" h="21600" extrusionOk="0">
                <a:moveTo>
                  <a:pt x="2700" y="4628"/>
                </a:moveTo>
                <a:lnTo>
                  <a:pt x="2700" y="6171"/>
                </a:lnTo>
                <a:lnTo>
                  <a:pt x="4860" y="6171"/>
                </a:lnTo>
                <a:lnTo>
                  <a:pt x="4860" y="4628"/>
                </a:lnTo>
                <a:lnTo>
                  <a:pt x="2700" y="4628"/>
                </a:lnTo>
                <a:close/>
              </a:path>
              <a:path w="21600" h="21600" extrusionOk="0">
                <a:moveTo>
                  <a:pt x="4860" y="4628"/>
                </a:moveTo>
                <a:lnTo>
                  <a:pt x="4860" y="6171"/>
                </a:lnTo>
                <a:lnTo>
                  <a:pt x="7020" y="6171"/>
                </a:lnTo>
                <a:lnTo>
                  <a:pt x="7020" y="4628"/>
                </a:lnTo>
                <a:lnTo>
                  <a:pt x="4860" y="4628"/>
                </a:lnTo>
                <a:close/>
              </a:path>
              <a:path w="21600" h="21600" extrusionOk="0">
                <a:moveTo>
                  <a:pt x="7020" y="4628"/>
                </a:moveTo>
                <a:lnTo>
                  <a:pt x="7020" y="6171"/>
                </a:lnTo>
                <a:lnTo>
                  <a:pt x="9180" y="6171"/>
                </a:lnTo>
                <a:lnTo>
                  <a:pt x="9180" y="4628"/>
                </a:lnTo>
                <a:lnTo>
                  <a:pt x="7020" y="4628"/>
                </a:lnTo>
                <a:close/>
              </a:path>
              <a:path w="21600" h="21600" extrusionOk="0">
                <a:moveTo>
                  <a:pt x="9180" y="4628"/>
                </a:moveTo>
                <a:lnTo>
                  <a:pt x="9180" y="6171"/>
                </a:lnTo>
                <a:lnTo>
                  <a:pt x="11340" y="6171"/>
                </a:lnTo>
                <a:lnTo>
                  <a:pt x="11340" y="4628"/>
                </a:lnTo>
                <a:lnTo>
                  <a:pt x="9180" y="4628"/>
                </a:lnTo>
                <a:close/>
              </a:path>
              <a:path w="21600" h="21600" extrusionOk="0">
                <a:moveTo>
                  <a:pt x="11340" y="4628"/>
                </a:moveTo>
                <a:lnTo>
                  <a:pt x="11340" y="6171"/>
                </a:lnTo>
                <a:lnTo>
                  <a:pt x="13500" y="6171"/>
                </a:lnTo>
                <a:lnTo>
                  <a:pt x="13500" y="4628"/>
                </a:lnTo>
                <a:lnTo>
                  <a:pt x="11340" y="4628"/>
                </a:lnTo>
                <a:close/>
              </a:path>
              <a:path w="21600" h="21600" extrusionOk="0">
                <a:moveTo>
                  <a:pt x="13500" y="4628"/>
                </a:moveTo>
                <a:lnTo>
                  <a:pt x="13500" y="6171"/>
                </a:lnTo>
                <a:lnTo>
                  <a:pt x="15660" y="6171"/>
                </a:lnTo>
                <a:lnTo>
                  <a:pt x="15660" y="4628"/>
                </a:lnTo>
                <a:lnTo>
                  <a:pt x="13500" y="4628"/>
                </a:lnTo>
                <a:close/>
              </a:path>
              <a:path w="21600" h="21600" extrusionOk="0">
                <a:moveTo>
                  <a:pt x="15660" y="4628"/>
                </a:moveTo>
                <a:lnTo>
                  <a:pt x="15660" y="6171"/>
                </a:lnTo>
                <a:lnTo>
                  <a:pt x="17820" y="6171"/>
                </a:lnTo>
                <a:lnTo>
                  <a:pt x="17820" y="4628"/>
                </a:lnTo>
                <a:lnTo>
                  <a:pt x="15660" y="4628"/>
                </a:lnTo>
                <a:close/>
              </a:path>
              <a:path w="21600" h="21600" extrusionOk="0">
                <a:moveTo>
                  <a:pt x="17820" y="4628"/>
                </a:moveTo>
                <a:lnTo>
                  <a:pt x="17820" y="6171"/>
                </a:lnTo>
                <a:lnTo>
                  <a:pt x="19980" y="6171"/>
                </a:lnTo>
                <a:lnTo>
                  <a:pt x="19980" y="4628"/>
                </a:lnTo>
                <a:lnTo>
                  <a:pt x="17820" y="4628"/>
                </a:lnTo>
                <a:close/>
              </a:path>
              <a:path w="21600" h="21600" extrusionOk="0">
                <a:moveTo>
                  <a:pt x="1620" y="6171"/>
                </a:moveTo>
                <a:lnTo>
                  <a:pt x="1620" y="7714"/>
                </a:lnTo>
                <a:lnTo>
                  <a:pt x="3779" y="7714"/>
                </a:lnTo>
                <a:lnTo>
                  <a:pt x="3779" y="6171"/>
                </a:lnTo>
                <a:lnTo>
                  <a:pt x="1620" y="6171"/>
                </a:lnTo>
                <a:close/>
              </a:path>
              <a:path w="21600" h="21600" extrusionOk="0">
                <a:moveTo>
                  <a:pt x="3779" y="6171"/>
                </a:moveTo>
                <a:lnTo>
                  <a:pt x="3779" y="7714"/>
                </a:lnTo>
                <a:lnTo>
                  <a:pt x="5940" y="7714"/>
                </a:lnTo>
                <a:lnTo>
                  <a:pt x="5940" y="6171"/>
                </a:lnTo>
                <a:lnTo>
                  <a:pt x="3779" y="6171"/>
                </a:lnTo>
                <a:close/>
              </a:path>
              <a:path w="21600" h="21600" extrusionOk="0">
                <a:moveTo>
                  <a:pt x="5940" y="6171"/>
                </a:moveTo>
                <a:lnTo>
                  <a:pt x="5940" y="7714"/>
                </a:lnTo>
                <a:lnTo>
                  <a:pt x="8100" y="7714"/>
                </a:lnTo>
                <a:lnTo>
                  <a:pt x="8100" y="6171"/>
                </a:lnTo>
                <a:lnTo>
                  <a:pt x="5940" y="6171"/>
                </a:lnTo>
                <a:close/>
              </a:path>
              <a:path w="21600" h="21600" extrusionOk="0">
                <a:moveTo>
                  <a:pt x="8100" y="6171"/>
                </a:moveTo>
                <a:lnTo>
                  <a:pt x="8100" y="7714"/>
                </a:lnTo>
                <a:lnTo>
                  <a:pt x="10260" y="7714"/>
                </a:lnTo>
                <a:lnTo>
                  <a:pt x="10260" y="6171"/>
                </a:lnTo>
                <a:lnTo>
                  <a:pt x="8100" y="6171"/>
                </a:lnTo>
                <a:close/>
              </a:path>
              <a:path w="21600" h="21600" extrusionOk="0">
                <a:moveTo>
                  <a:pt x="10260" y="6171"/>
                </a:moveTo>
                <a:lnTo>
                  <a:pt x="10260" y="7714"/>
                </a:lnTo>
                <a:lnTo>
                  <a:pt x="12419" y="7714"/>
                </a:lnTo>
                <a:lnTo>
                  <a:pt x="12419" y="6171"/>
                </a:lnTo>
                <a:lnTo>
                  <a:pt x="10260" y="6171"/>
                </a:lnTo>
                <a:close/>
              </a:path>
              <a:path w="21600" h="21600" extrusionOk="0">
                <a:moveTo>
                  <a:pt x="12419" y="6171"/>
                </a:moveTo>
                <a:lnTo>
                  <a:pt x="12419" y="7714"/>
                </a:lnTo>
                <a:lnTo>
                  <a:pt x="14580" y="7714"/>
                </a:lnTo>
                <a:lnTo>
                  <a:pt x="14580" y="6171"/>
                </a:lnTo>
                <a:lnTo>
                  <a:pt x="12419" y="6171"/>
                </a:lnTo>
                <a:close/>
              </a:path>
              <a:path w="21600" h="21600" extrusionOk="0">
                <a:moveTo>
                  <a:pt x="14580" y="6171"/>
                </a:moveTo>
                <a:lnTo>
                  <a:pt x="14580" y="7714"/>
                </a:lnTo>
                <a:lnTo>
                  <a:pt x="16740" y="7714"/>
                </a:lnTo>
                <a:lnTo>
                  <a:pt x="16740" y="6171"/>
                </a:lnTo>
                <a:lnTo>
                  <a:pt x="14580" y="6171"/>
                </a:lnTo>
                <a:close/>
              </a:path>
              <a:path w="21600" h="21600" extrusionOk="0">
                <a:moveTo>
                  <a:pt x="16740" y="6171"/>
                </a:moveTo>
                <a:lnTo>
                  <a:pt x="16740" y="7714"/>
                </a:lnTo>
                <a:lnTo>
                  <a:pt x="18900" y="7714"/>
                </a:lnTo>
                <a:lnTo>
                  <a:pt x="18900" y="6171"/>
                </a:lnTo>
                <a:lnTo>
                  <a:pt x="16740" y="6171"/>
                </a:lnTo>
                <a:close/>
              </a:path>
              <a:path w="21600" h="21600" extrusionOk="0">
                <a:moveTo>
                  <a:pt x="18900" y="6171"/>
                </a:moveTo>
                <a:lnTo>
                  <a:pt x="18900" y="7714"/>
                </a:lnTo>
                <a:lnTo>
                  <a:pt x="21060" y="7714"/>
                </a:lnTo>
                <a:lnTo>
                  <a:pt x="21060" y="6171"/>
                </a:lnTo>
                <a:lnTo>
                  <a:pt x="18900" y="6171"/>
                </a:lnTo>
                <a:close/>
              </a:path>
              <a:path w="21600" h="21600" extrusionOk="0">
                <a:moveTo>
                  <a:pt x="540" y="7714"/>
                </a:moveTo>
                <a:lnTo>
                  <a:pt x="540" y="9257"/>
                </a:lnTo>
                <a:lnTo>
                  <a:pt x="2700" y="9257"/>
                </a:lnTo>
                <a:lnTo>
                  <a:pt x="2700" y="7714"/>
                </a:lnTo>
                <a:lnTo>
                  <a:pt x="540" y="7714"/>
                </a:lnTo>
                <a:close/>
              </a:path>
              <a:path w="21600" h="21600" extrusionOk="0">
                <a:moveTo>
                  <a:pt x="2700" y="7714"/>
                </a:moveTo>
                <a:lnTo>
                  <a:pt x="2700" y="9257"/>
                </a:lnTo>
                <a:lnTo>
                  <a:pt x="4860" y="9257"/>
                </a:lnTo>
                <a:lnTo>
                  <a:pt x="4860" y="7714"/>
                </a:lnTo>
                <a:lnTo>
                  <a:pt x="2700" y="7714"/>
                </a:lnTo>
                <a:close/>
              </a:path>
              <a:path w="21600" h="21600" extrusionOk="0">
                <a:moveTo>
                  <a:pt x="4860" y="7714"/>
                </a:moveTo>
                <a:lnTo>
                  <a:pt x="4860" y="9257"/>
                </a:lnTo>
                <a:lnTo>
                  <a:pt x="7020" y="9257"/>
                </a:lnTo>
                <a:lnTo>
                  <a:pt x="7020" y="7714"/>
                </a:lnTo>
                <a:lnTo>
                  <a:pt x="4860" y="7714"/>
                </a:lnTo>
                <a:close/>
              </a:path>
              <a:path w="21600" h="21600" extrusionOk="0">
                <a:moveTo>
                  <a:pt x="7020" y="7714"/>
                </a:moveTo>
                <a:lnTo>
                  <a:pt x="7020" y="9257"/>
                </a:lnTo>
                <a:lnTo>
                  <a:pt x="9180" y="9257"/>
                </a:lnTo>
                <a:lnTo>
                  <a:pt x="9180" y="7714"/>
                </a:lnTo>
                <a:lnTo>
                  <a:pt x="7020" y="7714"/>
                </a:lnTo>
                <a:close/>
              </a:path>
              <a:path w="21600" h="21600" extrusionOk="0">
                <a:moveTo>
                  <a:pt x="9180" y="7714"/>
                </a:moveTo>
                <a:lnTo>
                  <a:pt x="9180" y="9257"/>
                </a:lnTo>
                <a:lnTo>
                  <a:pt x="11340" y="9257"/>
                </a:lnTo>
                <a:lnTo>
                  <a:pt x="11340" y="7714"/>
                </a:lnTo>
                <a:lnTo>
                  <a:pt x="9180" y="7714"/>
                </a:lnTo>
                <a:close/>
              </a:path>
              <a:path w="21600" h="21600" extrusionOk="0">
                <a:moveTo>
                  <a:pt x="11340" y="7714"/>
                </a:moveTo>
                <a:lnTo>
                  <a:pt x="11340" y="9257"/>
                </a:lnTo>
                <a:lnTo>
                  <a:pt x="13500" y="9257"/>
                </a:lnTo>
                <a:lnTo>
                  <a:pt x="13500" y="7714"/>
                </a:lnTo>
                <a:lnTo>
                  <a:pt x="11340" y="7714"/>
                </a:lnTo>
                <a:close/>
              </a:path>
              <a:path w="21600" h="21600" extrusionOk="0">
                <a:moveTo>
                  <a:pt x="13500" y="7714"/>
                </a:moveTo>
                <a:lnTo>
                  <a:pt x="13500" y="9257"/>
                </a:lnTo>
                <a:lnTo>
                  <a:pt x="15660" y="9257"/>
                </a:lnTo>
                <a:lnTo>
                  <a:pt x="15660" y="7714"/>
                </a:lnTo>
                <a:lnTo>
                  <a:pt x="13500" y="7714"/>
                </a:lnTo>
                <a:close/>
              </a:path>
              <a:path w="21600" h="21600" extrusionOk="0">
                <a:moveTo>
                  <a:pt x="15660" y="7714"/>
                </a:moveTo>
                <a:lnTo>
                  <a:pt x="15660" y="9257"/>
                </a:lnTo>
                <a:lnTo>
                  <a:pt x="17820" y="9257"/>
                </a:lnTo>
                <a:lnTo>
                  <a:pt x="17820" y="7714"/>
                </a:lnTo>
                <a:lnTo>
                  <a:pt x="15660" y="7714"/>
                </a:lnTo>
                <a:close/>
              </a:path>
              <a:path w="21600" h="21600" extrusionOk="0">
                <a:moveTo>
                  <a:pt x="17820" y="7714"/>
                </a:moveTo>
                <a:lnTo>
                  <a:pt x="17820" y="9257"/>
                </a:lnTo>
                <a:lnTo>
                  <a:pt x="19980" y="9257"/>
                </a:lnTo>
                <a:lnTo>
                  <a:pt x="19980" y="7714"/>
                </a:lnTo>
                <a:lnTo>
                  <a:pt x="17820" y="7714"/>
                </a:lnTo>
                <a:close/>
              </a:path>
              <a:path w="21600" h="21600" extrusionOk="0">
                <a:moveTo>
                  <a:pt x="1620" y="9257"/>
                </a:moveTo>
                <a:lnTo>
                  <a:pt x="1620" y="10800"/>
                </a:lnTo>
                <a:lnTo>
                  <a:pt x="3779" y="10800"/>
                </a:lnTo>
                <a:lnTo>
                  <a:pt x="3779" y="9257"/>
                </a:lnTo>
                <a:lnTo>
                  <a:pt x="1620" y="9257"/>
                </a:lnTo>
                <a:close/>
              </a:path>
              <a:path w="21600" h="21600" extrusionOk="0">
                <a:moveTo>
                  <a:pt x="3779" y="9257"/>
                </a:moveTo>
                <a:lnTo>
                  <a:pt x="3779" y="10800"/>
                </a:lnTo>
                <a:lnTo>
                  <a:pt x="5940" y="10800"/>
                </a:lnTo>
                <a:lnTo>
                  <a:pt x="5940" y="9257"/>
                </a:lnTo>
                <a:lnTo>
                  <a:pt x="3779" y="9257"/>
                </a:lnTo>
                <a:close/>
              </a:path>
              <a:path w="21600" h="21600" extrusionOk="0">
                <a:moveTo>
                  <a:pt x="5940" y="9257"/>
                </a:moveTo>
                <a:lnTo>
                  <a:pt x="5940" y="10800"/>
                </a:lnTo>
                <a:lnTo>
                  <a:pt x="8100" y="10800"/>
                </a:lnTo>
                <a:lnTo>
                  <a:pt x="8100" y="9257"/>
                </a:lnTo>
                <a:lnTo>
                  <a:pt x="5940" y="9257"/>
                </a:lnTo>
                <a:close/>
              </a:path>
              <a:path w="21600" h="21600" extrusionOk="0">
                <a:moveTo>
                  <a:pt x="8100" y="9257"/>
                </a:moveTo>
                <a:lnTo>
                  <a:pt x="8100" y="10800"/>
                </a:lnTo>
                <a:lnTo>
                  <a:pt x="10260" y="10800"/>
                </a:lnTo>
                <a:lnTo>
                  <a:pt x="10260" y="9257"/>
                </a:lnTo>
                <a:lnTo>
                  <a:pt x="8100" y="9257"/>
                </a:lnTo>
                <a:close/>
              </a:path>
              <a:path w="21600" h="21600" extrusionOk="0">
                <a:moveTo>
                  <a:pt x="10260" y="9257"/>
                </a:moveTo>
                <a:lnTo>
                  <a:pt x="10260" y="10800"/>
                </a:lnTo>
                <a:lnTo>
                  <a:pt x="12419" y="10800"/>
                </a:lnTo>
                <a:lnTo>
                  <a:pt x="12419" y="9257"/>
                </a:lnTo>
                <a:lnTo>
                  <a:pt x="10260" y="9257"/>
                </a:lnTo>
                <a:close/>
              </a:path>
              <a:path w="21600" h="21600" extrusionOk="0">
                <a:moveTo>
                  <a:pt x="12419" y="9257"/>
                </a:moveTo>
                <a:lnTo>
                  <a:pt x="12419" y="10800"/>
                </a:lnTo>
                <a:lnTo>
                  <a:pt x="14580" y="10800"/>
                </a:lnTo>
                <a:lnTo>
                  <a:pt x="14580" y="9257"/>
                </a:lnTo>
                <a:lnTo>
                  <a:pt x="12419" y="9257"/>
                </a:lnTo>
                <a:close/>
              </a:path>
              <a:path w="21600" h="21600" extrusionOk="0">
                <a:moveTo>
                  <a:pt x="14580" y="9257"/>
                </a:moveTo>
                <a:lnTo>
                  <a:pt x="14580" y="10800"/>
                </a:lnTo>
                <a:lnTo>
                  <a:pt x="16740" y="10800"/>
                </a:lnTo>
                <a:lnTo>
                  <a:pt x="16740" y="9257"/>
                </a:lnTo>
                <a:lnTo>
                  <a:pt x="14580" y="9257"/>
                </a:lnTo>
                <a:close/>
              </a:path>
              <a:path w="21600" h="21600" extrusionOk="0">
                <a:moveTo>
                  <a:pt x="16740" y="9257"/>
                </a:moveTo>
                <a:lnTo>
                  <a:pt x="16740" y="10800"/>
                </a:lnTo>
                <a:lnTo>
                  <a:pt x="18900" y="10800"/>
                </a:lnTo>
                <a:lnTo>
                  <a:pt x="18900" y="9257"/>
                </a:lnTo>
                <a:lnTo>
                  <a:pt x="16740" y="9257"/>
                </a:lnTo>
                <a:close/>
              </a:path>
              <a:path w="21600" h="21600" extrusionOk="0">
                <a:moveTo>
                  <a:pt x="18900" y="9257"/>
                </a:moveTo>
                <a:lnTo>
                  <a:pt x="18900" y="10800"/>
                </a:lnTo>
                <a:lnTo>
                  <a:pt x="21060" y="10800"/>
                </a:lnTo>
                <a:lnTo>
                  <a:pt x="21060" y="9257"/>
                </a:lnTo>
                <a:lnTo>
                  <a:pt x="18900" y="9257"/>
                </a:lnTo>
                <a:close/>
              </a:path>
              <a:path w="21600" h="21600" extrusionOk="0">
                <a:moveTo>
                  <a:pt x="540" y="10800"/>
                </a:moveTo>
                <a:lnTo>
                  <a:pt x="540" y="12342"/>
                </a:lnTo>
                <a:lnTo>
                  <a:pt x="2700" y="12342"/>
                </a:lnTo>
                <a:lnTo>
                  <a:pt x="2700" y="10800"/>
                </a:lnTo>
                <a:lnTo>
                  <a:pt x="540" y="10800"/>
                </a:lnTo>
                <a:close/>
              </a:path>
              <a:path w="21600" h="21600" extrusionOk="0">
                <a:moveTo>
                  <a:pt x="2700" y="10800"/>
                </a:moveTo>
                <a:lnTo>
                  <a:pt x="2700" y="12342"/>
                </a:lnTo>
                <a:lnTo>
                  <a:pt x="4860" y="12342"/>
                </a:lnTo>
                <a:lnTo>
                  <a:pt x="4860" y="10800"/>
                </a:lnTo>
                <a:lnTo>
                  <a:pt x="2700" y="10800"/>
                </a:lnTo>
                <a:close/>
              </a:path>
              <a:path w="21600" h="21600" extrusionOk="0">
                <a:moveTo>
                  <a:pt x="4860" y="10800"/>
                </a:moveTo>
                <a:lnTo>
                  <a:pt x="4860" y="12342"/>
                </a:lnTo>
                <a:lnTo>
                  <a:pt x="7020" y="12342"/>
                </a:lnTo>
                <a:lnTo>
                  <a:pt x="7020" y="10800"/>
                </a:lnTo>
                <a:lnTo>
                  <a:pt x="4860" y="10800"/>
                </a:lnTo>
                <a:close/>
              </a:path>
              <a:path w="21600" h="21600" extrusionOk="0">
                <a:moveTo>
                  <a:pt x="7020" y="10800"/>
                </a:moveTo>
                <a:lnTo>
                  <a:pt x="7020" y="12342"/>
                </a:lnTo>
                <a:lnTo>
                  <a:pt x="9180" y="12342"/>
                </a:lnTo>
                <a:lnTo>
                  <a:pt x="9180" y="10800"/>
                </a:lnTo>
                <a:lnTo>
                  <a:pt x="7020" y="10800"/>
                </a:lnTo>
                <a:close/>
              </a:path>
              <a:path w="21600" h="21600" extrusionOk="0">
                <a:moveTo>
                  <a:pt x="9180" y="10800"/>
                </a:moveTo>
                <a:lnTo>
                  <a:pt x="9180" y="12342"/>
                </a:lnTo>
                <a:lnTo>
                  <a:pt x="11340" y="12342"/>
                </a:lnTo>
                <a:lnTo>
                  <a:pt x="11340" y="10800"/>
                </a:lnTo>
                <a:lnTo>
                  <a:pt x="9180" y="10800"/>
                </a:lnTo>
                <a:close/>
              </a:path>
              <a:path w="21600" h="21600" extrusionOk="0">
                <a:moveTo>
                  <a:pt x="11340" y="10800"/>
                </a:moveTo>
                <a:lnTo>
                  <a:pt x="11340" y="12342"/>
                </a:lnTo>
                <a:lnTo>
                  <a:pt x="13500" y="12342"/>
                </a:lnTo>
                <a:lnTo>
                  <a:pt x="13500" y="10800"/>
                </a:lnTo>
                <a:lnTo>
                  <a:pt x="11340" y="10800"/>
                </a:lnTo>
                <a:close/>
              </a:path>
              <a:path w="21600" h="21600" extrusionOk="0">
                <a:moveTo>
                  <a:pt x="13500" y="10800"/>
                </a:moveTo>
                <a:lnTo>
                  <a:pt x="13500" y="12342"/>
                </a:lnTo>
                <a:lnTo>
                  <a:pt x="15660" y="12342"/>
                </a:lnTo>
                <a:lnTo>
                  <a:pt x="15660" y="10800"/>
                </a:lnTo>
                <a:lnTo>
                  <a:pt x="13500" y="10800"/>
                </a:lnTo>
                <a:close/>
              </a:path>
              <a:path w="21600" h="21600" extrusionOk="0">
                <a:moveTo>
                  <a:pt x="15660" y="10800"/>
                </a:moveTo>
                <a:lnTo>
                  <a:pt x="15660" y="12342"/>
                </a:lnTo>
                <a:lnTo>
                  <a:pt x="17820" y="12342"/>
                </a:lnTo>
                <a:lnTo>
                  <a:pt x="17820" y="10800"/>
                </a:lnTo>
                <a:lnTo>
                  <a:pt x="15660" y="10800"/>
                </a:lnTo>
                <a:close/>
              </a:path>
              <a:path w="21600" h="21600" extrusionOk="0">
                <a:moveTo>
                  <a:pt x="17820" y="10800"/>
                </a:moveTo>
                <a:lnTo>
                  <a:pt x="17820" y="12342"/>
                </a:lnTo>
                <a:lnTo>
                  <a:pt x="19980" y="12342"/>
                </a:lnTo>
                <a:lnTo>
                  <a:pt x="19980" y="10800"/>
                </a:lnTo>
                <a:lnTo>
                  <a:pt x="17820" y="10800"/>
                </a:lnTo>
                <a:close/>
              </a:path>
              <a:path w="21600" h="21600" extrusionOk="0">
                <a:moveTo>
                  <a:pt x="1620" y="12342"/>
                </a:moveTo>
                <a:lnTo>
                  <a:pt x="1620" y="13885"/>
                </a:lnTo>
                <a:lnTo>
                  <a:pt x="3779" y="13885"/>
                </a:lnTo>
                <a:lnTo>
                  <a:pt x="3779" y="12342"/>
                </a:lnTo>
                <a:lnTo>
                  <a:pt x="1620" y="12342"/>
                </a:lnTo>
                <a:close/>
              </a:path>
              <a:path w="21600" h="21600" extrusionOk="0">
                <a:moveTo>
                  <a:pt x="3779" y="12342"/>
                </a:moveTo>
                <a:lnTo>
                  <a:pt x="3779" y="13885"/>
                </a:lnTo>
                <a:lnTo>
                  <a:pt x="5940" y="13885"/>
                </a:lnTo>
                <a:lnTo>
                  <a:pt x="5940" y="12342"/>
                </a:lnTo>
                <a:lnTo>
                  <a:pt x="3779" y="12342"/>
                </a:lnTo>
                <a:close/>
              </a:path>
              <a:path w="21600" h="21600" extrusionOk="0">
                <a:moveTo>
                  <a:pt x="5940" y="12342"/>
                </a:moveTo>
                <a:lnTo>
                  <a:pt x="5940" y="13885"/>
                </a:lnTo>
                <a:lnTo>
                  <a:pt x="8100" y="13885"/>
                </a:lnTo>
                <a:lnTo>
                  <a:pt x="8100" y="12342"/>
                </a:lnTo>
                <a:lnTo>
                  <a:pt x="5940" y="12342"/>
                </a:lnTo>
                <a:close/>
              </a:path>
              <a:path w="21600" h="21600" extrusionOk="0">
                <a:moveTo>
                  <a:pt x="8100" y="12342"/>
                </a:moveTo>
                <a:lnTo>
                  <a:pt x="8100" y="13885"/>
                </a:lnTo>
                <a:lnTo>
                  <a:pt x="10260" y="13885"/>
                </a:lnTo>
                <a:lnTo>
                  <a:pt x="10260" y="12342"/>
                </a:lnTo>
                <a:lnTo>
                  <a:pt x="8100" y="12342"/>
                </a:lnTo>
                <a:close/>
              </a:path>
              <a:path w="21600" h="21600" extrusionOk="0">
                <a:moveTo>
                  <a:pt x="10260" y="12342"/>
                </a:moveTo>
                <a:lnTo>
                  <a:pt x="10260" y="13885"/>
                </a:lnTo>
                <a:lnTo>
                  <a:pt x="12419" y="13885"/>
                </a:lnTo>
                <a:lnTo>
                  <a:pt x="12419" y="12342"/>
                </a:lnTo>
                <a:lnTo>
                  <a:pt x="10260" y="12342"/>
                </a:lnTo>
                <a:close/>
              </a:path>
              <a:path w="21600" h="21600" extrusionOk="0">
                <a:moveTo>
                  <a:pt x="12419" y="12342"/>
                </a:moveTo>
                <a:lnTo>
                  <a:pt x="12419" y="13885"/>
                </a:lnTo>
                <a:lnTo>
                  <a:pt x="14580" y="13885"/>
                </a:lnTo>
                <a:lnTo>
                  <a:pt x="14580" y="12342"/>
                </a:lnTo>
                <a:lnTo>
                  <a:pt x="12419" y="12342"/>
                </a:lnTo>
                <a:close/>
              </a:path>
              <a:path w="21600" h="21600" extrusionOk="0">
                <a:moveTo>
                  <a:pt x="14580" y="12342"/>
                </a:moveTo>
                <a:lnTo>
                  <a:pt x="14580" y="13885"/>
                </a:lnTo>
                <a:lnTo>
                  <a:pt x="16740" y="13885"/>
                </a:lnTo>
                <a:lnTo>
                  <a:pt x="16740" y="12342"/>
                </a:lnTo>
                <a:lnTo>
                  <a:pt x="14580" y="12342"/>
                </a:lnTo>
                <a:close/>
              </a:path>
              <a:path w="21600" h="21600" extrusionOk="0">
                <a:moveTo>
                  <a:pt x="16740" y="12342"/>
                </a:moveTo>
                <a:lnTo>
                  <a:pt x="16740" y="13885"/>
                </a:lnTo>
                <a:lnTo>
                  <a:pt x="18900" y="13885"/>
                </a:lnTo>
                <a:lnTo>
                  <a:pt x="18900" y="12342"/>
                </a:lnTo>
                <a:lnTo>
                  <a:pt x="16740" y="12342"/>
                </a:lnTo>
                <a:close/>
              </a:path>
              <a:path w="21600" h="21600" extrusionOk="0">
                <a:moveTo>
                  <a:pt x="18900" y="12342"/>
                </a:moveTo>
                <a:lnTo>
                  <a:pt x="18900" y="13885"/>
                </a:lnTo>
                <a:lnTo>
                  <a:pt x="21060" y="13885"/>
                </a:lnTo>
                <a:lnTo>
                  <a:pt x="21060" y="12342"/>
                </a:lnTo>
                <a:lnTo>
                  <a:pt x="18900" y="12342"/>
                </a:lnTo>
                <a:close/>
              </a:path>
              <a:path w="21600" h="21600" extrusionOk="0">
                <a:moveTo>
                  <a:pt x="540" y="13885"/>
                </a:moveTo>
                <a:lnTo>
                  <a:pt x="540" y="15428"/>
                </a:lnTo>
                <a:lnTo>
                  <a:pt x="2700" y="15428"/>
                </a:lnTo>
                <a:lnTo>
                  <a:pt x="2700" y="13885"/>
                </a:lnTo>
                <a:lnTo>
                  <a:pt x="540" y="13885"/>
                </a:lnTo>
                <a:close/>
              </a:path>
              <a:path w="21600" h="21600" extrusionOk="0">
                <a:moveTo>
                  <a:pt x="2700" y="13885"/>
                </a:moveTo>
                <a:lnTo>
                  <a:pt x="2700" y="15428"/>
                </a:lnTo>
                <a:lnTo>
                  <a:pt x="4860" y="15428"/>
                </a:lnTo>
                <a:lnTo>
                  <a:pt x="4860" y="13885"/>
                </a:lnTo>
                <a:lnTo>
                  <a:pt x="2700" y="13885"/>
                </a:lnTo>
                <a:close/>
              </a:path>
              <a:path w="21600" h="21600" extrusionOk="0">
                <a:moveTo>
                  <a:pt x="4860" y="13885"/>
                </a:moveTo>
                <a:lnTo>
                  <a:pt x="4860" y="15428"/>
                </a:lnTo>
                <a:lnTo>
                  <a:pt x="7020" y="15428"/>
                </a:lnTo>
                <a:lnTo>
                  <a:pt x="7020" y="13885"/>
                </a:lnTo>
                <a:lnTo>
                  <a:pt x="4860" y="13885"/>
                </a:lnTo>
                <a:close/>
              </a:path>
              <a:path w="21600" h="21600" extrusionOk="0">
                <a:moveTo>
                  <a:pt x="7020" y="13885"/>
                </a:moveTo>
                <a:lnTo>
                  <a:pt x="7020" y="15428"/>
                </a:lnTo>
                <a:lnTo>
                  <a:pt x="9180" y="15428"/>
                </a:lnTo>
                <a:lnTo>
                  <a:pt x="9180" y="13885"/>
                </a:lnTo>
                <a:lnTo>
                  <a:pt x="7020" y="13885"/>
                </a:lnTo>
                <a:close/>
              </a:path>
              <a:path w="21600" h="21600" extrusionOk="0">
                <a:moveTo>
                  <a:pt x="9180" y="13885"/>
                </a:moveTo>
                <a:lnTo>
                  <a:pt x="9180" y="15428"/>
                </a:lnTo>
                <a:lnTo>
                  <a:pt x="11340" y="15428"/>
                </a:lnTo>
                <a:lnTo>
                  <a:pt x="11340" y="13885"/>
                </a:lnTo>
                <a:lnTo>
                  <a:pt x="9180" y="13885"/>
                </a:lnTo>
                <a:close/>
              </a:path>
              <a:path w="21600" h="21600" extrusionOk="0">
                <a:moveTo>
                  <a:pt x="11340" y="13885"/>
                </a:moveTo>
                <a:lnTo>
                  <a:pt x="11340" y="15428"/>
                </a:lnTo>
                <a:lnTo>
                  <a:pt x="13500" y="15428"/>
                </a:lnTo>
                <a:lnTo>
                  <a:pt x="13500" y="13885"/>
                </a:lnTo>
                <a:lnTo>
                  <a:pt x="11340" y="13885"/>
                </a:lnTo>
                <a:close/>
              </a:path>
              <a:path w="21600" h="21600" extrusionOk="0">
                <a:moveTo>
                  <a:pt x="13500" y="13885"/>
                </a:moveTo>
                <a:lnTo>
                  <a:pt x="13500" y="15428"/>
                </a:lnTo>
                <a:lnTo>
                  <a:pt x="15660" y="15428"/>
                </a:lnTo>
                <a:lnTo>
                  <a:pt x="15660" y="13885"/>
                </a:lnTo>
                <a:lnTo>
                  <a:pt x="13500" y="13885"/>
                </a:lnTo>
                <a:close/>
              </a:path>
              <a:path w="21600" h="21600" extrusionOk="0">
                <a:moveTo>
                  <a:pt x="15660" y="13885"/>
                </a:moveTo>
                <a:lnTo>
                  <a:pt x="15660" y="15428"/>
                </a:lnTo>
                <a:lnTo>
                  <a:pt x="17820" y="15428"/>
                </a:lnTo>
                <a:lnTo>
                  <a:pt x="17820" y="13885"/>
                </a:lnTo>
                <a:lnTo>
                  <a:pt x="15660" y="13885"/>
                </a:lnTo>
                <a:close/>
              </a:path>
              <a:path w="21600" h="21600" extrusionOk="0">
                <a:moveTo>
                  <a:pt x="17820" y="13885"/>
                </a:moveTo>
                <a:lnTo>
                  <a:pt x="17820" y="15428"/>
                </a:lnTo>
                <a:lnTo>
                  <a:pt x="19980" y="15428"/>
                </a:lnTo>
                <a:lnTo>
                  <a:pt x="19980" y="13885"/>
                </a:lnTo>
                <a:lnTo>
                  <a:pt x="17820" y="13885"/>
                </a:lnTo>
                <a:close/>
              </a:path>
              <a:path w="21600" h="21600" extrusionOk="0">
                <a:moveTo>
                  <a:pt x="1620" y="15428"/>
                </a:moveTo>
                <a:lnTo>
                  <a:pt x="1620" y="16971"/>
                </a:lnTo>
                <a:lnTo>
                  <a:pt x="3779" y="16971"/>
                </a:lnTo>
                <a:lnTo>
                  <a:pt x="3779" y="15428"/>
                </a:lnTo>
                <a:lnTo>
                  <a:pt x="1620" y="15428"/>
                </a:lnTo>
                <a:close/>
              </a:path>
              <a:path w="21600" h="21600" extrusionOk="0">
                <a:moveTo>
                  <a:pt x="3779" y="15428"/>
                </a:moveTo>
                <a:lnTo>
                  <a:pt x="3779" y="16971"/>
                </a:lnTo>
                <a:lnTo>
                  <a:pt x="5940" y="16971"/>
                </a:lnTo>
                <a:lnTo>
                  <a:pt x="5940" y="15428"/>
                </a:lnTo>
                <a:lnTo>
                  <a:pt x="3779" y="15428"/>
                </a:lnTo>
                <a:close/>
              </a:path>
              <a:path w="21600" h="21600" extrusionOk="0">
                <a:moveTo>
                  <a:pt x="5940" y="15428"/>
                </a:moveTo>
                <a:lnTo>
                  <a:pt x="5940" y="16971"/>
                </a:lnTo>
                <a:lnTo>
                  <a:pt x="8100" y="16971"/>
                </a:lnTo>
                <a:lnTo>
                  <a:pt x="8100" y="15428"/>
                </a:lnTo>
                <a:lnTo>
                  <a:pt x="5940" y="15428"/>
                </a:lnTo>
                <a:close/>
              </a:path>
              <a:path w="21600" h="21600" extrusionOk="0">
                <a:moveTo>
                  <a:pt x="8100" y="15428"/>
                </a:moveTo>
                <a:lnTo>
                  <a:pt x="8100" y="16971"/>
                </a:lnTo>
                <a:lnTo>
                  <a:pt x="10260" y="16971"/>
                </a:lnTo>
                <a:lnTo>
                  <a:pt x="10260" y="15428"/>
                </a:lnTo>
                <a:lnTo>
                  <a:pt x="8100" y="15428"/>
                </a:lnTo>
                <a:close/>
              </a:path>
              <a:path w="21600" h="21600" extrusionOk="0">
                <a:moveTo>
                  <a:pt x="10260" y="15428"/>
                </a:moveTo>
                <a:lnTo>
                  <a:pt x="10260" y="16971"/>
                </a:lnTo>
                <a:lnTo>
                  <a:pt x="12419" y="16971"/>
                </a:lnTo>
                <a:lnTo>
                  <a:pt x="12419" y="15428"/>
                </a:lnTo>
                <a:lnTo>
                  <a:pt x="10260" y="15428"/>
                </a:lnTo>
                <a:close/>
              </a:path>
              <a:path w="21600" h="21600" extrusionOk="0">
                <a:moveTo>
                  <a:pt x="12419" y="15428"/>
                </a:moveTo>
                <a:lnTo>
                  <a:pt x="12419" y="16971"/>
                </a:lnTo>
                <a:lnTo>
                  <a:pt x="14580" y="16971"/>
                </a:lnTo>
                <a:lnTo>
                  <a:pt x="14580" y="15428"/>
                </a:lnTo>
                <a:lnTo>
                  <a:pt x="12419" y="15428"/>
                </a:lnTo>
                <a:close/>
              </a:path>
              <a:path w="21600" h="21600" extrusionOk="0">
                <a:moveTo>
                  <a:pt x="14580" y="15428"/>
                </a:moveTo>
                <a:lnTo>
                  <a:pt x="14580" y="16971"/>
                </a:lnTo>
                <a:lnTo>
                  <a:pt x="16740" y="16971"/>
                </a:lnTo>
                <a:lnTo>
                  <a:pt x="16740" y="15428"/>
                </a:lnTo>
                <a:lnTo>
                  <a:pt x="14580" y="15428"/>
                </a:lnTo>
                <a:close/>
              </a:path>
              <a:path w="21600" h="21600" extrusionOk="0">
                <a:moveTo>
                  <a:pt x="16740" y="15428"/>
                </a:moveTo>
                <a:lnTo>
                  <a:pt x="16740" y="16971"/>
                </a:lnTo>
                <a:lnTo>
                  <a:pt x="18900" y="16971"/>
                </a:lnTo>
                <a:lnTo>
                  <a:pt x="18900" y="15428"/>
                </a:lnTo>
                <a:lnTo>
                  <a:pt x="16740" y="15428"/>
                </a:lnTo>
                <a:close/>
              </a:path>
              <a:path w="21600" h="21600" extrusionOk="0">
                <a:moveTo>
                  <a:pt x="18900" y="15428"/>
                </a:moveTo>
                <a:lnTo>
                  <a:pt x="18900" y="16971"/>
                </a:lnTo>
                <a:lnTo>
                  <a:pt x="21060" y="16971"/>
                </a:lnTo>
                <a:lnTo>
                  <a:pt x="21060" y="15428"/>
                </a:lnTo>
                <a:lnTo>
                  <a:pt x="18900" y="15428"/>
                </a:lnTo>
                <a:close/>
              </a:path>
              <a:path w="21600" h="21600" extrusionOk="0">
                <a:moveTo>
                  <a:pt x="540" y="16971"/>
                </a:moveTo>
                <a:lnTo>
                  <a:pt x="540" y="18514"/>
                </a:lnTo>
                <a:lnTo>
                  <a:pt x="2700" y="18514"/>
                </a:lnTo>
                <a:lnTo>
                  <a:pt x="2700" y="16971"/>
                </a:lnTo>
                <a:lnTo>
                  <a:pt x="540" y="16971"/>
                </a:lnTo>
                <a:close/>
              </a:path>
              <a:path w="21600" h="21600" extrusionOk="0">
                <a:moveTo>
                  <a:pt x="2700" y="16971"/>
                </a:moveTo>
                <a:lnTo>
                  <a:pt x="2700" y="18514"/>
                </a:lnTo>
                <a:lnTo>
                  <a:pt x="4860" y="18514"/>
                </a:lnTo>
                <a:lnTo>
                  <a:pt x="4860" y="16971"/>
                </a:lnTo>
                <a:lnTo>
                  <a:pt x="2700" y="16971"/>
                </a:lnTo>
                <a:close/>
              </a:path>
              <a:path w="21600" h="21600" extrusionOk="0">
                <a:moveTo>
                  <a:pt x="4860" y="16971"/>
                </a:moveTo>
                <a:lnTo>
                  <a:pt x="4860" y="18514"/>
                </a:lnTo>
                <a:lnTo>
                  <a:pt x="7020" y="18514"/>
                </a:lnTo>
                <a:lnTo>
                  <a:pt x="7020" y="16971"/>
                </a:lnTo>
                <a:lnTo>
                  <a:pt x="4860" y="16971"/>
                </a:lnTo>
                <a:close/>
              </a:path>
              <a:path w="21600" h="21600" extrusionOk="0">
                <a:moveTo>
                  <a:pt x="7020" y="16971"/>
                </a:moveTo>
                <a:lnTo>
                  <a:pt x="7020" y="18514"/>
                </a:lnTo>
                <a:lnTo>
                  <a:pt x="9180" y="18514"/>
                </a:lnTo>
                <a:lnTo>
                  <a:pt x="9180" y="16971"/>
                </a:lnTo>
                <a:lnTo>
                  <a:pt x="7020" y="16971"/>
                </a:lnTo>
                <a:close/>
              </a:path>
              <a:path w="21600" h="21600" extrusionOk="0">
                <a:moveTo>
                  <a:pt x="9180" y="16971"/>
                </a:moveTo>
                <a:lnTo>
                  <a:pt x="9180" y="18514"/>
                </a:lnTo>
                <a:lnTo>
                  <a:pt x="11340" y="18514"/>
                </a:lnTo>
                <a:lnTo>
                  <a:pt x="11340" y="16971"/>
                </a:lnTo>
                <a:lnTo>
                  <a:pt x="9180" y="16971"/>
                </a:lnTo>
                <a:close/>
              </a:path>
              <a:path w="21600" h="21600" extrusionOk="0">
                <a:moveTo>
                  <a:pt x="11340" y="16971"/>
                </a:moveTo>
                <a:lnTo>
                  <a:pt x="11340" y="18514"/>
                </a:lnTo>
                <a:lnTo>
                  <a:pt x="13500" y="18514"/>
                </a:lnTo>
                <a:lnTo>
                  <a:pt x="13500" y="16971"/>
                </a:lnTo>
                <a:lnTo>
                  <a:pt x="11340" y="16971"/>
                </a:lnTo>
                <a:close/>
              </a:path>
              <a:path w="21600" h="21600" extrusionOk="0">
                <a:moveTo>
                  <a:pt x="13500" y="16971"/>
                </a:moveTo>
                <a:lnTo>
                  <a:pt x="13500" y="18514"/>
                </a:lnTo>
                <a:lnTo>
                  <a:pt x="15660" y="18514"/>
                </a:lnTo>
                <a:lnTo>
                  <a:pt x="15660" y="16971"/>
                </a:lnTo>
                <a:lnTo>
                  <a:pt x="13500" y="16971"/>
                </a:lnTo>
                <a:close/>
              </a:path>
              <a:path w="21600" h="21600" extrusionOk="0">
                <a:moveTo>
                  <a:pt x="15660" y="16971"/>
                </a:moveTo>
                <a:lnTo>
                  <a:pt x="15660" y="18514"/>
                </a:lnTo>
                <a:lnTo>
                  <a:pt x="17820" y="18514"/>
                </a:lnTo>
                <a:lnTo>
                  <a:pt x="17820" y="16971"/>
                </a:lnTo>
                <a:lnTo>
                  <a:pt x="15660" y="16971"/>
                </a:lnTo>
                <a:close/>
              </a:path>
              <a:path w="21600" h="21600" extrusionOk="0">
                <a:moveTo>
                  <a:pt x="17820" y="16971"/>
                </a:moveTo>
                <a:lnTo>
                  <a:pt x="17820" y="18514"/>
                </a:lnTo>
                <a:lnTo>
                  <a:pt x="19980" y="18514"/>
                </a:lnTo>
                <a:lnTo>
                  <a:pt x="19980" y="16971"/>
                </a:lnTo>
                <a:lnTo>
                  <a:pt x="17820" y="16971"/>
                </a:lnTo>
                <a:close/>
              </a:path>
              <a:path w="21600" h="21600" extrusionOk="0">
                <a:moveTo>
                  <a:pt x="1620" y="18514"/>
                </a:moveTo>
                <a:lnTo>
                  <a:pt x="1620" y="20057"/>
                </a:lnTo>
                <a:lnTo>
                  <a:pt x="3779" y="20057"/>
                </a:lnTo>
                <a:lnTo>
                  <a:pt x="3779" y="18514"/>
                </a:lnTo>
                <a:lnTo>
                  <a:pt x="1620" y="18514"/>
                </a:lnTo>
                <a:close/>
              </a:path>
              <a:path w="21600" h="21600" extrusionOk="0">
                <a:moveTo>
                  <a:pt x="3779" y="18514"/>
                </a:moveTo>
                <a:lnTo>
                  <a:pt x="3779" y="20057"/>
                </a:lnTo>
                <a:lnTo>
                  <a:pt x="5940" y="20057"/>
                </a:lnTo>
                <a:lnTo>
                  <a:pt x="5940" y="18514"/>
                </a:lnTo>
                <a:lnTo>
                  <a:pt x="3779" y="18514"/>
                </a:lnTo>
                <a:close/>
              </a:path>
              <a:path w="21600" h="21600" extrusionOk="0">
                <a:moveTo>
                  <a:pt x="5940" y="18514"/>
                </a:moveTo>
                <a:lnTo>
                  <a:pt x="5940" y="20057"/>
                </a:lnTo>
                <a:lnTo>
                  <a:pt x="8100" y="20057"/>
                </a:lnTo>
                <a:lnTo>
                  <a:pt x="8100" y="18514"/>
                </a:lnTo>
                <a:lnTo>
                  <a:pt x="5940" y="18514"/>
                </a:lnTo>
                <a:close/>
              </a:path>
              <a:path w="21600" h="21600" extrusionOk="0">
                <a:moveTo>
                  <a:pt x="8100" y="18514"/>
                </a:moveTo>
                <a:lnTo>
                  <a:pt x="8100" y="20057"/>
                </a:lnTo>
                <a:lnTo>
                  <a:pt x="10260" y="20057"/>
                </a:lnTo>
                <a:lnTo>
                  <a:pt x="10260" y="18514"/>
                </a:lnTo>
                <a:lnTo>
                  <a:pt x="8100" y="18514"/>
                </a:lnTo>
                <a:close/>
              </a:path>
              <a:path w="21600" h="21600" extrusionOk="0">
                <a:moveTo>
                  <a:pt x="10260" y="18514"/>
                </a:moveTo>
                <a:lnTo>
                  <a:pt x="10260" y="20057"/>
                </a:lnTo>
                <a:lnTo>
                  <a:pt x="12419" y="20057"/>
                </a:lnTo>
                <a:lnTo>
                  <a:pt x="12419" y="18514"/>
                </a:lnTo>
                <a:lnTo>
                  <a:pt x="10260" y="18514"/>
                </a:lnTo>
                <a:close/>
              </a:path>
              <a:path w="21600" h="21600" extrusionOk="0">
                <a:moveTo>
                  <a:pt x="12419" y="18514"/>
                </a:moveTo>
                <a:lnTo>
                  <a:pt x="12419" y="20057"/>
                </a:lnTo>
                <a:lnTo>
                  <a:pt x="14580" y="20057"/>
                </a:lnTo>
                <a:lnTo>
                  <a:pt x="14580" y="18514"/>
                </a:lnTo>
                <a:lnTo>
                  <a:pt x="12419" y="18514"/>
                </a:lnTo>
                <a:close/>
              </a:path>
              <a:path w="21600" h="21600" extrusionOk="0">
                <a:moveTo>
                  <a:pt x="14580" y="18514"/>
                </a:moveTo>
                <a:lnTo>
                  <a:pt x="14580" y="20057"/>
                </a:lnTo>
                <a:lnTo>
                  <a:pt x="16740" y="20057"/>
                </a:lnTo>
                <a:lnTo>
                  <a:pt x="16740" y="18514"/>
                </a:lnTo>
                <a:lnTo>
                  <a:pt x="14580" y="18514"/>
                </a:lnTo>
                <a:close/>
              </a:path>
              <a:path w="21600" h="21600" extrusionOk="0">
                <a:moveTo>
                  <a:pt x="16740" y="18514"/>
                </a:moveTo>
                <a:lnTo>
                  <a:pt x="16740" y="20057"/>
                </a:lnTo>
                <a:lnTo>
                  <a:pt x="18900" y="20057"/>
                </a:lnTo>
                <a:lnTo>
                  <a:pt x="18900" y="18514"/>
                </a:lnTo>
                <a:lnTo>
                  <a:pt x="16740" y="18514"/>
                </a:lnTo>
                <a:close/>
              </a:path>
              <a:path w="21600" h="21600" extrusionOk="0">
                <a:moveTo>
                  <a:pt x="18900" y="18514"/>
                </a:moveTo>
                <a:lnTo>
                  <a:pt x="18900" y="20057"/>
                </a:lnTo>
                <a:lnTo>
                  <a:pt x="21060" y="20057"/>
                </a:lnTo>
                <a:lnTo>
                  <a:pt x="21060" y="18514"/>
                </a:lnTo>
                <a:lnTo>
                  <a:pt x="18900" y="18514"/>
                </a:lnTo>
                <a:close/>
              </a:path>
              <a:path w="21600" h="21600" extrusionOk="0">
                <a:moveTo>
                  <a:pt x="540" y="20057"/>
                </a:moveTo>
                <a:lnTo>
                  <a:pt x="540" y="21600"/>
                </a:lnTo>
                <a:lnTo>
                  <a:pt x="2700" y="21600"/>
                </a:lnTo>
                <a:lnTo>
                  <a:pt x="2700" y="20057"/>
                </a:lnTo>
                <a:lnTo>
                  <a:pt x="540" y="20057"/>
                </a:lnTo>
                <a:close/>
              </a:path>
              <a:path w="21600" h="21600" extrusionOk="0">
                <a:moveTo>
                  <a:pt x="2700" y="20057"/>
                </a:moveTo>
                <a:lnTo>
                  <a:pt x="2700" y="21600"/>
                </a:lnTo>
                <a:lnTo>
                  <a:pt x="4860" y="21600"/>
                </a:lnTo>
                <a:lnTo>
                  <a:pt x="4860" y="20057"/>
                </a:lnTo>
                <a:lnTo>
                  <a:pt x="2700" y="20057"/>
                </a:lnTo>
                <a:close/>
              </a:path>
              <a:path w="21600" h="21600" extrusionOk="0">
                <a:moveTo>
                  <a:pt x="4860" y="20057"/>
                </a:moveTo>
                <a:lnTo>
                  <a:pt x="4860" y="21600"/>
                </a:lnTo>
                <a:lnTo>
                  <a:pt x="7020" y="21600"/>
                </a:lnTo>
                <a:lnTo>
                  <a:pt x="7020" y="20057"/>
                </a:lnTo>
                <a:lnTo>
                  <a:pt x="4860" y="20057"/>
                </a:lnTo>
                <a:close/>
              </a:path>
              <a:path w="21600" h="21600" extrusionOk="0">
                <a:moveTo>
                  <a:pt x="7020" y="20057"/>
                </a:moveTo>
                <a:lnTo>
                  <a:pt x="7020" y="21600"/>
                </a:lnTo>
                <a:lnTo>
                  <a:pt x="9180" y="21600"/>
                </a:lnTo>
                <a:lnTo>
                  <a:pt x="9180" y="20057"/>
                </a:lnTo>
                <a:lnTo>
                  <a:pt x="7020" y="20057"/>
                </a:lnTo>
                <a:close/>
              </a:path>
              <a:path w="21600" h="21600" extrusionOk="0">
                <a:moveTo>
                  <a:pt x="9180" y="20057"/>
                </a:moveTo>
                <a:lnTo>
                  <a:pt x="9180" y="21600"/>
                </a:lnTo>
                <a:lnTo>
                  <a:pt x="11340" y="21600"/>
                </a:lnTo>
                <a:lnTo>
                  <a:pt x="11340" y="20057"/>
                </a:lnTo>
                <a:lnTo>
                  <a:pt x="9180" y="20057"/>
                </a:lnTo>
                <a:close/>
              </a:path>
              <a:path w="21600" h="21600" extrusionOk="0">
                <a:moveTo>
                  <a:pt x="11340" y="20057"/>
                </a:moveTo>
                <a:lnTo>
                  <a:pt x="11340" y="21600"/>
                </a:lnTo>
                <a:lnTo>
                  <a:pt x="13500" y="21600"/>
                </a:lnTo>
                <a:lnTo>
                  <a:pt x="13500" y="20057"/>
                </a:lnTo>
                <a:lnTo>
                  <a:pt x="11340" y="20057"/>
                </a:lnTo>
                <a:close/>
              </a:path>
              <a:path w="21600" h="21600" extrusionOk="0">
                <a:moveTo>
                  <a:pt x="13500" y="20057"/>
                </a:moveTo>
                <a:lnTo>
                  <a:pt x="13500" y="21600"/>
                </a:lnTo>
                <a:lnTo>
                  <a:pt x="15660" y="21600"/>
                </a:lnTo>
                <a:lnTo>
                  <a:pt x="15660" y="20057"/>
                </a:lnTo>
                <a:lnTo>
                  <a:pt x="13500" y="20057"/>
                </a:lnTo>
                <a:close/>
              </a:path>
              <a:path w="21600" h="21600" extrusionOk="0">
                <a:moveTo>
                  <a:pt x="15660" y="20057"/>
                </a:moveTo>
                <a:lnTo>
                  <a:pt x="15660" y="21600"/>
                </a:lnTo>
                <a:lnTo>
                  <a:pt x="17820" y="21600"/>
                </a:lnTo>
                <a:lnTo>
                  <a:pt x="17820" y="20057"/>
                </a:lnTo>
                <a:lnTo>
                  <a:pt x="15660" y="20057"/>
                </a:lnTo>
                <a:close/>
              </a:path>
              <a:path w="21600" h="21600" extrusionOk="0">
                <a:moveTo>
                  <a:pt x="17820" y="20057"/>
                </a:moveTo>
                <a:lnTo>
                  <a:pt x="17820" y="21600"/>
                </a:lnTo>
                <a:lnTo>
                  <a:pt x="19980" y="21600"/>
                </a:lnTo>
                <a:lnTo>
                  <a:pt x="19980" y="20057"/>
                </a:lnTo>
                <a:lnTo>
                  <a:pt x="17820" y="20057"/>
                </a:lnTo>
                <a:close/>
              </a:path>
              <a:path w="21600" h="21600" extrusionOk="0">
                <a:moveTo>
                  <a:pt x="19980" y="4628"/>
                </a:moveTo>
                <a:lnTo>
                  <a:pt x="21060" y="4628"/>
                </a:lnTo>
                <a:lnTo>
                  <a:pt x="21060" y="6171"/>
                </a:lnTo>
                <a:lnTo>
                  <a:pt x="19980" y="6171"/>
                </a:lnTo>
                <a:lnTo>
                  <a:pt x="19980" y="4628"/>
                </a:lnTo>
                <a:close/>
              </a:path>
            </a:pathLst>
          </a:cu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endParaRPr lang="ja-JP" altLang="en-US" sz="1000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6B78F6E8-46A4-4702-B2F6-A9E0FED85016}"/>
              </a:ext>
            </a:extLst>
          </p:cNvPr>
          <p:cNvCxnSpPr/>
          <p:nvPr/>
        </p:nvCxnSpPr>
        <p:spPr>
          <a:xfrm>
            <a:off x="1861841" y="3734343"/>
            <a:ext cx="0" cy="156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図 99" descr="SmartVPN">
            <a:extLst>
              <a:ext uri="{FF2B5EF4-FFF2-40B4-BE49-F238E27FC236}">
                <a16:creationId xmlns:a16="http://schemas.microsoft.com/office/drawing/2014/main" id="{6AC71435-B231-47E1-97C2-3DE4107ABFA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009" y="3510676"/>
            <a:ext cx="720000" cy="720000"/>
          </a:xfrm>
          <a:prstGeom prst="rect">
            <a:avLst/>
          </a:prstGeom>
        </p:spPr>
      </p:pic>
      <p:pic>
        <p:nvPicPr>
          <p:cNvPr id="101" name="Picture 4" descr="\\fmisv105\Users02$\totsuka\download\Image\Microsoft_CloudnEnterprise_Symbols_v2.7KP\Symbols\CnE_Enterprise\Database server.png">
            <a:extLst>
              <a:ext uri="{FF2B5EF4-FFF2-40B4-BE49-F238E27FC236}">
                <a16:creationId xmlns:a16="http://schemas.microsoft.com/office/drawing/2014/main" id="{D52392E1-582E-4E57-83DD-10730EC9F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238" y="114359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AB4F01-761F-4FBF-8EAC-305AB39A5B4F}"/>
              </a:ext>
            </a:extLst>
          </p:cNvPr>
          <p:cNvSpPr txBox="1"/>
          <p:nvPr/>
        </p:nvSpPr>
        <p:spPr>
          <a:xfrm>
            <a:off x="935502" y="1633252"/>
            <a:ext cx="2619662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172.16.106.0/24 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固定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172.16.108.0/22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有線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172.16.112.0/22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172.16.117.0/24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ゲスト用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172.16.118.0/24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外部接続不可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172.17.108.0/22 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有線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172.17.112.0/22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b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172.17.118.0/24 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セキュリティ関連機器用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4044A1CC-2B3A-4D86-A03B-C746B6CB7550}"/>
              </a:ext>
            </a:extLst>
          </p:cNvPr>
          <p:cNvSpPr txBox="1"/>
          <p:nvPr/>
        </p:nvSpPr>
        <p:spPr>
          <a:xfrm>
            <a:off x="10288177" y="5590236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SKYSEA</a:t>
            </a:r>
          </a:p>
        </p:txBody>
      </p:sp>
      <p:pic>
        <p:nvPicPr>
          <p:cNvPr id="119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AB933774-494F-46CF-8F33-CFFAECB9E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037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37B02A1-98F1-4DB6-8116-34A6BDF2CDE5}"/>
              </a:ext>
            </a:extLst>
          </p:cNvPr>
          <p:cNvSpPr txBox="1"/>
          <p:nvPr/>
        </p:nvSpPr>
        <p:spPr>
          <a:xfrm>
            <a:off x="10231329" y="4623133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SKYSEA</a:t>
            </a:r>
          </a:p>
        </p:txBody>
      </p:sp>
      <p:pic>
        <p:nvPicPr>
          <p:cNvPr id="149" name="Picture 10" descr="\\fmisv105\Users02$\totsuka\download\Image\Microsoft_CloudnEnterprise_Symbols_v2.7KP\Symbols\CnE_Cloud\PNG\Azure Active Directory.png">
            <a:extLst>
              <a:ext uri="{FF2B5EF4-FFF2-40B4-BE49-F238E27FC236}">
                <a16:creationId xmlns:a16="http://schemas.microsoft.com/office/drawing/2014/main" id="{7F33A193-32D5-4B6C-9482-4F0D14E8B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5927" y="38692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1" descr="\\fmisv105\Users02$\totsuka\download\Image\Microsoft_CloudnEnterprise_Symbols_v2.7KP\Symbols\CnE_Cloud\PNG\Azure App Service - Web App (was Websites).png">
            <a:extLst>
              <a:ext uri="{FF2B5EF4-FFF2-40B4-BE49-F238E27FC236}">
                <a16:creationId xmlns:a16="http://schemas.microsoft.com/office/drawing/2014/main" id="{717915E8-3613-431E-8CC9-B356E4BF3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30" y="38692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79577BC2-E2CA-49B6-8019-32948E0B41A5}"/>
              </a:ext>
            </a:extLst>
          </p:cNvPr>
          <p:cNvSpPr txBox="1"/>
          <p:nvPr/>
        </p:nvSpPr>
        <p:spPr>
          <a:xfrm>
            <a:off x="9375565" y="3662979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504583E5-CBAC-4E78-8664-30E64B84D633}"/>
              </a:ext>
            </a:extLst>
          </p:cNvPr>
          <p:cNvSpPr txBox="1"/>
          <p:nvPr/>
        </p:nvSpPr>
        <p:spPr>
          <a:xfrm>
            <a:off x="10381415" y="3662979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X-point</a:t>
            </a:r>
          </a:p>
        </p:txBody>
      </p:sp>
      <p:pic>
        <p:nvPicPr>
          <p:cNvPr id="155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EAD069A7-292F-4987-B6E0-AF48BBAB0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4847" y="429426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A5C80EFA-F150-4FFB-89C4-4DBF60198484}"/>
              </a:ext>
            </a:extLst>
          </p:cNvPr>
          <p:cNvSpPr txBox="1"/>
          <p:nvPr/>
        </p:nvSpPr>
        <p:spPr>
          <a:xfrm>
            <a:off x="10703957" y="4614637"/>
            <a:ext cx="8468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AADConnect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F810DBFC-489F-4762-9AB4-7F299EE38EA5}"/>
              </a:ext>
            </a:extLst>
          </p:cNvPr>
          <p:cNvCxnSpPr>
            <a:cxnSpLocks/>
          </p:cNvCxnSpPr>
          <p:nvPr/>
        </p:nvCxnSpPr>
        <p:spPr>
          <a:xfrm flipV="1">
            <a:off x="4909771" y="3770457"/>
            <a:ext cx="3398780" cy="6216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カギ線コネクタ 128">
            <a:extLst>
              <a:ext uri="{FF2B5EF4-FFF2-40B4-BE49-F238E27FC236}">
                <a16:creationId xmlns:a16="http://schemas.microsoft.com/office/drawing/2014/main" id="{CD852559-23AF-472F-BE4E-5C40F0DFEE1B}"/>
              </a:ext>
            </a:extLst>
          </p:cNvPr>
          <p:cNvCxnSpPr>
            <a:cxnSpLocks/>
            <a:endCxn id="161" idx="2"/>
          </p:cNvCxnSpPr>
          <p:nvPr/>
        </p:nvCxnSpPr>
        <p:spPr>
          <a:xfrm rot="16200000" flipV="1">
            <a:off x="3177024" y="2198853"/>
            <a:ext cx="1841256" cy="110553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2229335F-8ABA-4C29-AE23-5D385EE2290B}"/>
              </a:ext>
            </a:extLst>
          </p:cNvPr>
          <p:cNvCxnSpPr>
            <a:cxnSpLocks/>
            <a:stCxn id="11" idx="2"/>
            <a:endCxn id="161" idx="3"/>
          </p:cNvCxnSpPr>
          <p:nvPr/>
        </p:nvCxnSpPr>
        <p:spPr>
          <a:xfrm rot="10800000" flipV="1">
            <a:off x="3724886" y="1648681"/>
            <a:ext cx="3508258" cy="231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3D396956-B78F-422C-917A-57D99E54515C}"/>
              </a:ext>
            </a:extLst>
          </p:cNvPr>
          <p:cNvSpPr txBox="1"/>
          <p:nvPr/>
        </p:nvSpPr>
        <p:spPr>
          <a:xfrm>
            <a:off x="4108707" y="4050631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SmartVPN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1" name="Picture 6" descr="\\fmisv105\Users02$\totsuka\download\Image\Microsoft_CloudnEnterprise_Symbols_v2.7KP\Symbols\CnE_Enterprise\Gateway.png">
            <a:extLst>
              <a:ext uri="{FF2B5EF4-FFF2-40B4-BE49-F238E27FC236}">
                <a16:creationId xmlns:a16="http://schemas.microsoft.com/office/drawing/2014/main" id="{5F967444-9F92-4CFC-9786-A5CC379E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86" y="147099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CF7886B2-97AF-4710-8D36-A34897CE1FF9}"/>
              </a:ext>
            </a:extLst>
          </p:cNvPr>
          <p:cNvSpPr txBox="1"/>
          <p:nvPr/>
        </p:nvSpPr>
        <p:spPr>
          <a:xfrm>
            <a:off x="3765193" y="1395876"/>
            <a:ext cx="20408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ゲスト用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Internet(172.16.117.0/24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5" name="Picture 5">
            <a:extLst>
              <a:ext uri="{FF2B5EF4-FFF2-40B4-BE49-F238E27FC236}">
                <a16:creationId xmlns:a16="http://schemas.microsoft.com/office/drawing/2014/main" id="{031445F3-F0A3-4EE8-9E91-275C70301AA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809" y="3308187"/>
            <a:ext cx="361045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F1FDA57-9D24-4FCC-A6D4-475811609DF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4827301" y="1648681"/>
            <a:ext cx="2405843" cy="210029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5B942C5D-45BA-47F0-AEB4-978ECB24F23D}"/>
              </a:ext>
            </a:extLst>
          </p:cNvPr>
          <p:cNvCxnSpPr>
            <a:cxnSpLocks/>
            <a:stCxn id="100" idx="1"/>
            <a:endCxn id="123" idx="3"/>
          </p:cNvCxnSpPr>
          <p:nvPr/>
        </p:nvCxnSpPr>
        <p:spPr>
          <a:xfrm flipH="1" flipV="1">
            <a:off x="2206186" y="3706239"/>
            <a:ext cx="2035823" cy="16443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94FEE27E-B91E-452D-8486-EC8590FC72EB}"/>
              </a:ext>
            </a:extLst>
          </p:cNvPr>
          <p:cNvSpPr/>
          <p:nvPr/>
        </p:nvSpPr>
        <p:spPr>
          <a:xfrm>
            <a:off x="698177" y="4231824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名古屋支店*</a:t>
            </a:r>
          </a:p>
        </p:txBody>
      </p:sp>
      <p:pic>
        <p:nvPicPr>
          <p:cNvPr id="106" name="図 105">
            <a:extLst>
              <a:ext uri="{FF2B5EF4-FFF2-40B4-BE49-F238E27FC236}">
                <a16:creationId xmlns:a16="http://schemas.microsoft.com/office/drawing/2014/main" id="{70EF3522-06C5-4D1A-A1FD-27F381485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4239656"/>
            <a:ext cx="396000" cy="396000"/>
          </a:xfrm>
          <a:prstGeom prst="rect">
            <a:avLst/>
          </a:prstGeom>
        </p:spPr>
      </p:pic>
      <p:cxnSp>
        <p:nvCxnSpPr>
          <p:cNvPr id="107" name="カギ線コネクタ 75">
            <a:extLst>
              <a:ext uri="{FF2B5EF4-FFF2-40B4-BE49-F238E27FC236}">
                <a16:creationId xmlns:a16="http://schemas.microsoft.com/office/drawing/2014/main" id="{520F491B-CA90-4903-8A45-3FE5795DF5BA}"/>
              </a:ext>
            </a:extLst>
          </p:cNvPr>
          <p:cNvCxnSpPr>
            <a:cxnSpLocks/>
            <a:stCxn id="11" idx="1"/>
            <a:endCxn id="105" idx="3"/>
          </p:cNvCxnSpPr>
          <p:nvPr/>
        </p:nvCxnSpPr>
        <p:spPr>
          <a:xfrm rot="5400000">
            <a:off x="3812783" y="383800"/>
            <a:ext cx="2458412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59A01A2B-9057-40AA-922E-EBEC8AE2FBD2}"/>
              </a:ext>
            </a:extLst>
          </p:cNvPr>
          <p:cNvCxnSpPr>
            <a:cxnSpLocks/>
            <a:endCxn id="99" idx="0"/>
          </p:cNvCxnSpPr>
          <p:nvPr/>
        </p:nvCxnSpPr>
        <p:spPr>
          <a:xfrm flipH="1">
            <a:off x="8665880" y="4266724"/>
            <a:ext cx="3055" cy="284625"/>
          </a:xfrm>
          <a:prstGeom prst="line">
            <a:avLst/>
          </a:prstGeom>
          <a:ln w="127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AB3D1F8F-D4A6-491E-9F97-0A2260E58876}"/>
              </a:ext>
            </a:extLst>
          </p:cNvPr>
          <p:cNvCxnSpPr>
            <a:cxnSpLocks/>
            <a:stCxn id="11" idx="0"/>
            <a:endCxn id="1028" idx="1"/>
          </p:cNvCxnSpPr>
          <p:nvPr/>
        </p:nvCxnSpPr>
        <p:spPr>
          <a:xfrm>
            <a:off x="8488186" y="1648681"/>
            <a:ext cx="579682" cy="4201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4E83C2E1-BBF2-45DE-A72C-6D1217AAFAB0}"/>
              </a:ext>
            </a:extLst>
          </p:cNvPr>
          <p:cNvCxnSpPr>
            <a:cxnSpLocks/>
            <a:stCxn id="1033" idx="1"/>
            <a:endCxn id="11" idx="0"/>
          </p:cNvCxnSpPr>
          <p:nvPr/>
        </p:nvCxnSpPr>
        <p:spPr>
          <a:xfrm rot="10800000">
            <a:off x="8488187" y="1648681"/>
            <a:ext cx="603201" cy="44758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48">
            <a:extLst>
              <a:ext uri="{FF2B5EF4-FFF2-40B4-BE49-F238E27FC236}">
                <a16:creationId xmlns:a16="http://schemas.microsoft.com/office/drawing/2014/main" id="{40BE16F0-BFC5-43F6-A382-E571EF0AC99D}"/>
              </a:ext>
            </a:extLst>
          </p:cNvPr>
          <p:cNvCxnSpPr>
            <a:cxnSpLocks/>
            <a:endCxn id="4125" idx="1"/>
          </p:cNvCxnSpPr>
          <p:nvPr/>
        </p:nvCxnSpPr>
        <p:spPr>
          <a:xfrm rot="16200000" flipH="1">
            <a:off x="8194838" y="1707902"/>
            <a:ext cx="928396" cy="848237"/>
          </a:xfrm>
          <a:prstGeom prst="bent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EA18978-5F0D-4C7D-A87B-A5701E12DF5F}"/>
              </a:ext>
            </a:extLst>
          </p:cNvPr>
          <p:cNvCxnSpPr>
            <a:cxnSpLocks/>
          </p:cNvCxnSpPr>
          <p:nvPr/>
        </p:nvCxnSpPr>
        <p:spPr>
          <a:xfrm flipV="1">
            <a:off x="8778027" y="6136595"/>
            <a:ext cx="360000" cy="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FBDA56-AADB-46D1-877D-9D3B8B29D9FB}"/>
              </a:ext>
            </a:extLst>
          </p:cNvPr>
          <p:cNvSpPr txBox="1"/>
          <p:nvPr/>
        </p:nvSpPr>
        <p:spPr>
          <a:xfrm>
            <a:off x="9144574" y="6032817"/>
            <a:ext cx="20869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ソフトバンク閉域網（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SmartVPN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8C41AA32-D79B-43DB-8B37-B0AE7E71AD10}"/>
              </a:ext>
            </a:extLst>
          </p:cNvPr>
          <p:cNvCxnSpPr>
            <a:cxnSpLocks/>
          </p:cNvCxnSpPr>
          <p:nvPr/>
        </p:nvCxnSpPr>
        <p:spPr>
          <a:xfrm flipV="1">
            <a:off x="8748277" y="6383322"/>
            <a:ext cx="360209" cy="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82B779B1-888D-4740-A46B-8FE98A30BD26}"/>
              </a:ext>
            </a:extLst>
          </p:cNvPr>
          <p:cNvSpPr txBox="1"/>
          <p:nvPr/>
        </p:nvSpPr>
        <p:spPr>
          <a:xfrm>
            <a:off x="9142992" y="6267897"/>
            <a:ext cx="1045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ExpressRoute</a:t>
            </a:r>
            <a:endParaRPr kumimoji="1" lang="ja-JP" alt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5C2EC4-50EA-408F-9BB3-589E10F59D5A}"/>
              </a:ext>
            </a:extLst>
          </p:cNvPr>
          <p:cNvSpPr txBox="1"/>
          <p:nvPr/>
        </p:nvSpPr>
        <p:spPr>
          <a:xfrm>
            <a:off x="4102064" y="4191481"/>
            <a:ext cx="1101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126.144.25.108</a:t>
            </a:r>
            <a:endParaRPr kumimoji="1" lang="ja-JP" altLang="en-US" sz="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589AED-6C2C-444A-B283-5C88D5A1429F}"/>
              </a:ext>
            </a:extLst>
          </p:cNvPr>
          <p:cNvSpPr txBox="1"/>
          <p:nvPr/>
        </p:nvSpPr>
        <p:spPr>
          <a:xfrm>
            <a:off x="9142992" y="6490233"/>
            <a:ext cx="31975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SVPN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の出入り口は弊社専用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126.144.25.108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35A0B457-28A9-4EB9-A8FC-964E59797612}"/>
              </a:ext>
            </a:extLst>
          </p:cNvPr>
          <p:cNvCxnSpPr/>
          <p:nvPr/>
        </p:nvCxnSpPr>
        <p:spPr>
          <a:xfrm rot="5400000" flipH="1" flipV="1">
            <a:off x="8269608" y="3823749"/>
            <a:ext cx="77886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25" name="Picture 29" descr="無料で「AnyConnect」アプリの最新版 APK4.9.00576をダウンロードー Android用「AnyConnect  APK」の最新バージョンをダウンロード- apkfab.com/jp">
            <a:extLst>
              <a:ext uri="{FF2B5EF4-FFF2-40B4-BE49-F238E27FC236}">
                <a16:creationId xmlns:a16="http://schemas.microsoft.com/office/drawing/2014/main" id="{210088B0-58FF-45BD-BFE7-1527CC29B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155" y="23802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図 128">
            <a:extLst>
              <a:ext uri="{FF2B5EF4-FFF2-40B4-BE49-F238E27FC236}">
                <a16:creationId xmlns:a16="http://schemas.microsoft.com/office/drawing/2014/main" id="{B2CB5952-768B-4A24-A65D-B76E564560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626" y="2500827"/>
            <a:ext cx="396000" cy="396000"/>
          </a:xfrm>
          <a:prstGeom prst="rect">
            <a:avLst/>
          </a:prstGeom>
        </p:spPr>
      </p:pic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EFEC297D-866D-4332-8C2E-B7D2A9D07FF5}"/>
              </a:ext>
            </a:extLst>
          </p:cNvPr>
          <p:cNvSpPr txBox="1"/>
          <p:nvPr/>
        </p:nvSpPr>
        <p:spPr>
          <a:xfrm>
            <a:off x="9367272" y="2870155"/>
            <a:ext cx="1045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VPN</a:t>
            </a:r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利用時</a:t>
            </a:r>
            <a:endParaRPr kumimoji="1" lang="ja-JP" alt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D723ABC-96DF-71B3-FD1B-57D2A3B61580}"/>
              </a:ext>
            </a:extLst>
          </p:cNvPr>
          <p:cNvCxnSpPr>
            <a:cxnSpLocks/>
          </p:cNvCxnSpPr>
          <p:nvPr/>
        </p:nvCxnSpPr>
        <p:spPr>
          <a:xfrm>
            <a:off x="8607180" y="5096052"/>
            <a:ext cx="2757600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3393FA-9815-FEDD-D0B2-32B3073790A1}"/>
              </a:ext>
            </a:extLst>
          </p:cNvPr>
          <p:cNvSpPr txBox="1"/>
          <p:nvPr/>
        </p:nvSpPr>
        <p:spPr>
          <a:xfrm>
            <a:off x="8654009" y="4895239"/>
            <a:ext cx="112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10.10.2.0/24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5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6153FAE9-EB16-361A-8272-6A041EDB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387" y="513920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77CD48-C9EB-1888-E979-B942D5DCA0E4}"/>
              </a:ext>
            </a:extLst>
          </p:cNvPr>
          <p:cNvSpPr txBox="1"/>
          <p:nvPr/>
        </p:nvSpPr>
        <p:spPr>
          <a:xfrm>
            <a:off x="8619464" y="5461333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560DA9D-CF3F-0A2A-A5D6-022AF5671723}"/>
              </a:ext>
            </a:extLst>
          </p:cNvPr>
          <p:cNvSpPr/>
          <p:nvPr/>
        </p:nvSpPr>
        <p:spPr>
          <a:xfrm>
            <a:off x="688524" y="4677245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福岡支店*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3CE06DA-D6B1-0DB7-E7D4-A917F308F1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400" y="4685077"/>
            <a:ext cx="396000" cy="396000"/>
          </a:xfrm>
          <a:prstGeom prst="rect">
            <a:avLst/>
          </a:prstGeom>
        </p:spPr>
      </p:pic>
      <p:cxnSp>
        <p:nvCxnSpPr>
          <p:cNvPr id="23" name="カギ線コネクタ 75">
            <a:extLst>
              <a:ext uri="{FF2B5EF4-FFF2-40B4-BE49-F238E27FC236}">
                <a16:creationId xmlns:a16="http://schemas.microsoft.com/office/drawing/2014/main" id="{296D2C46-3AFA-8745-F91B-8C0F24486862}"/>
              </a:ext>
            </a:extLst>
          </p:cNvPr>
          <p:cNvCxnSpPr>
            <a:cxnSpLocks/>
          </p:cNvCxnSpPr>
          <p:nvPr/>
        </p:nvCxnSpPr>
        <p:spPr>
          <a:xfrm rot="5400000">
            <a:off x="3924034" y="806497"/>
            <a:ext cx="2353637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0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7523DA10-A7D1-4E20-A926-9596761B19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7523DA10-A7D1-4E20-A926-9596761B1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1F882B7D-EEA1-4A56-BD68-82ED7731FF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en-US" altLang="ja-JP" sz="2800" b="1">
              <a:solidFill>
                <a:prstClr val="white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178" name="タイトル 17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09574"/>
          </a:xfrm>
        </p:spPr>
        <p:txBody>
          <a:bodyPr>
            <a:noAutofit/>
          </a:bodyPr>
          <a:lstStyle/>
          <a:p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Azure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環境トラフィック経路について</a:t>
            </a:r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現状</a:t>
            </a:r>
          </a:p>
        </p:txBody>
      </p:sp>
      <p:pic>
        <p:nvPicPr>
          <p:cNvPr id="214" name="図 213">
            <a:extLst>
              <a:ext uri="{FF2B5EF4-FFF2-40B4-BE49-F238E27FC236}">
                <a16:creationId xmlns:a16="http://schemas.microsoft.com/office/drawing/2014/main" id="{43401539-770B-42F2-B38E-18B1E32248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117" y="1460177"/>
            <a:ext cx="585218" cy="585218"/>
          </a:xfrm>
          <a:prstGeom prst="rect">
            <a:avLst/>
          </a:prstGeom>
        </p:spPr>
      </p:pic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ADEF4991-3DA2-4947-B40C-10B649B5A8A6}"/>
              </a:ext>
            </a:extLst>
          </p:cNvPr>
          <p:cNvSpPr txBox="1"/>
          <p:nvPr/>
        </p:nvSpPr>
        <p:spPr>
          <a:xfrm>
            <a:off x="5857421" y="1706351"/>
            <a:ext cx="1746184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SmartVPN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ソフトバンク閉域網</a:t>
            </a:r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1FF3BD82-EABA-4B0A-9B62-5B96FC6A247A}"/>
              </a:ext>
            </a:extLst>
          </p:cNvPr>
          <p:cNvSpPr txBox="1"/>
          <p:nvPr/>
        </p:nvSpPr>
        <p:spPr>
          <a:xfrm>
            <a:off x="5342769" y="1737503"/>
            <a:ext cx="462916" cy="1684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b="1" kern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SVPN</a:t>
            </a:r>
            <a:endParaRPr lang="ja-JP" altLang="en-US" sz="750" b="1" kern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21" name="図 220">
            <a:extLst>
              <a:ext uri="{FF2B5EF4-FFF2-40B4-BE49-F238E27FC236}">
                <a16:creationId xmlns:a16="http://schemas.microsoft.com/office/drawing/2014/main" id="{71CD7D16-74E6-44F2-9C1E-FEFAFD4E2F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07" y="2786215"/>
            <a:ext cx="585218" cy="585218"/>
          </a:xfrm>
          <a:prstGeom prst="rect">
            <a:avLst/>
          </a:prstGeom>
        </p:spPr>
      </p:pic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0D0E93E2-7E0B-4A73-9511-12661C0BF980}"/>
              </a:ext>
            </a:extLst>
          </p:cNvPr>
          <p:cNvSpPr txBox="1"/>
          <p:nvPr/>
        </p:nvSpPr>
        <p:spPr>
          <a:xfrm>
            <a:off x="2297786" y="3094233"/>
            <a:ext cx="462916" cy="1684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b="1" kern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Internet</a:t>
            </a:r>
            <a:endParaRPr lang="ja-JP" altLang="en-US" sz="750" b="1" kern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B8BD9371-C168-45FB-8FF4-913D381181A4}"/>
              </a:ext>
            </a:extLst>
          </p:cNvPr>
          <p:cNvSpPr txBox="1"/>
          <p:nvPr/>
        </p:nvSpPr>
        <p:spPr>
          <a:xfrm>
            <a:off x="5162079" y="1115223"/>
            <a:ext cx="3736025" cy="471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社内通信</a:t>
            </a:r>
            <a:endParaRPr lang="en-US" altLang="ja-JP" sz="1200" kern="0">
              <a:solidFill>
                <a:schemeClr val="accent3">
                  <a:lumMod val="7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</a:t>
            </a:r>
            <a:r>
              <a:rPr lang="en-US" altLang="ja-JP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ExpressRoute</a:t>
            </a:r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ゲートウェイ＞</a:t>
            </a:r>
            <a:r>
              <a:rPr lang="en-US" altLang="ja-JP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SVPN</a:t>
            </a:r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＞拠点</a:t>
            </a:r>
            <a:endParaRPr lang="en-US" altLang="ja-JP" sz="1200" kern="0">
              <a:solidFill>
                <a:schemeClr val="accent3">
                  <a:lumMod val="7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endParaRPr lang="ja-JP" altLang="en-US" sz="1200" kern="0">
              <a:solidFill>
                <a:schemeClr val="accent3">
                  <a:lumMod val="7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C74F8303-6BDD-4F0E-AB6E-221256989E41}"/>
              </a:ext>
            </a:extLst>
          </p:cNvPr>
          <p:cNvSpPr txBox="1"/>
          <p:nvPr/>
        </p:nvSpPr>
        <p:spPr>
          <a:xfrm>
            <a:off x="302882" y="2213037"/>
            <a:ext cx="3311005" cy="471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社外通信</a:t>
            </a:r>
            <a:endParaRPr lang="en-US" altLang="ja-JP" sz="1200" kern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12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＞パブリック</a:t>
            </a:r>
            <a:r>
              <a:rPr lang="en-US" altLang="ja-JP" sz="12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IP</a:t>
            </a:r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</a:t>
            </a:r>
            <a:r>
              <a:rPr lang="en-US" altLang="ja-JP" sz="12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NAT</a:t>
            </a:r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</a:t>
            </a:r>
            <a:r>
              <a:rPr lang="en-US" altLang="ja-JP" sz="12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Internet</a:t>
            </a:r>
          </a:p>
          <a:p>
            <a:pPr fontAlgn="base"/>
            <a:r>
              <a:rPr lang="en-US" altLang="ja-JP" sz="8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各</a:t>
            </a:r>
            <a:r>
              <a:rPr lang="en-US" altLang="ja-JP" sz="8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VM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のパブリック</a:t>
            </a:r>
            <a:r>
              <a:rPr lang="en-US" altLang="ja-JP" sz="8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IP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</a:t>
            </a:r>
            <a:r>
              <a:rPr lang="en-US" altLang="ja-JP" sz="800" kern="0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NAT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されます</a:t>
            </a:r>
            <a:endParaRPr lang="en-US" altLang="ja-JP" sz="800" kern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endParaRPr lang="ja-JP" altLang="en-US" sz="1200" kern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8D382831-C1D3-448B-93FE-6290ECC33F66}"/>
              </a:ext>
            </a:extLst>
          </p:cNvPr>
          <p:cNvSpPr txBox="1"/>
          <p:nvPr/>
        </p:nvSpPr>
        <p:spPr>
          <a:xfrm>
            <a:off x="8659808" y="1067557"/>
            <a:ext cx="3492686" cy="12003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特記事項</a:t>
            </a:r>
            <a:endParaRPr lang="en-US" altLang="ja-JP" sz="9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各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VM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のインターネットへの通信については直接接続している状態。</a:t>
            </a:r>
          </a:p>
          <a:p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＃実際は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サービス側の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GW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装置にて取得済みパブリック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NAT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され外部への通信を行っています。</a:t>
            </a:r>
          </a:p>
          <a:p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許可トラフィックについては、ネットワークセキュリティグループ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(NSG)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にて受信・送信に分けて制限をかけています。</a:t>
            </a:r>
          </a:p>
          <a:p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NSG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Private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サブネットと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DMZ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サブネット別で設定しています。</a:t>
            </a:r>
          </a:p>
          <a:p>
            <a:endParaRPr lang="en-US" altLang="ja-JP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3DD06-7DBF-1111-4A7F-B67D9793D7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41" y="621656"/>
            <a:ext cx="9774297" cy="549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4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A6B0-CB73-C331-DFF4-B706AC35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F1BB1435-F313-8802-9445-67FF91EC78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F1BB1435-F313-8802-9445-67FF91EC78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3749BD94-C93B-B504-1B4A-9BF6CDD43E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en-US" altLang="ja-JP" sz="2800" b="1">
              <a:solidFill>
                <a:prstClr val="white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178" name="タイトル 177">
            <a:extLst>
              <a:ext uri="{FF2B5EF4-FFF2-40B4-BE49-F238E27FC236}">
                <a16:creationId xmlns:a16="http://schemas.microsoft.com/office/drawing/2014/main" id="{AF4D6283-92F9-FCE0-DEF6-5223CEE9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09574"/>
          </a:xfrm>
        </p:spPr>
        <p:txBody>
          <a:bodyPr>
            <a:noAutofit/>
          </a:bodyPr>
          <a:lstStyle/>
          <a:p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Azure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環境トラフィック経路について</a:t>
            </a:r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現状</a:t>
            </a:r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45350D4F-FCB9-C711-04DB-68683E8A4D12}"/>
              </a:ext>
            </a:extLst>
          </p:cNvPr>
          <p:cNvSpPr/>
          <p:nvPr/>
        </p:nvSpPr>
        <p:spPr>
          <a:xfrm>
            <a:off x="2939668" y="2173785"/>
            <a:ext cx="5958436" cy="4493715"/>
          </a:xfrm>
          <a:prstGeom prst="roundRect">
            <a:avLst>
              <a:gd name="adj" fmla="val 92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pic>
        <p:nvPicPr>
          <p:cNvPr id="125" name="図 124">
            <a:extLst>
              <a:ext uri="{FF2B5EF4-FFF2-40B4-BE49-F238E27FC236}">
                <a16:creationId xmlns:a16="http://schemas.microsoft.com/office/drawing/2014/main" id="{C8AC26CF-DD08-1627-4E2A-C0B6C3F37E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401" y="2180167"/>
            <a:ext cx="282965" cy="282965"/>
          </a:xfrm>
          <a:prstGeom prst="rect">
            <a:avLst/>
          </a:prstGeom>
        </p:spPr>
      </p:pic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AF96589D-B141-EB77-9798-91CD9FFC2017}"/>
              </a:ext>
            </a:extLst>
          </p:cNvPr>
          <p:cNvSpPr txBox="1"/>
          <p:nvPr/>
        </p:nvSpPr>
        <p:spPr>
          <a:xfrm>
            <a:off x="3468374" y="2290637"/>
            <a:ext cx="520712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740561"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Azure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29" name="図 128">
            <a:extLst>
              <a:ext uri="{FF2B5EF4-FFF2-40B4-BE49-F238E27FC236}">
                <a16:creationId xmlns:a16="http://schemas.microsoft.com/office/drawing/2014/main" id="{6DDE477B-50E6-095A-0AF7-4DA228CD16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649" y="2932111"/>
            <a:ext cx="282965" cy="282965"/>
          </a:xfrm>
          <a:prstGeom prst="rect">
            <a:avLst/>
          </a:prstGeom>
        </p:spPr>
      </p:pic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9DC0014B-69F9-F232-5D9E-39C73B4B370D}"/>
              </a:ext>
            </a:extLst>
          </p:cNvPr>
          <p:cNvSpPr txBox="1"/>
          <p:nvPr/>
        </p:nvSpPr>
        <p:spPr>
          <a:xfrm>
            <a:off x="4294107" y="2891948"/>
            <a:ext cx="827212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仮想ネットワーク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FMI-NW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10.10.0.0/16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3" name="四角形: 角を丸くする 132">
            <a:extLst>
              <a:ext uri="{FF2B5EF4-FFF2-40B4-BE49-F238E27FC236}">
                <a16:creationId xmlns:a16="http://schemas.microsoft.com/office/drawing/2014/main" id="{DE66D007-7EBF-E5C8-4CDE-BC207437722D}"/>
              </a:ext>
            </a:extLst>
          </p:cNvPr>
          <p:cNvSpPr/>
          <p:nvPr/>
        </p:nvSpPr>
        <p:spPr>
          <a:xfrm>
            <a:off x="3484935" y="2822696"/>
            <a:ext cx="5174873" cy="3797179"/>
          </a:xfrm>
          <a:prstGeom prst="roundRect">
            <a:avLst>
              <a:gd name="adj" fmla="val 93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pic>
        <p:nvPicPr>
          <p:cNvPr id="134" name="図 133">
            <a:extLst>
              <a:ext uri="{FF2B5EF4-FFF2-40B4-BE49-F238E27FC236}">
                <a16:creationId xmlns:a16="http://schemas.microsoft.com/office/drawing/2014/main" id="{14A8D3B2-3379-EFEE-D1AC-8D80A60BB6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1563" y="3371433"/>
            <a:ext cx="235744" cy="171450"/>
          </a:xfrm>
          <a:prstGeom prst="rect">
            <a:avLst/>
          </a:prstGeom>
        </p:spPr>
      </p:pic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83E23396-C883-AFE4-CFE5-2DAA76CAC79E}"/>
              </a:ext>
            </a:extLst>
          </p:cNvPr>
          <p:cNvSpPr txBox="1"/>
          <p:nvPr/>
        </p:nvSpPr>
        <p:spPr>
          <a:xfrm>
            <a:off x="4467307" y="3294359"/>
            <a:ext cx="827212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サブネット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 err="1">
                <a:latin typeface="游ゴシック" panose="020B0400000000000000" pitchFamily="50" charset="-128"/>
              </a:rPr>
              <a:t>GatewaySubnet</a:t>
            </a:r>
            <a:endParaRPr lang="en-US" altLang="ja-JP" sz="750" kern="0">
              <a:latin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10.10.255.0/24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40" name="図 139">
            <a:extLst>
              <a:ext uri="{FF2B5EF4-FFF2-40B4-BE49-F238E27FC236}">
                <a16:creationId xmlns:a16="http://schemas.microsoft.com/office/drawing/2014/main" id="{51F151AE-5CEB-A2ED-41D7-68C457843C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9576" y="4839809"/>
            <a:ext cx="235744" cy="171450"/>
          </a:xfrm>
          <a:prstGeom prst="rect">
            <a:avLst/>
          </a:prstGeom>
        </p:spPr>
      </p:pic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CD022CE2-9ADB-ED5B-347A-F9FA63DDD01A}"/>
              </a:ext>
            </a:extLst>
          </p:cNvPr>
          <p:cNvSpPr txBox="1"/>
          <p:nvPr/>
        </p:nvSpPr>
        <p:spPr>
          <a:xfrm>
            <a:off x="4205320" y="4755204"/>
            <a:ext cx="827212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サブネット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FMI-Subnet-1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10.10.1.0/24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9A97BBA9-D468-6917-33B3-78B29FC4D6BD}"/>
              </a:ext>
            </a:extLst>
          </p:cNvPr>
          <p:cNvCxnSpPr>
            <a:cxnSpLocks/>
          </p:cNvCxnSpPr>
          <p:nvPr/>
        </p:nvCxnSpPr>
        <p:spPr>
          <a:xfrm>
            <a:off x="4127020" y="3685818"/>
            <a:ext cx="2875395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コネクタ 165">
            <a:extLst>
              <a:ext uri="{FF2B5EF4-FFF2-40B4-BE49-F238E27FC236}">
                <a16:creationId xmlns:a16="http://schemas.microsoft.com/office/drawing/2014/main" id="{C844608A-5674-DB51-973C-4A761C1FD013}"/>
              </a:ext>
            </a:extLst>
          </p:cNvPr>
          <p:cNvCxnSpPr>
            <a:cxnSpLocks/>
          </p:cNvCxnSpPr>
          <p:nvPr/>
        </p:nvCxnSpPr>
        <p:spPr>
          <a:xfrm>
            <a:off x="3990962" y="5162893"/>
            <a:ext cx="440288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" name="図 167">
            <a:extLst>
              <a:ext uri="{FF2B5EF4-FFF2-40B4-BE49-F238E27FC236}">
                <a16:creationId xmlns:a16="http://schemas.microsoft.com/office/drawing/2014/main" id="{959CA6D1-6ABC-33E9-5491-9C4F030A0A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555" y="4772680"/>
            <a:ext cx="282965" cy="282965"/>
          </a:xfrm>
          <a:prstGeom prst="rect">
            <a:avLst/>
          </a:prstGeom>
        </p:spPr>
      </p:pic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62E668EA-1314-AFCD-6E9F-766E2CE8EFA1}"/>
              </a:ext>
            </a:extLst>
          </p:cNvPr>
          <p:cNvSpPr txBox="1"/>
          <p:nvPr/>
        </p:nvSpPr>
        <p:spPr>
          <a:xfrm>
            <a:off x="5083556" y="455147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奉行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FMISV301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70" name="直線コネクタ 169">
            <a:extLst>
              <a:ext uri="{FF2B5EF4-FFF2-40B4-BE49-F238E27FC236}">
                <a16:creationId xmlns:a16="http://schemas.microsoft.com/office/drawing/2014/main" id="{49A925AD-A203-4643-17E8-558C33D2CF3C}"/>
              </a:ext>
            </a:extLst>
          </p:cNvPr>
          <p:cNvCxnSpPr>
            <a:cxnSpLocks/>
          </p:cNvCxnSpPr>
          <p:nvPr/>
        </p:nvCxnSpPr>
        <p:spPr>
          <a:xfrm>
            <a:off x="4127020" y="3202499"/>
            <a:ext cx="0" cy="651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コネクタ 170">
            <a:extLst>
              <a:ext uri="{FF2B5EF4-FFF2-40B4-BE49-F238E27FC236}">
                <a16:creationId xmlns:a16="http://schemas.microsoft.com/office/drawing/2014/main" id="{360B79D6-762D-192D-291D-F71EFF1A5073}"/>
              </a:ext>
            </a:extLst>
          </p:cNvPr>
          <p:cNvCxnSpPr>
            <a:cxnSpLocks/>
            <a:endCxn id="174" idx="0"/>
          </p:cNvCxnSpPr>
          <p:nvPr/>
        </p:nvCxnSpPr>
        <p:spPr>
          <a:xfrm>
            <a:off x="3883287" y="3202720"/>
            <a:ext cx="3752" cy="1841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図 173">
            <a:extLst>
              <a:ext uri="{FF2B5EF4-FFF2-40B4-BE49-F238E27FC236}">
                <a16:creationId xmlns:a16="http://schemas.microsoft.com/office/drawing/2014/main" id="{BFBF7C72-96C9-C2EF-AFAF-A208006156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557" y="5043932"/>
            <a:ext cx="282965" cy="282965"/>
          </a:xfrm>
          <a:prstGeom prst="rect">
            <a:avLst/>
          </a:prstGeom>
        </p:spPr>
      </p:pic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EF878FE1-6B27-5F4D-4C93-24B11E61042B}"/>
              </a:ext>
            </a:extLst>
          </p:cNvPr>
          <p:cNvSpPr txBox="1"/>
          <p:nvPr/>
        </p:nvSpPr>
        <p:spPr>
          <a:xfrm>
            <a:off x="4015730" y="5283086"/>
            <a:ext cx="1683780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FMI-NSG-1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79" name="図 178">
            <a:extLst>
              <a:ext uri="{FF2B5EF4-FFF2-40B4-BE49-F238E27FC236}">
                <a16:creationId xmlns:a16="http://schemas.microsoft.com/office/drawing/2014/main" id="{451A3B4F-8D4E-7389-3F6B-7F27D3B6A5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505" y="2462113"/>
            <a:ext cx="282965" cy="282965"/>
          </a:xfrm>
          <a:prstGeom prst="rect">
            <a:avLst/>
          </a:prstGeom>
        </p:spPr>
      </p:pic>
      <p:sp>
        <p:nvSpPr>
          <p:cNvPr id="180" name="テキスト ボックス 179">
            <a:extLst>
              <a:ext uri="{FF2B5EF4-FFF2-40B4-BE49-F238E27FC236}">
                <a16:creationId xmlns:a16="http://schemas.microsoft.com/office/drawing/2014/main" id="{5478DB27-8FBA-9525-D81B-B21D5D3FE035}"/>
              </a:ext>
            </a:extLst>
          </p:cNvPr>
          <p:cNvSpPr txBox="1"/>
          <p:nvPr/>
        </p:nvSpPr>
        <p:spPr>
          <a:xfrm>
            <a:off x="3468374" y="2524457"/>
            <a:ext cx="1683780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Azure AD Free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systemfrontiermgmt.onmicrosoft.com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DE9E6854-35B8-FCDA-B37D-6FCFF3095E05}"/>
              </a:ext>
            </a:extLst>
          </p:cNvPr>
          <p:cNvCxnSpPr>
            <a:stCxn id="168" idx="2"/>
          </p:cNvCxnSpPr>
          <p:nvPr/>
        </p:nvCxnSpPr>
        <p:spPr>
          <a:xfrm flipH="1">
            <a:off x="5223573" y="5055645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図 181">
            <a:extLst>
              <a:ext uri="{FF2B5EF4-FFF2-40B4-BE49-F238E27FC236}">
                <a16:creationId xmlns:a16="http://schemas.microsoft.com/office/drawing/2014/main" id="{48A149F3-ACC2-00AF-3B81-AEC4FCFC3B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142" y="4772680"/>
            <a:ext cx="282965" cy="282965"/>
          </a:xfrm>
          <a:prstGeom prst="rect">
            <a:avLst/>
          </a:prstGeom>
        </p:spPr>
      </p:pic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810BD7DA-9B29-35BC-F5EA-3680A84B6693}"/>
              </a:ext>
            </a:extLst>
          </p:cNvPr>
          <p:cNvSpPr txBox="1"/>
          <p:nvPr/>
        </p:nvSpPr>
        <p:spPr>
          <a:xfrm>
            <a:off x="5741143" y="455147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(bat)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FMISV302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E64D2445-9459-6E13-FCF5-B8B59FAFFABD}"/>
              </a:ext>
            </a:extLst>
          </p:cNvPr>
          <p:cNvCxnSpPr>
            <a:stCxn id="182" idx="2"/>
          </p:cNvCxnSpPr>
          <p:nvPr/>
        </p:nvCxnSpPr>
        <p:spPr>
          <a:xfrm flipH="1">
            <a:off x="5881160" y="5055645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図 184">
            <a:extLst>
              <a:ext uri="{FF2B5EF4-FFF2-40B4-BE49-F238E27FC236}">
                <a16:creationId xmlns:a16="http://schemas.microsoft.com/office/drawing/2014/main" id="{C95EFC75-076D-E9E4-6A80-A513311FF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058" y="4772680"/>
            <a:ext cx="282965" cy="282965"/>
          </a:xfrm>
          <a:prstGeom prst="rect">
            <a:avLst/>
          </a:prstGeom>
        </p:spPr>
      </p:pic>
      <p:sp>
        <p:nvSpPr>
          <p:cNvPr id="186" name="テキスト ボックス 185">
            <a:extLst>
              <a:ext uri="{FF2B5EF4-FFF2-40B4-BE49-F238E27FC236}">
                <a16:creationId xmlns:a16="http://schemas.microsoft.com/office/drawing/2014/main" id="{D95C6B55-9F5A-3DD1-EF35-F111528BF73C}"/>
              </a:ext>
            </a:extLst>
          </p:cNvPr>
          <p:cNvSpPr txBox="1"/>
          <p:nvPr/>
        </p:nvSpPr>
        <p:spPr>
          <a:xfrm>
            <a:off x="6379058" y="455147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(WSUS)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FMISV303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37922C53-ABE2-0424-E71F-FB8780ECC14E}"/>
              </a:ext>
            </a:extLst>
          </p:cNvPr>
          <p:cNvCxnSpPr>
            <a:stCxn id="185" idx="2"/>
          </p:cNvCxnSpPr>
          <p:nvPr/>
        </p:nvCxnSpPr>
        <p:spPr>
          <a:xfrm flipH="1">
            <a:off x="6519076" y="5055645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8" name="図 187">
            <a:extLst>
              <a:ext uri="{FF2B5EF4-FFF2-40B4-BE49-F238E27FC236}">
                <a16:creationId xmlns:a16="http://schemas.microsoft.com/office/drawing/2014/main" id="{68215634-6359-F45F-76CF-8E93D99D3C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425" y="4772680"/>
            <a:ext cx="282965" cy="282965"/>
          </a:xfrm>
          <a:prstGeom prst="rect">
            <a:avLst/>
          </a:prstGeom>
        </p:spPr>
      </p:pic>
      <p:sp>
        <p:nvSpPr>
          <p:cNvPr id="189" name="テキスト ボックス 188">
            <a:extLst>
              <a:ext uri="{FF2B5EF4-FFF2-40B4-BE49-F238E27FC236}">
                <a16:creationId xmlns:a16="http://schemas.microsoft.com/office/drawing/2014/main" id="{7A913AA4-4A27-D1D3-D6B9-6E9A333816AE}"/>
              </a:ext>
            </a:extLst>
          </p:cNvPr>
          <p:cNvSpPr txBox="1"/>
          <p:nvPr/>
        </p:nvSpPr>
        <p:spPr>
          <a:xfrm>
            <a:off x="7088426" y="455147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(AD)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FMISV304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4C658B06-2AF4-9D95-3985-1E8711C3DF07}"/>
              </a:ext>
            </a:extLst>
          </p:cNvPr>
          <p:cNvCxnSpPr>
            <a:stCxn id="188" idx="2"/>
          </p:cNvCxnSpPr>
          <p:nvPr/>
        </p:nvCxnSpPr>
        <p:spPr>
          <a:xfrm flipH="1">
            <a:off x="7228443" y="5055645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1" name="図 190">
            <a:extLst>
              <a:ext uri="{FF2B5EF4-FFF2-40B4-BE49-F238E27FC236}">
                <a16:creationId xmlns:a16="http://schemas.microsoft.com/office/drawing/2014/main" id="{0C994132-4A6B-DDA1-9DD5-324C6050D2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550" y="4772680"/>
            <a:ext cx="282965" cy="282965"/>
          </a:xfrm>
          <a:prstGeom prst="rect">
            <a:avLst/>
          </a:prstGeom>
        </p:spPr>
      </p:pic>
      <p:sp>
        <p:nvSpPr>
          <p:cNvPr id="192" name="テキスト ボックス 191">
            <a:extLst>
              <a:ext uri="{FF2B5EF4-FFF2-40B4-BE49-F238E27FC236}">
                <a16:creationId xmlns:a16="http://schemas.microsoft.com/office/drawing/2014/main" id="{572C874D-2D54-982A-78D6-1A7B6429625E}"/>
              </a:ext>
            </a:extLst>
          </p:cNvPr>
          <p:cNvSpPr txBox="1"/>
          <p:nvPr/>
        </p:nvSpPr>
        <p:spPr>
          <a:xfrm>
            <a:off x="7694550" y="455147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</a:rPr>
              <a:t>(</a:t>
            </a:r>
            <a:r>
              <a:rPr lang="en-US" altLang="ja-JP" sz="600" kern="0" err="1">
                <a:latin typeface="游ゴシック" panose="020B0400000000000000" pitchFamily="50" charset="-128"/>
              </a:rPr>
              <a:t>ADConnect</a:t>
            </a:r>
            <a:r>
              <a:rPr lang="en-US" altLang="ja-JP" sz="600" kern="0">
                <a:latin typeface="游ゴシック" panose="020B0400000000000000" pitchFamily="50" charset="-128"/>
              </a:rPr>
              <a:t>)</a:t>
            </a:r>
            <a:endParaRPr lang="en-US" altLang="ja-JP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FMISV305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97ACCACF-5A03-D7D5-561A-0AE9CBB4B9C0}"/>
              </a:ext>
            </a:extLst>
          </p:cNvPr>
          <p:cNvCxnSpPr>
            <a:stCxn id="191" idx="2"/>
          </p:cNvCxnSpPr>
          <p:nvPr/>
        </p:nvCxnSpPr>
        <p:spPr>
          <a:xfrm flipH="1">
            <a:off x="7834568" y="5055645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図 193">
            <a:extLst>
              <a:ext uri="{FF2B5EF4-FFF2-40B4-BE49-F238E27FC236}">
                <a16:creationId xmlns:a16="http://schemas.microsoft.com/office/drawing/2014/main" id="{5935784C-CBFD-1BA2-9C62-7E85C8A411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382" y="5273728"/>
            <a:ext cx="282965" cy="282965"/>
          </a:xfrm>
          <a:prstGeom prst="rect">
            <a:avLst/>
          </a:prstGeom>
        </p:spPr>
      </p:pic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DE518550-9D46-AC2D-1C99-3143711C1779}"/>
              </a:ext>
            </a:extLst>
          </p:cNvPr>
          <p:cNvCxnSpPr/>
          <p:nvPr/>
        </p:nvCxnSpPr>
        <p:spPr>
          <a:xfrm flipH="1">
            <a:off x="5044489" y="5161040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テキスト ボックス 195">
            <a:extLst>
              <a:ext uri="{FF2B5EF4-FFF2-40B4-BE49-F238E27FC236}">
                <a16:creationId xmlns:a16="http://schemas.microsoft.com/office/drawing/2014/main" id="{772EC0C7-3481-66C5-99E7-3FD205DF02B9}"/>
              </a:ext>
            </a:extLst>
          </p:cNvPr>
          <p:cNvSpPr txBox="1"/>
          <p:nvPr/>
        </p:nvSpPr>
        <p:spPr>
          <a:xfrm>
            <a:off x="4794958" y="556929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(X-point)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FMISV306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197" name="図 196">
            <a:extLst>
              <a:ext uri="{FF2B5EF4-FFF2-40B4-BE49-F238E27FC236}">
                <a16:creationId xmlns:a16="http://schemas.microsoft.com/office/drawing/2014/main" id="{8635BC3A-3168-7B36-CEC1-F86C73A6D8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375" y="5273728"/>
            <a:ext cx="282965" cy="282965"/>
          </a:xfrm>
          <a:prstGeom prst="rect">
            <a:avLst/>
          </a:prstGeom>
        </p:spPr>
      </p:pic>
      <p:cxnSp>
        <p:nvCxnSpPr>
          <p:cNvPr id="198" name="直線コネクタ 197">
            <a:extLst>
              <a:ext uri="{FF2B5EF4-FFF2-40B4-BE49-F238E27FC236}">
                <a16:creationId xmlns:a16="http://schemas.microsoft.com/office/drawing/2014/main" id="{3BF18782-43E7-5A56-7D47-2B54D189B42D}"/>
              </a:ext>
            </a:extLst>
          </p:cNvPr>
          <p:cNvCxnSpPr/>
          <p:nvPr/>
        </p:nvCxnSpPr>
        <p:spPr>
          <a:xfrm flipH="1">
            <a:off x="5770482" y="5161040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テキスト ボックス 198">
            <a:extLst>
              <a:ext uri="{FF2B5EF4-FFF2-40B4-BE49-F238E27FC236}">
                <a16:creationId xmlns:a16="http://schemas.microsoft.com/office/drawing/2014/main" id="{360AAC3A-A0D0-2979-0DEA-880C874B04C3}"/>
              </a:ext>
            </a:extLst>
          </p:cNvPr>
          <p:cNvSpPr txBox="1"/>
          <p:nvPr/>
        </p:nvSpPr>
        <p:spPr>
          <a:xfrm>
            <a:off x="5520951" y="556929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(SKYSEA)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FMISV307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00" name="図 199">
            <a:extLst>
              <a:ext uri="{FF2B5EF4-FFF2-40B4-BE49-F238E27FC236}">
                <a16:creationId xmlns:a16="http://schemas.microsoft.com/office/drawing/2014/main" id="{24AB31DF-1C5D-02DD-A7A2-11925CC2DA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563" y="5273728"/>
            <a:ext cx="282965" cy="282965"/>
          </a:xfrm>
          <a:prstGeom prst="rect">
            <a:avLst/>
          </a:prstGeom>
        </p:spPr>
      </p:pic>
      <p:cxnSp>
        <p:nvCxnSpPr>
          <p:cNvPr id="201" name="直線コネクタ 200">
            <a:extLst>
              <a:ext uri="{FF2B5EF4-FFF2-40B4-BE49-F238E27FC236}">
                <a16:creationId xmlns:a16="http://schemas.microsoft.com/office/drawing/2014/main" id="{7C7EC8F4-C6FF-29EC-E3FB-79213F3984A5}"/>
              </a:ext>
            </a:extLst>
          </p:cNvPr>
          <p:cNvCxnSpPr/>
          <p:nvPr/>
        </p:nvCxnSpPr>
        <p:spPr>
          <a:xfrm flipH="1">
            <a:off x="6449669" y="5161040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テキスト ボックス 201">
            <a:extLst>
              <a:ext uri="{FF2B5EF4-FFF2-40B4-BE49-F238E27FC236}">
                <a16:creationId xmlns:a16="http://schemas.microsoft.com/office/drawing/2014/main" id="{79F45AC4-F6DA-0280-E22C-C5AB57817842}"/>
              </a:ext>
            </a:extLst>
          </p:cNvPr>
          <p:cNvSpPr txBox="1"/>
          <p:nvPr/>
        </p:nvSpPr>
        <p:spPr>
          <a:xfrm>
            <a:off x="6306525" y="556929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(VB Corp)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FMISV308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03" name="直線コネクタ 202">
            <a:extLst>
              <a:ext uri="{FF2B5EF4-FFF2-40B4-BE49-F238E27FC236}">
                <a16:creationId xmlns:a16="http://schemas.microsoft.com/office/drawing/2014/main" id="{64B192B3-5086-6B2B-A47C-3D8362C91B14}"/>
              </a:ext>
            </a:extLst>
          </p:cNvPr>
          <p:cNvCxnSpPr>
            <a:cxnSpLocks/>
            <a:endCxn id="224" idx="0"/>
          </p:cNvCxnSpPr>
          <p:nvPr/>
        </p:nvCxnSpPr>
        <p:spPr>
          <a:xfrm>
            <a:off x="4015730" y="3202499"/>
            <a:ext cx="0" cy="1041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コネクタ 203">
            <a:extLst>
              <a:ext uri="{FF2B5EF4-FFF2-40B4-BE49-F238E27FC236}">
                <a16:creationId xmlns:a16="http://schemas.microsoft.com/office/drawing/2014/main" id="{D19351C6-CE28-E619-3BFD-AA1AB1EB6CE1}"/>
              </a:ext>
            </a:extLst>
          </p:cNvPr>
          <p:cNvCxnSpPr>
            <a:cxnSpLocks/>
          </p:cNvCxnSpPr>
          <p:nvPr/>
        </p:nvCxnSpPr>
        <p:spPr>
          <a:xfrm>
            <a:off x="4112867" y="4379774"/>
            <a:ext cx="2889548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" name="図 204">
            <a:extLst>
              <a:ext uri="{FF2B5EF4-FFF2-40B4-BE49-F238E27FC236}">
                <a16:creationId xmlns:a16="http://schemas.microsoft.com/office/drawing/2014/main" id="{3BC43030-0EE5-82D7-F22E-CD94E814F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0570" y="4091920"/>
            <a:ext cx="235744" cy="171450"/>
          </a:xfrm>
          <a:prstGeom prst="rect">
            <a:avLst/>
          </a:prstGeom>
        </p:spPr>
      </p:pic>
      <p:sp>
        <p:nvSpPr>
          <p:cNvPr id="206" name="テキスト ボックス 205">
            <a:extLst>
              <a:ext uri="{FF2B5EF4-FFF2-40B4-BE49-F238E27FC236}">
                <a16:creationId xmlns:a16="http://schemas.microsoft.com/office/drawing/2014/main" id="{59E01A51-4F46-D751-D07A-1502092AEEB1}"/>
              </a:ext>
            </a:extLst>
          </p:cNvPr>
          <p:cNvSpPr txBox="1"/>
          <p:nvPr/>
        </p:nvSpPr>
        <p:spPr>
          <a:xfrm>
            <a:off x="4336313" y="4007315"/>
            <a:ext cx="1066117" cy="102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サブネット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FMI-Subnet-public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10.10.254.0/24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07" name="図 206">
            <a:extLst>
              <a:ext uri="{FF2B5EF4-FFF2-40B4-BE49-F238E27FC236}">
                <a16:creationId xmlns:a16="http://schemas.microsoft.com/office/drawing/2014/main" id="{2612E4EE-C19F-281D-EBE3-A308BA63FD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991" y="3984844"/>
            <a:ext cx="282965" cy="282965"/>
          </a:xfrm>
          <a:prstGeom prst="rect">
            <a:avLst/>
          </a:prstGeom>
        </p:spPr>
      </p:pic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5C417314-6277-EA32-C8B0-A7A9A899A297}"/>
              </a:ext>
            </a:extLst>
          </p:cNvPr>
          <p:cNvSpPr txBox="1"/>
          <p:nvPr/>
        </p:nvSpPr>
        <p:spPr>
          <a:xfrm>
            <a:off x="5347991" y="3763637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(HTTPGW)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FMISV309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09" name="直線コネクタ 208">
            <a:extLst>
              <a:ext uri="{FF2B5EF4-FFF2-40B4-BE49-F238E27FC236}">
                <a16:creationId xmlns:a16="http://schemas.microsoft.com/office/drawing/2014/main" id="{4181B016-A33C-D89C-51D5-D08FD8D2D951}"/>
              </a:ext>
            </a:extLst>
          </p:cNvPr>
          <p:cNvCxnSpPr>
            <a:stCxn id="207" idx="2"/>
          </p:cNvCxnSpPr>
          <p:nvPr/>
        </p:nvCxnSpPr>
        <p:spPr>
          <a:xfrm flipH="1">
            <a:off x="5488009" y="4267809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図 209">
            <a:extLst>
              <a:ext uri="{FF2B5EF4-FFF2-40B4-BE49-F238E27FC236}">
                <a16:creationId xmlns:a16="http://schemas.microsoft.com/office/drawing/2014/main" id="{268C0EFE-23B1-1CD4-5398-0BDDF9EE89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86" y="2263782"/>
            <a:ext cx="514281" cy="514281"/>
          </a:xfrm>
          <a:prstGeom prst="rect">
            <a:avLst/>
          </a:prstGeom>
        </p:spPr>
      </p:pic>
      <p:pic>
        <p:nvPicPr>
          <p:cNvPr id="211" name="図 210">
            <a:extLst>
              <a:ext uri="{FF2B5EF4-FFF2-40B4-BE49-F238E27FC236}">
                <a16:creationId xmlns:a16="http://schemas.microsoft.com/office/drawing/2014/main" id="{901F16A4-67D3-D77D-9A71-3FE86C53D7D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244" y="3255511"/>
            <a:ext cx="282965" cy="282965"/>
          </a:xfrm>
          <a:prstGeom prst="rect">
            <a:avLst/>
          </a:prstGeom>
        </p:spPr>
      </p:pic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45DBDF94-2A56-6825-6359-FCA8359FF950}"/>
              </a:ext>
            </a:extLst>
          </p:cNvPr>
          <p:cNvSpPr txBox="1"/>
          <p:nvPr/>
        </p:nvSpPr>
        <p:spPr>
          <a:xfrm>
            <a:off x="5679378" y="3321365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ExpressRoute</a:t>
            </a:r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ゲートウェイ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FMI-EXGW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13" name="直線コネクタ 212">
            <a:extLst>
              <a:ext uri="{FF2B5EF4-FFF2-40B4-BE49-F238E27FC236}">
                <a16:creationId xmlns:a16="http://schemas.microsoft.com/office/drawing/2014/main" id="{EAC5009B-3F72-423D-BE2F-C2222A790143}"/>
              </a:ext>
            </a:extLst>
          </p:cNvPr>
          <p:cNvCxnSpPr>
            <a:cxnSpLocks/>
            <a:stCxn id="211" idx="2"/>
          </p:cNvCxnSpPr>
          <p:nvPr/>
        </p:nvCxnSpPr>
        <p:spPr>
          <a:xfrm>
            <a:off x="5464726" y="3538475"/>
            <a:ext cx="0" cy="143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4" name="図 213">
            <a:extLst>
              <a:ext uri="{FF2B5EF4-FFF2-40B4-BE49-F238E27FC236}">
                <a16:creationId xmlns:a16="http://schemas.microsoft.com/office/drawing/2014/main" id="{427E0F11-4A68-A0E4-1D37-7DDE01A7231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117" y="1460177"/>
            <a:ext cx="585218" cy="585218"/>
          </a:xfrm>
          <a:prstGeom prst="rect">
            <a:avLst/>
          </a:prstGeom>
        </p:spPr>
      </p:pic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A2FC93E7-6E09-6CF6-AE38-DF43F3C585D5}"/>
              </a:ext>
            </a:extLst>
          </p:cNvPr>
          <p:cNvSpPr txBox="1"/>
          <p:nvPr/>
        </p:nvSpPr>
        <p:spPr>
          <a:xfrm>
            <a:off x="5857421" y="1706351"/>
            <a:ext cx="1746184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SmartVPN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ソフトバンク閉域網</a:t>
            </a:r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26F16BC0-2BCE-3FD8-88A1-D66E033AA06A}"/>
              </a:ext>
            </a:extLst>
          </p:cNvPr>
          <p:cNvSpPr txBox="1"/>
          <p:nvPr/>
        </p:nvSpPr>
        <p:spPr>
          <a:xfrm>
            <a:off x="5342769" y="1737503"/>
            <a:ext cx="462916" cy="1684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b="1" kern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SVPN</a:t>
            </a:r>
            <a:endParaRPr lang="ja-JP" altLang="en-US" sz="750" b="1" kern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17" name="直線コネクタ 216">
            <a:extLst>
              <a:ext uri="{FF2B5EF4-FFF2-40B4-BE49-F238E27FC236}">
                <a16:creationId xmlns:a16="http://schemas.microsoft.com/office/drawing/2014/main" id="{8697C0A9-FDA2-46A8-72F2-FFF8A6866B85}"/>
              </a:ext>
            </a:extLst>
          </p:cNvPr>
          <p:cNvCxnSpPr>
            <a:cxnSpLocks/>
            <a:stCxn id="210" idx="2"/>
            <a:endCxn id="211" idx="0"/>
          </p:cNvCxnSpPr>
          <p:nvPr/>
        </p:nvCxnSpPr>
        <p:spPr>
          <a:xfrm>
            <a:off x="5464726" y="2778063"/>
            <a:ext cx="0" cy="4774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コネクタ 217">
            <a:extLst>
              <a:ext uri="{FF2B5EF4-FFF2-40B4-BE49-F238E27FC236}">
                <a16:creationId xmlns:a16="http://schemas.microsoft.com/office/drawing/2014/main" id="{01D52FB5-5088-1FA0-E65A-B8422C660B1C}"/>
              </a:ext>
            </a:extLst>
          </p:cNvPr>
          <p:cNvCxnSpPr>
            <a:cxnSpLocks/>
            <a:stCxn id="214" idx="2"/>
            <a:endCxn id="210" idx="0"/>
          </p:cNvCxnSpPr>
          <p:nvPr/>
        </p:nvCxnSpPr>
        <p:spPr>
          <a:xfrm>
            <a:off x="5464726" y="2045395"/>
            <a:ext cx="0" cy="2183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9B034123-E56A-A4D2-06AD-C27EEE415ADA}"/>
              </a:ext>
            </a:extLst>
          </p:cNvPr>
          <p:cNvSpPr txBox="1"/>
          <p:nvPr/>
        </p:nvSpPr>
        <p:spPr>
          <a:xfrm>
            <a:off x="5865591" y="2408071"/>
            <a:ext cx="1026094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ダイレクトコネクト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FMI-VPN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40C9A198-C0AD-F114-7C7A-BD071103702F}"/>
              </a:ext>
            </a:extLst>
          </p:cNvPr>
          <p:cNvSpPr txBox="1"/>
          <p:nvPr/>
        </p:nvSpPr>
        <p:spPr>
          <a:xfrm>
            <a:off x="4178029" y="4454384"/>
            <a:ext cx="1683780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FMI-NSG-</a:t>
            </a:r>
            <a:r>
              <a:rPr lang="en-US" altLang="ja-JP" sz="750" kern="0">
                <a:latin typeface="游ゴシック" panose="020B0400000000000000" pitchFamily="50" charset="-128"/>
              </a:rPr>
              <a:t>public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21" name="図 220">
            <a:extLst>
              <a:ext uri="{FF2B5EF4-FFF2-40B4-BE49-F238E27FC236}">
                <a16:creationId xmlns:a16="http://schemas.microsoft.com/office/drawing/2014/main" id="{2614E28B-2B0F-3E6E-D239-1DFE9BFAB10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07" y="2786215"/>
            <a:ext cx="585218" cy="585218"/>
          </a:xfrm>
          <a:prstGeom prst="rect">
            <a:avLst/>
          </a:prstGeom>
        </p:spPr>
      </p:pic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DD9FB0B0-24E0-0CCE-38EF-E052A71C27B4}"/>
              </a:ext>
            </a:extLst>
          </p:cNvPr>
          <p:cNvSpPr txBox="1"/>
          <p:nvPr/>
        </p:nvSpPr>
        <p:spPr>
          <a:xfrm>
            <a:off x="2297786" y="3094233"/>
            <a:ext cx="462916" cy="1684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b="1" kern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Internet</a:t>
            </a:r>
            <a:endParaRPr lang="ja-JP" altLang="en-US" sz="750" b="1" kern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23" name="直線コネクタ 222">
            <a:extLst>
              <a:ext uri="{FF2B5EF4-FFF2-40B4-BE49-F238E27FC236}">
                <a16:creationId xmlns:a16="http://schemas.microsoft.com/office/drawing/2014/main" id="{5DEFAAFE-6736-6ECF-702D-B0E147ADFC33}"/>
              </a:ext>
            </a:extLst>
          </p:cNvPr>
          <p:cNvCxnSpPr>
            <a:cxnSpLocks/>
          </p:cNvCxnSpPr>
          <p:nvPr/>
        </p:nvCxnSpPr>
        <p:spPr>
          <a:xfrm>
            <a:off x="2775825" y="3075334"/>
            <a:ext cx="11074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4" name="図 223">
            <a:extLst>
              <a:ext uri="{FF2B5EF4-FFF2-40B4-BE49-F238E27FC236}">
                <a16:creationId xmlns:a16="http://schemas.microsoft.com/office/drawing/2014/main" id="{EC66F70D-11EE-6794-08E9-20F6EBCA49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248" y="4244101"/>
            <a:ext cx="282965" cy="282965"/>
          </a:xfrm>
          <a:prstGeom prst="rect">
            <a:avLst/>
          </a:prstGeom>
        </p:spPr>
      </p:pic>
      <p:sp>
        <p:nvSpPr>
          <p:cNvPr id="46" name="AutoShape 4" descr="ç¢å°ã®ã¤ã©ã¹ããæ¥ä¸æã">
            <a:extLst>
              <a:ext uri="{FF2B5EF4-FFF2-40B4-BE49-F238E27FC236}">
                <a16:creationId xmlns:a16="http://schemas.microsoft.com/office/drawing/2014/main" id="{9D87E9DB-AAAE-209E-7A03-3BA1B3C63B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038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7" name="AutoShape 6" descr="ç¢å°ã®ã¤ã©ã¹ããæ¥ä¸æã">
            <a:extLst>
              <a:ext uri="{FF2B5EF4-FFF2-40B4-BE49-F238E27FC236}">
                <a16:creationId xmlns:a16="http://schemas.microsoft.com/office/drawing/2014/main" id="{26C93D24-559D-BCDA-B0E5-4E36E30222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190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4FD7198B-1D5C-3CD4-DF37-5EA4D83AAE5F}"/>
              </a:ext>
            </a:extLst>
          </p:cNvPr>
          <p:cNvSpPr txBox="1"/>
          <p:nvPr/>
        </p:nvSpPr>
        <p:spPr>
          <a:xfrm>
            <a:off x="5162079" y="1115223"/>
            <a:ext cx="3736025" cy="471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社内通信</a:t>
            </a:r>
            <a:endParaRPr lang="en-US" altLang="ja-JP" sz="1200" kern="0">
              <a:solidFill>
                <a:schemeClr val="accent3">
                  <a:lumMod val="7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</a:t>
            </a:r>
            <a:r>
              <a:rPr lang="en-US" altLang="ja-JP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ExpressRoute</a:t>
            </a:r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ゲートウェイ＞</a:t>
            </a:r>
            <a:r>
              <a:rPr lang="en-US" altLang="ja-JP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SVPN</a:t>
            </a:r>
            <a:r>
              <a:rPr lang="ja-JP" altLang="en-US" sz="1200" kern="0">
                <a:solidFill>
                  <a:schemeClr val="accent3">
                    <a:lumMod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＞拠点</a:t>
            </a:r>
            <a:endParaRPr lang="en-US" altLang="ja-JP" sz="1200" kern="0">
              <a:solidFill>
                <a:schemeClr val="accent3">
                  <a:lumMod val="7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endParaRPr lang="ja-JP" altLang="en-US" sz="1200" kern="0">
              <a:solidFill>
                <a:schemeClr val="accent3">
                  <a:lumMod val="7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4E2A1563-3EAD-5F8F-EA5A-B5CC87677945}"/>
              </a:ext>
            </a:extLst>
          </p:cNvPr>
          <p:cNvSpPr/>
          <p:nvPr/>
        </p:nvSpPr>
        <p:spPr>
          <a:xfrm>
            <a:off x="1503848" y="3014910"/>
            <a:ext cx="3537614" cy="2133529"/>
          </a:xfrm>
          <a:custGeom>
            <a:avLst/>
            <a:gdLst>
              <a:gd name="connsiteX0" fmla="*/ 3763398 w 3763398"/>
              <a:gd name="connsiteY0" fmla="*/ 1139813 h 1235800"/>
              <a:gd name="connsiteX1" fmla="*/ 2508932 w 3763398"/>
              <a:gd name="connsiteY1" fmla="*/ 1139813 h 1235800"/>
              <a:gd name="connsiteX2" fmla="*/ 2463590 w 3763398"/>
              <a:gd name="connsiteY2" fmla="*/ 142285 h 1235800"/>
              <a:gd name="connsiteX3" fmla="*/ 0 w 3763398"/>
              <a:gd name="connsiteY3" fmla="*/ 28930 h 1235800"/>
              <a:gd name="connsiteX0" fmla="*/ 3763398 w 3763398"/>
              <a:gd name="connsiteY0" fmla="*/ 1171155 h 1267142"/>
              <a:gd name="connsiteX1" fmla="*/ 2508932 w 3763398"/>
              <a:gd name="connsiteY1" fmla="*/ 1171155 h 1267142"/>
              <a:gd name="connsiteX2" fmla="*/ 2463590 w 3763398"/>
              <a:gd name="connsiteY2" fmla="*/ 173627 h 1267142"/>
              <a:gd name="connsiteX3" fmla="*/ 0 w 3763398"/>
              <a:gd name="connsiteY3" fmla="*/ 60272 h 1267142"/>
              <a:gd name="connsiteX0" fmla="*/ 3763398 w 3763398"/>
              <a:gd name="connsiteY0" fmla="*/ 1182938 h 1278925"/>
              <a:gd name="connsiteX1" fmla="*/ 2508932 w 3763398"/>
              <a:gd name="connsiteY1" fmla="*/ 1182938 h 1278925"/>
              <a:gd name="connsiteX2" fmla="*/ 2463590 w 3763398"/>
              <a:gd name="connsiteY2" fmla="*/ 185410 h 1278925"/>
              <a:gd name="connsiteX3" fmla="*/ 0 w 3763398"/>
              <a:gd name="connsiteY3" fmla="*/ 72055 h 1278925"/>
              <a:gd name="connsiteX0" fmla="*/ 3763398 w 3763398"/>
              <a:gd name="connsiteY0" fmla="*/ 1182938 h 1308090"/>
              <a:gd name="connsiteX1" fmla="*/ 2508932 w 3763398"/>
              <a:gd name="connsiteY1" fmla="*/ 1182938 h 1308090"/>
              <a:gd name="connsiteX2" fmla="*/ 2463590 w 3763398"/>
              <a:gd name="connsiteY2" fmla="*/ 185410 h 1308090"/>
              <a:gd name="connsiteX3" fmla="*/ 0 w 3763398"/>
              <a:gd name="connsiteY3" fmla="*/ 72055 h 1308090"/>
              <a:gd name="connsiteX0" fmla="*/ 3763398 w 3763398"/>
              <a:gd name="connsiteY0" fmla="*/ 1182938 h 1269416"/>
              <a:gd name="connsiteX1" fmla="*/ 2508932 w 3763398"/>
              <a:gd name="connsiteY1" fmla="*/ 1182938 h 1269416"/>
              <a:gd name="connsiteX2" fmla="*/ 2463590 w 3763398"/>
              <a:gd name="connsiteY2" fmla="*/ 185410 h 1269416"/>
              <a:gd name="connsiteX3" fmla="*/ 0 w 3763398"/>
              <a:gd name="connsiteY3" fmla="*/ 72055 h 126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3398" h="1269416">
                <a:moveTo>
                  <a:pt x="3763398" y="1182938"/>
                </a:moveTo>
                <a:cubicBezTo>
                  <a:pt x="3244482" y="1266065"/>
                  <a:pt x="2710453" y="1326522"/>
                  <a:pt x="2508932" y="1182938"/>
                </a:cubicBezTo>
                <a:cubicBezTo>
                  <a:pt x="2307411" y="1039354"/>
                  <a:pt x="2594578" y="491469"/>
                  <a:pt x="2463590" y="185410"/>
                </a:cubicBezTo>
                <a:cubicBezTo>
                  <a:pt x="2332602" y="-120649"/>
                  <a:pt x="1022717" y="36159"/>
                  <a:pt x="0" y="72055"/>
                </a:cubicBezTo>
              </a:path>
            </a:pathLst>
          </a:custGeom>
          <a:noFill/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E81B77A8-7613-71BF-0C5F-FCFACCB65707}"/>
              </a:ext>
            </a:extLst>
          </p:cNvPr>
          <p:cNvSpPr txBox="1"/>
          <p:nvPr/>
        </p:nvSpPr>
        <p:spPr>
          <a:xfrm>
            <a:off x="302882" y="2213037"/>
            <a:ext cx="3311005" cy="4714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社外通信</a:t>
            </a:r>
            <a:endParaRPr lang="en-US" altLang="ja-JP" sz="1200" kern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＞パブリック</a:t>
            </a:r>
            <a:r>
              <a:rPr lang="en-US" altLang="ja-JP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IP</a:t>
            </a:r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</a:t>
            </a:r>
            <a:r>
              <a:rPr lang="en-US" altLang="ja-JP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NAT</a:t>
            </a:r>
            <a:r>
              <a:rPr lang="ja-JP" altLang="en-US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＞</a:t>
            </a:r>
            <a:r>
              <a:rPr lang="en-US" altLang="ja-JP" sz="12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Internet</a:t>
            </a:r>
          </a:p>
          <a:p>
            <a:pPr fontAlgn="base"/>
            <a:r>
              <a:rPr lang="en-US" altLang="ja-JP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※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各</a:t>
            </a:r>
            <a:r>
              <a:rPr lang="en-US" altLang="ja-JP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VM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のパブリック</a:t>
            </a:r>
            <a:r>
              <a:rPr lang="en-US" altLang="ja-JP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IP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</a:t>
            </a:r>
            <a:r>
              <a:rPr lang="en-US" altLang="ja-JP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NAT</a:t>
            </a:r>
            <a:r>
              <a:rPr lang="ja-JP" altLang="en-US" sz="800" kern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されます</a:t>
            </a:r>
            <a:endParaRPr lang="en-US" altLang="ja-JP" sz="800" kern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endParaRPr lang="ja-JP" altLang="en-US" sz="1200" kern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859EB1F7-D916-5761-1AC2-48E6CD18DDB6}"/>
              </a:ext>
            </a:extLst>
          </p:cNvPr>
          <p:cNvSpPr/>
          <p:nvPr/>
        </p:nvSpPr>
        <p:spPr>
          <a:xfrm>
            <a:off x="3937046" y="1460177"/>
            <a:ext cx="1570059" cy="3607258"/>
          </a:xfrm>
          <a:custGeom>
            <a:avLst/>
            <a:gdLst>
              <a:gd name="connsiteX0" fmla="*/ 1171548 w 1629684"/>
              <a:gd name="connsiteY0" fmla="*/ 3551802 h 3750872"/>
              <a:gd name="connsiteX1" fmla="*/ 204249 w 1629684"/>
              <a:gd name="connsiteY1" fmla="*/ 3627372 h 3750872"/>
              <a:gd name="connsiteX2" fmla="*/ 106008 w 1629684"/>
              <a:gd name="connsiteY2" fmla="*/ 2108410 h 3750872"/>
              <a:gd name="connsiteX3" fmla="*/ 1436044 w 1629684"/>
              <a:gd name="connsiteY3" fmla="*/ 1866585 h 3750872"/>
              <a:gd name="connsiteX4" fmla="*/ 1594742 w 1629684"/>
              <a:gd name="connsiteY4" fmla="*/ 0 h 3750872"/>
              <a:gd name="connsiteX0" fmla="*/ 1124193 w 1579257"/>
              <a:gd name="connsiteY0" fmla="*/ 3551802 h 3753647"/>
              <a:gd name="connsiteX1" fmla="*/ 156894 w 1579257"/>
              <a:gd name="connsiteY1" fmla="*/ 3627372 h 3753647"/>
              <a:gd name="connsiteX2" fmla="*/ 126666 w 1579257"/>
              <a:gd name="connsiteY2" fmla="*/ 2070625 h 3753647"/>
              <a:gd name="connsiteX3" fmla="*/ 1388689 w 1579257"/>
              <a:gd name="connsiteY3" fmla="*/ 1866585 h 3753647"/>
              <a:gd name="connsiteX4" fmla="*/ 1547387 w 1579257"/>
              <a:gd name="connsiteY4" fmla="*/ 0 h 3753647"/>
              <a:gd name="connsiteX0" fmla="*/ 1096548 w 1551612"/>
              <a:gd name="connsiteY0" fmla="*/ 3551802 h 3753647"/>
              <a:gd name="connsiteX1" fmla="*/ 129249 w 1551612"/>
              <a:gd name="connsiteY1" fmla="*/ 3627372 h 3753647"/>
              <a:gd name="connsiteX2" fmla="*/ 99021 w 1551612"/>
              <a:gd name="connsiteY2" fmla="*/ 2070625 h 3753647"/>
              <a:gd name="connsiteX3" fmla="*/ 1361044 w 1551612"/>
              <a:gd name="connsiteY3" fmla="*/ 1866585 h 3753647"/>
              <a:gd name="connsiteX4" fmla="*/ 1519742 w 1551612"/>
              <a:gd name="connsiteY4" fmla="*/ 0 h 3753647"/>
              <a:gd name="connsiteX0" fmla="*/ 1119126 w 1574190"/>
              <a:gd name="connsiteY0" fmla="*/ 3551802 h 3733699"/>
              <a:gd name="connsiteX1" fmla="*/ 151827 w 1574190"/>
              <a:gd name="connsiteY1" fmla="*/ 3627372 h 3733699"/>
              <a:gd name="connsiteX2" fmla="*/ 121599 w 1574190"/>
              <a:gd name="connsiteY2" fmla="*/ 2070625 h 3733699"/>
              <a:gd name="connsiteX3" fmla="*/ 1383622 w 1574190"/>
              <a:gd name="connsiteY3" fmla="*/ 1866585 h 3733699"/>
              <a:gd name="connsiteX4" fmla="*/ 1542320 w 1574190"/>
              <a:gd name="connsiteY4" fmla="*/ 0 h 3733699"/>
              <a:gd name="connsiteX0" fmla="*/ 1154203 w 1682949"/>
              <a:gd name="connsiteY0" fmla="*/ 3551802 h 3733699"/>
              <a:gd name="connsiteX1" fmla="*/ 186904 w 1682949"/>
              <a:gd name="connsiteY1" fmla="*/ 3627372 h 3733699"/>
              <a:gd name="connsiteX2" fmla="*/ 156676 w 1682949"/>
              <a:gd name="connsiteY2" fmla="*/ 2070625 h 3733699"/>
              <a:gd name="connsiteX3" fmla="*/ 1562283 w 1682949"/>
              <a:gd name="connsiteY3" fmla="*/ 1677660 h 3733699"/>
              <a:gd name="connsiteX4" fmla="*/ 1577397 w 1682949"/>
              <a:gd name="connsiteY4" fmla="*/ 0 h 3733699"/>
              <a:gd name="connsiteX0" fmla="*/ 1154203 w 1621780"/>
              <a:gd name="connsiteY0" fmla="*/ 3551802 h 3733699"/>
              <a:gd name="connsiteX1" fmla="*/ 186904 w 1621780"/>
              <a:gd name="connsiteY1" fmla="*/ 3627372 h 3733699"/>
              <a:gd name="connsiteX2" fmla="*/ 156676 w 1621780"/>
              <a:gd name="connsiteY2" fmla="*/ 2070625 h 3733699"/>
              <a:gd name="connsiteX3" fmla="*/ 1562283 w 1621780"/>
              <a:gd name="connsiteY3" fmla="*/ 1677660 h 3733699"/>
              <a:gd name="connsiteX4" fmla="*/ 1577397 w 1621780"/>
              <a:gd name="connsiteY4" fmla="*/ 0 h 373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780" h="3733699">
                <a:moveTo>
                  <a:pt x="1154203" y="3551802"/>
                </a:moveTo>
                <a:cubicBezTo>
                  <a:pt x="759348" y="3709869"/>
                  <a:pt x="413615" y="3828893"/>
                  <a:pt x="186904" y="3627372"/>
                </a:cubicBezTo>
                <a:cubicBezTo>
                  <a:pt x="-39807" y="3425851"/>
                  <a:pt x="-72554" y="2395577"/>
                  <a:pt x="156676" y="2070625"/>
                </a:cubicBezTo>
                <a:cubicBezTo>
                  <a:pt x="385906" y="1745673"/>
                  <a:pt x="1469080" y="2075664"/>
                  <a:pt x="1562283" y="1677660"/>
                </a:cubicBezTo>
                <a:cubicBezTo>
                  <a:pt x="1655486" y="1279656"/>
                  <a:pt x="1622109" y="757591"/>
                  <a:pt x="1577397" y="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D982A41-FA0F-90FC-9813-9D3ED39ED146}"/>
              </a:ext>
            </a:extLst>
          </p:cNvPr>
          <p:cNvSpPr txBox="1"/>
          <p:nvPr/>
        </p:nvSpPr>
        <p:spPr>
          <a:xfrm>
            <a:off x="8659808" y="1067557"/>
            <a:ext cx="3492686" cy="1200329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特記事項</a:t>
            </a:r>
            <a:endParaRPr lang="en-US" altLang="ja-JP" sz="9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各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VM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のインターネットへの通信については直接接続している状態。</a:t>
            </a:r>
          </a:p>
          <a:p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＃実際は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サービス側の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GW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装置にて取得済みパブリック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に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NAT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され外部への通信を行っています。</a:t>
            </a:r>
          </a:p>
          <a:p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許可トラフィックについては、ネットワークセキュリティグループ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(NSG)</a:t>
            </a:r>
            <a:r>
              <a:rPr lang="ja-JP" altLang="ja-JP" sz="900" err="1">
                <a:latin typeface="Meiryo UI" panose="020B0604030504040204" pitchFamily="50" charset="-128"/>
                <a:ea typeface="Meiryo UI" panose="020B0604030504040204" pitchFamily="50" charset="-128"/>
              </a:rPr>
              <a:t>にて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受信・送信に分けて制限をかけています。</a:t>
            </a:r>
          </a:p>
          <a:p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NSG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Private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サブネットと</a:t>
            </a:r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DMZ</a:t>
            </a:r>
            <a:r>
              <a:rPr lang="ja-JP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サブネット別で設定しています。</a:t>
            </a:r>
          </a:p>
          <a:p>
            <a:endParaRPr lang="en-US" altLang="ja-JP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8C0EAE-DC2E-7106-E665-A41FE8E02C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1653" y="5765366"/>
            <a:ext cx="235744" cy="17145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B878C-B0AE-480E-6F2A-706F8A9602B5}"/>
              </a:ext>
            </a:extLst>
          </p:cNvPr>
          <p:cNvSpPr txBox="1"/>
          <p:nvPr/>
        </p:nvSpPr>
        <p:spPr>
          <a:xfrm>
            <a:off x="3947397" y="5680761"/>
            <a:ext cx="827212" cy="1078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サブネット</a:t>
            </a:r>
            <a:endParaRPr lang="en-US" altLang="ja-JP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FCI-Subnet-1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</a:rPr>
              <a:t>10.10.2.0/24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FDADF9B-E3D3-C2C2-95E6-9D5C200ED3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734" y="5902814"/>
            <a:ext cx="282965" cy="28296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E960D51-1DAE-23DD-25ED-67AB41742A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559" y="6161185"/>
            <a:ext cx="282965" cy="282965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C6BACA0-B681-16B1-DBC9-BEF73A112889}"/>
              </a:ext>
            </a:extLst>
          </p:cNvPr>
          <p:cNvCxnSpPr/>
          <p:nvPr/>
        </p:nvCxnSpPr>
        <p:spPr>
          <a:xfrm flipH="1">
            <a:off x="4824666" y="6048497"/>
            <a:ext cx="1465" cy="11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D5D134C-D3F0-2C35-BF6E-E749BB2DC45B}"/>
              </a:ext>
            </a:extLst>
          </p:cNvPr>
          <p:cNvCxnSpPr>
            <a:cxnSpLocks/>
          </p:cNvCxnSpPr>
          <p:nvPr/>
        </p:nvCxnSpPr>
        <p:spPr>
          <a:xfrm>
            <a:off x="3673568" y="3252095"/>
            <a:ext cx="1876" cy="2767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111A66E-E83D-CA42-2145-A2DF6B19158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08699" y="6044297"/>
            <a:ext cx="4707859" cy="31613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2EC7D76-B9B3-0D6D-D04A-352FEF455A5D}"/>
              </a:ext>
            </a:extLst>
          </p:cNvPr>
          <p:cNvSpPr txBox="1"/>
          <p:nvPr/>
        </p:nvSpPr>
        <p:spPr>
          <a:xfrm>
            <a:off x="3807475" y="6054782"/>
            <a:ext cx="1683780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NSG</a:t>
            </a:r>
          </a:p>
          <a:p>
            <a:pPr fontAlgn="base"/>
            <a:r>
              <a:rPr lang="en-US" altLang="ja-JP" sz="75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FCI-NSG-1</a:t>
            </a:r>
            <a:endParaRPr lang="ja-JP" altLang="en-US" sz="75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10A4ADF-3365-60F2-F4F4-7B99BABEEC7C}"/>
              </a:ext>
            </a:extLst>
          </p:cNvPr>
          <p:cNvSpPr txBox="1"/>
          <p:nvPr/>
        </p:nvSpPr>
        <p:spPr>
          <a:xfrm>
            <a:off x="4566358" y="6445593"/>
            <a:ext cx="1683781" cy="1265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仮想マシン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lang="ja-JP" altLang="en-US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ファイルサーバ</a:t>
            </a:r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</a:p>
          <a:p>
            <a:pPr fontAlgn="base"/>
            <a:r>
              <a:rPr lang="en-US" altLang="ja-JP" sz="600" kern="0">
                <a:latin typeface="游ゴシック" panose="020B0400000000000000" pitchFamily="50" charset="-128"/>
                <a:ea typeface="游ゴシック" panose="020B0400000000000000" pitchFamily="50" charset="-128"/>
              </a:rPr>
              <a:t>FCISV101</a:t>
            </a:r>
            <a:endParaRPr lang="ja-JP" altLang="en-US" sz="600" kern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498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オブジェクト 54" hidden="1">
            <a:extLst>
              <a:ext uri="{FF2B5EF4-FFF2-40B4-BE49-F238E27FC236}">
                <a16:creationId xmlns:a16="http://schemas.microsoft.com/office/drawing/2014/main" id="{279F004E-2F40-415E-9815-CD43DE7EB7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326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00" imgH="601" progId="TCLayout.ActiveDocument.1">
                  <p:embed/>
                </p:oleObj>
              </mc:Choice>
              <mc:Fallback>
                <p:oleObj name="think-cell スライド" r:id="rId3" imgW="600" imgH="601" progId="TCLayout.ActiveDocument.1">
                  <p:embed/>
                  <p:pic>
                    <p:nvPicPr>
                      <p:cNvPr id="55" name="オブジェクト 54" hidden="1">
                        <a:extLst>
                          <a:ext uri="{FF2B5EF4-FFF2-40B4-BE49-F238E27FC236}">
                            <a16:creationId xmlns:a16="http://schemas.microsoft.com/office/drawing/2014/main" id="{279F004E-2F40-415E-9815-CD43DE7EB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F50838F9-9877-4370-8678-5529C14B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通信</a:t>
            </a:r>
            <a:r>
              <a:rPr kumimoji="1" lang="ja-JP" altLang="en-US"/>
              <a:t>上のルール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6CC3067-930E-49AB-AE87-4889B0276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2480" y="4797267"/>
            <a:ext cx="476250" cy="47625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62923FFF-9F35-45E5-826B-8F42C32EA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62129" y="1798062"/>
            <a:ext cx="357095" cy="796309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2D87995-63A8-49CF-AFC7-F69CA8F77624}"/>
              </a:ext>
            </a:extLst>
          </p:cNvPr>
          <p:cNvSpPr txBox="1"/>
          <p:nvPr/>
        </p:nvSpPr>
        <p:spPr>
          <a:xfrm>
            <a:off x="1419224" y="2096840"/>
            <a:ext cx="64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FMI</a:t>
            </a:r>
            <a:endParaRPr kumimoji="1" lang="ja-JP" altLang="en-US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CB95F78-DE9E-403A-BEA8-9675E1C09F0D}"/>
              </a:ext>
            </a:extLst>
          </p:cNvPr>
          <p:cNvCxnSpPr>
            <a:cxnSpLocks/>
          </p:cNvCxnSpPr>
          <p:nvPr/>
        </p:nvCxnSpPr>
        <p:spPr>
          <a:xfrm>
            <a:off x="1995654" y="2117230"/>
            <a:ext cx="208104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 descr="SmartVPN">
            <a:extLst>
              <a:ext uri="{FF2B5EF4-FFF2-40B4-BE49-F238E27FC236}">
                <a16:creationId xmlns:a16="http://schemas.microsoft.com/office/drawing/2014/main" id="{90111629-D9D4-4CAE-A78F-A46B039E93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934" y="1910641"/>
            <a:ext cx="720000" cy="72000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F226957-329A-4143-9278-78815E63E8E6}"/>
              </a:ext>
            </a:extLst>
          </p:cNvPr>
          <p:cNvSpPr txBox="1"/>
          <p:nvPr/>
        </p:nvSpPr>
        <p:spPr>
          <a:xfrm>
            <a:off x="4267915" y="2575321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SmartVPN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25" name="Picture 2" descr="ãazureãã®ç»åæ¤ç´¢çµæ">
            <a:extLst>
              <a:ext uri="{FF2B5EF4-FFF2-40B4-BE49-F238E27FC236}">
                <a16:creationId xmlns:a16="http://schemas.microsoft.com/office/drawing/2014/main" id="{474FE6EC-7157-46D6-9069-151A3702E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403" y="1845243"/>
            <a:ext cx="1116000" cy="57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0B6B687C-2F8B-45BE-80B1-4723E9588D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62129" y="3087629"/>
            <a:ext cx="357095" cy="796309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DC09AC0-98FF-4036-8625-70EDB3F1272F}"/>
              </a:ext>
            </a:extLst>
          </p:cNvPr>
          <p:cNvSpPr txBox="1"/>
          <p:nvPr/>
        </p:nvSpPr>
        <p:spPr>
          <a:xfrm>
            <a:off x="1419224" y="3386407"/>
            <a:ext cx="64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FMI</a:t>
            </a:r>
            <a:endParaRPr kumimoji="1" lang="ja-JP" altLang="en-US"/>
          </a:p>
        </p:txBody>
      </p:sp>
      <p:pic>
        <p:nvPicPr>
          <p:cNvPr id="30" name="図 29" descr="SmartVPN">
            <a:extLst>
              <a:ext uri="{FF2B5EF4-FFF2-40B4-BE49-F238E27FC236}">
                <a16:creationId xmlns:a16="http://schemas.microsoft.com/office/drawing/2014/main" id="{9292D2B8-EEBF-491C-8F74-CC06FADBB7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934" y="3200208"/>
            <a:ext cx="720000" cy="720000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E41A324-429B-4681-A698-9964FA1FBBCF}"/>
              </a:ext>
            </a:extLst>
          </p:cNvPr>
          <p:cNvSpPr txBox="1"/>
          <p:nvPr/>
        </p:nvSpPr>
        <p:spPr>
          <a:xfrm>
            <a:off x="4267915" y="3864888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SmartVPN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2" name="雲 31">
            <a:extLst>
              <a:ext uri="{FF2B5EF4-FFF2-40B4-BE49-F238E27FC236}">
                <a16:creationId xmlns:a16="http://schemas.microsoft.com/office/drawing/2014/main" id="{AEF74F48-6293-46EE-AE67-58AB94CA9BC4}"/>
              </a:ext>
            </a:extLst>
          </p:cNvPr>
          <p:cNvSpPr/>
          <p:nvPr/>
        </p:nvSpPr>
        <p:spPr>
          <a:xfrm>
            <a:off x="7708403" y="3432332"/>
            <a:ext cx="1152000" cy="648000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Internet</a:t>
            </a:r>
            <a:endParaRPr lang="ja-JP" altLang="en-US" sz="11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3" name="Picture 2" descr="ãazureãã®ç»åæ¤ç´¢çµæ">
            <a:extLst>
              <a:ext uri="{FF2B5EF4-FFF2-40B4-BE49-F238E27FC236}">
                <a16:creationId xmlns:a16="http://schemas.microsoft.com/office/drawing/2014/main" id="{CA7B21AA-C4CC-425B-B121-D58BC1DDA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76" y="4574713"/>
            <a:ext cx="1116000" cy="57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雲 33">
            <a:extLst>
              <a:ext uri="{FF2B5EF4-FFF2-40B4-BE49-F238E27FC236}">
                <a16:creationId xmlns:a16="http://schemas.microsoft.com/office/drawing/2014/main" id="{300A57E0-A7DD-4CF7-939E-C1AFCDF6497C}"/>
              </a:ext>
            </a:extLst>
          </p:cNvPr>
          <p:cNvSpPr/>
          <p:nvPr/>
        </p:nvSpPr>
        <p:spPr>
          <a:xfrm>
            <a:off x="4238626" y="4552800"/>
            <a:ext cx="1152000" cy="648000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Internet</a:t>
            </a:r>
            <a:endParaRPr lang="ja-JP" altLang="en-US" sz="1100">
              <a:solidFill>
                <a:prstClr val="whit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9C7E48E5-22C8-4ECD-9979-06C5A6793750}"/>
              </a:ext>
            </a:extLst>
          </p:cNvPr>
          <p:cNvCxnSpPr>
            <a:cxnSpLocks/>
          </p:cNvCxnSpPr>
          <p:nvPr/>
        </p:nvCxnSpPr>
        <p:spPr>
          <a:xfrm>
            <a:off x="1798676" y="4743450"/>
            <a:ext cx="233362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9C6C50F8-6596-49C4-8FE5-1C59C0C5451C}"/>
              </a:ext>
            </a:extLst>
          </p:cNvPr>
          <p:cNvCxnSpPr>
            <a:cxnSpLocks/>
          </p:cNvCxnSpPr>
          <p:nvPr/>
        </p:nvCxnSpPr>
        <p:spPr>
          <a:xfrm flipH="1">
            <a:off x="2143123" y="4981575"/>
            <a:ext cx="193357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図 38">
            <a:extLst>
              <a:ext uri="{FF2B5EF4-FFF2-40B4-BE49-F238E27FC236}">
                <a16:creationId xmlns:a16="http://schemas.microsoft.com/office/drawing/2014/main" id="{091D0DF3-791A-49D0-84F6-4F66372351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5123934" y="3205259"/>
            <a:ext cx="476250" cy="952500"/>
          </a:xfrm>
          <a:prstGeom prst="rect">
            <a:avLst/>
          </a:prstGeom>
        </p:spPr>
      </p:pic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5FE36394-90DD-4148-A104-644DC88D1EBE}"/>
              </a:ext>
            </a:extLst>
          </p:cNvPr>
          <p:cNvCxnSpPr>
            <a:cxnSpLocks/>
          </p:cNvCxnSpPr>
          <p:nvPr/>
        </p:nvCxnSpPr>
        <p:spPr>
          <a:xfrm flipH="1">
            <a:off x="5562767" y="3733006"/>
            <a:ext cx="204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CB2EA25E-591A-4152-8354-31192C53C6D0}"/>
              </a:ext>
            </a:extLst>
          </p:cNvPr>
          <p:cNvCxnSpPr>
            <a:cxnSpLocks/>
          </p:cNvCxnSpPr>
          <p:nvPr/>
        </p:nvCxnSpPr>
        <p:spPr>
          <a:xfrm flipH="1">
            <a:off x="2066925" y="3715840"/>
            <a:ext cx="193357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9857B839-0E97-445B-81C4-9DF1DE930598}"/>
              </a:ext>
            </a:extLst>
          </p:cNvPr>
          <p:cNvCxnSpPr>
            <a:cxnSpLocks/>
          </p:cNvCxnSpPr>
          <p:nvPr/>
        </p:nvCxnSpPr>
        <p:spPr>
          <a:xfrm>
            <a:off x="2066925" y="3476258"/>
            <a:ext cx="200977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C1397C0E-A4FC-412E-BE6D-298C8778B813}"/>
              </a:ext>
            </a:extLst>
          </p:cNvPr>
          <p:cNvCxnSpPr>
            <a:cxnSpLocks/>
          </p:cNvCxnSpPr>
          <p:nvPr/>
        </p:nvCxnSpPr>
        <p:spPr>
          <a:xfrm>
            <a:off x="5600184" y="3475891"/>
            <a:ext cx="200977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ED630F8-067E-4687-A0ED-37A74FC2B917}"/>
              </a:ext>
            </a:extLst>
          </p:cNvPr>
          <p:cNvCxnSpPr>
            <a:cxnSpLocks/>
          </p:cNvCxnSpPr>
          <p:nvPr/>
        </p:nvCxnSpPr>
        <p:spPr>
          <a:xfrm>
            <a:off x="5562767" y="2099677"/>
            <a:ext cx="200977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B3A62558-5758-46B6-855C-B3B0A0EF03F6}"/>
              </a:ext>
            </a:extLst>
          </p:cNvPr>
          <p:cNvCxnSpPr>
            <a:cxnSpLocks/>
          </p:cNvCxnSpPr>
          <p:nvPr/>
        </p:nvCxnSpPr>
        <p:spPr>
          <a:xfrm flipH="1">
            <a:off x="5562767" y="2281506"/>
            <a:ext cx="204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94BFB05F-64C4-430D-9A8C-B0A6D63E31CB}"/>
              </a:ext>
            </a:extLst>
          </p:cNvPr>
          <p:cNvCxnSpPr>
            <a:cxnSpLocks/>
          </p:cNvCxnSpPr>
          <p:nvPr/>
        </p:nvCxnSpPr>
        <p:spPr>
          <a:xfrm flipH="1">
            <a:off x="1995654" y="2298422"/>
            <a:ext cx="204718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吹き出し: 角を丸めた四角形 51">
            <a:extLst>
              <a:ext uri="{FF2B5EF4-FFF2-40B4-BE49-F238E27FC236}">
                <a16:creationId xmlns:a16="http://schemas.microsoft.com/office/drawing/2014/main" id="{270239E8-18D4-4747-BBDB-8EF0BF621249}"/>
              </a:ext>
            </a:extLst>
          </p:cNvPr>
          <p:cNvSpPr/>
          <p:nvPr/>
        </p:nvSpPr>
        <p:spPr>
          <a:xfrm>
            <a:off x="5857875" y="4797267"/>
            <a:ext cx="3924300" cy="1222532"/>
          </a:xfrm>
          <a:prstGeom prst="wedgeRoundRectCallout">
            <a:avLst>
              <a:gd name="adj1" fmla="val -60969"/>
              <a:gd name="adj2" fmla="val -3429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400"/>
              <a:t>Azure</a:t>
            </a:r>
            <a:r>
              <a:rPr lang="en-US" altLang="ja-JP" sz="1400"/>
              <a:t>-</a:t>
            </a:r>
            <a:r>
              <a:rPr kumimoji="1" lang="en-US" altLang="ja-JP" sz="1400"/>
              <a:t>Internet</a:t>
            </a:r>
            <a:r>
              <a:rPr kumimoji="1" lang="ja-JP" altLang="en-US" sz="1400"/>
              <a:t>は</a:t>
            </a:r>
            <a:r>
              <a:rPr kumimoji="1" lang="en-US" altLang="ja-JP" sz="1400"/>
              <a:t>SmartVPN</a:t>
            </a:r>
            <a:r>
              <a:rPr kumimoji="1" lang="ja-JP" altLang="en-US" sz="1400"/>
              <a:t>を経由しない</a:t>
            </a:r>
            <a:endParaRPr kumimoji="1" lang="en-US" altLang="ja-JP" sz="1400"/>
          </a:p>
          <a:p>
            <a:r>
              <a:rPr lang="en-US" altLang="ja-JP" sz="1400"/>
              <a:t>Azure</a:t>
            </a:r>
            <a:r>
              <a:rPr lang="ja-JP" altLang="en-US" sz="1400"/>
              <a:t>→</a:t>
            </a:r>
            <a:r>
              <a:rPr lang="en-US" altLang="ja-JP" sz="1400"/>
              <a:t>internet</a:t>
            </a:r>
            <a:r>
              <a:rPr lang="ja-JP" altLang="en-US" sz="1400"/>
              <a:t>は特に制限なし</a:t>
            </a:r>
            <a:endParaRPr lang="en-US" altLang="ja-JP" sz="1400"/>
          </a:p>
          <a:p>
            <a:r>
              <a:rPr lang="en-US" altLang="ja-JP" sz="1400">
                <a:highlight>
                  <a:srgbClr val="FFFF00"/>
                </a:highlight>
              </a:rPr>
              <a:t>Internet</a:t>
            </a:r>
            <a:r>
              <a:rPr lang="ja-JP" altLang="en-US" sz="1400">
                <a:highlight>
                  <a:srgbClr val="FFFF00"/>
                </a:highlight>
              </a:rPr>
              <a:t>→</a:t>
            </a:r>
            <a:r>
              <a:rPr lang="en-US" altLang="ja-JP" sz="1400">
                <a:highlight>
                  <a:srgbClr val="FFFF00"/>
                </a:highlight>
              </a:rPr>
              <a:t>Azure</a:t>
            </a:r>
            <a:r>
              <a:rPr lang="ja-JP" altLang="en-US" sz="1400">
                <a:highlight>
                  <a:srgbClr val="FFFF00"/>
                </a:highlight>
              </a:rPr>
              <a:t>はブロック（*一部通信許可）</a:t>
            </a:r>
            <a:endParaRPr lang="en-US" altLang="ja-JP" sz="1400">
              <a:highlight>
                <a:srgbClr val="FFFF00"/>
              </a:highlight>
            </a:endParaRPr>
          </a:p>
          <a:p>
            <a:r>
              <a:rPr kumimoji="1" lang="ja-JP" altLang="en-US" sz="1400"/>
              <a:t>現状、トラフィックログを収集していない</a:t>
            </a:r>
          </a:p>
        </p:txBody>
      </p:sp>
      <p:sp>
        <p:nvSpPr>
          <p:cNvPr id="53" name="吹き出し: 角を丸めた四角形 52">
            <a:extLst>
              <a:ext uri="{FF2B5EF4-FFF2-40B4-BE49-F238E27FC236}">
                <a16:creationId xmlns:a16="http://schemas.microsoft.com/office/drawing/2014/main" id="{DC8B0CB6-99D3-4E96-ABBA-9DE2F583A5B2}"/>
              </a:ext>
            </a:extLst>
          </p:cNvPr>
          <p:cNvSpPr/>
          <p:nvPr/>
        </p:nvSpPr>
        <p:spPr>
          <a:xfrm>
            <a:off x="9105899" y="3408845"/>
            <a:ext cx="2886076" cy="1143000"/>
          </a:xfrm>
          <a:prstGeom prst="wedgeRoundRectCallout">
            <a:avLst>
              <a:gd name="adj1" fmla="val -60969"/>
              <a:gd name="adj2" fmla="val -3429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/>
              <a:t>社内→</a:t>
            </a:r>
            <a:r>
              <a:rPr lang="en-US" altLang="ja-JP" sz="1400"/>
              <a:t>internet</a:t>
            </a:r>
            <a:r>
              <a:rPr lang="ja-JP" altLang="en-US" sz="1400"/>
              <a:t>は</a:t>
            </a:r>
            <a:r>
              <a:rPr lang="en-US" altLang="ja-JP" sz="1400"/>
              <a:t>SmartVPN</a:t>
            </a:r>
            <a:r>
              <a:rPr lang="ja-JP" altLang="en-US" sz="1400"/>
              <a:t>経由</a:t>
            </a:r>
            <a:endParaRPr lang="en-US" altLang="ja-JP" sz="1400"/>
          </a:p>
          <a:p>
            <a:r>
              <a:rPr lang="en-US" altLang="ja-JP" sz="1400">
                <a:highlight>
                  <a:srgbClr val="FFFF00"/>
                </a:highlight>
              </a:rPr>
              <a:t>Internet</a:t>
            </a:r>
            <a:r>
              <a:rPr lang="ja-JP" altLang="en-US" sz="1400">
                <a:highlight>
                  <a:srgbClr val="FFFF00"/>
                </a:highlight>
              </a:rPr>
              <a:t>→社内はブロック</a:t>
            </a:r>
            <a:endParaRPr lang="en-US" altLang="ja-JP" sz="1400">
              <a:highlight>
                <a:srgbClr val="FFFF00"/>
              </a:highlight>
            </a:endParaRPr>
          </a:p>
          <a:p>
            <a:r>
              <a:rPr kumimoji="1" lang="en-US" altLang="ja-JP" sz="1400"/>
              <a:t>VPN</a:t>
            </a:r>
            <a:r>
              <a:rPr kumimoji="1" lang="ja-JP" altLang="en-US" sz="1400"/>
              <a:t>経由</a:t>
            </a:r>
            <a:r>
              <a:rPr kumimoji="1" lang="en-US" altLang="ja-JP" sz="1400"/>
              <a:t>Internet</a:t>
            </a:r>
            <a:r>
              <a:rPr kumimoji="1" lang="ja-JP" altLang="en-US" sz="1400"/>
              <a:t>は</a:t>
            </a:r>
            <a:r>
              <a:rPr lang="en-US" altLang="ja-JP" sz="1400"/>
              <a:t>SmartVPN</a:t>
            </a:r>
            <a:r>
              <a:rPr lang="ja-JP" altLang="en-US" sz="1400"/>
              <a:t>網（社内</a:t>
            </a:r>
            <a:r>
              <a:rPr lang="en-US" altLang="ja-JP" sz="1400"/>
              <a:t>/Azure</a:t>
            </a:r>
            <a:r>
              <a:rPr lang="ja-JP" altLang="en-US" sz="1400"/>
              <a:t>）への通信を許可</a:t>
            </a:r>
            <a:endParaRPr kumimoji="1" lang="ja-JP" altLang="en-US" sz="1400"/>
          </a:p>
        </p:txBody>
      </p:sp>
      <p:sp>
        <p:nvSpPr>
          <p:cNvPr id="54" name="吹き出し: 角を丸めた四角形 53">
            <a:extLst>
              <a:ext uri="{FF2B5EF4-FFF2-40B4-BE49-F238E27FC236}">
                <a16:creationId xmlns:a16="http://schemas.microsoft.com/office/drawing/2014/main" id="{C0E047BE-B047-4C38-A640-1BB3AEF6FFF9}"/>
              </a:ext>
            </a:extLst>
          </p:cNvPr>
          <p:cNvSpPr/>
          <p:nvPr/>
        </p:nvSpPr>
        <p:spPr>
          <a:xfrm>
            <a:off x="9208294" y="1950540"/>
            <a:ext cx="2886076" cy="925403"/>
          </a:xfrm>
          <a:prstGeom prst="wedgeRoundRectCallout">
            <a:avLst>
              <a:gd name="adj1" fmla="val -60969"/>
              <a:gd name="adj2" fmla="val -3429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/>
              <a:t>社内→</a:t>
            </a:r>
            <a:r>
              <a:rPr lang="en-US" altLang="ja-JP" sz="1400"/>
              <a:t>Azure</a:t>
            </a:r>
            <a:r>
              <a:rPr lang="ja-JP" altLang="en-US" sz="1400"/>
              <a:t>は</a:t>
            </a:r>
            <a:r>
              <a:rPr lang="en-US" altLang="ja-JP" sz="1400"/>
              <a:t>SmartVPN</a:t>
            </a:r>
            <a:r>
              <a:rPr lang="ja-JP" altLang="en-US" sz="1400"/>
              <a:t>経由</a:t>
            </a:r>
            <a:endParaRPr lang="en-US" altLang="ja-JP" sz="1400"/>
          </a:p>
          <a:p>
            <a:r>
              <a:rPr lang="ja-JP" altLang="en-US" sz="1400"/>
              <a:t>社内→</a:t>
            </a:r>
            <a:r>
              <a:rPr lang="en-US" altLang="ja-JP" sz="1400"/>
              <a:t>Azure</a:t>
            </a:r>
            <a:r>
              <a:rPr lang="ja-JP" altLang="en-US" sz="1400"/>
              <a:t>は通信制限なし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393162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7523DA10-A7D1-4E20-A926-9596761B19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7523DA10-A7D1-4E20-A926-9596761B1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1F882B7D-EEA1-4A56-BD68-82ED7731FF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en-US" altLang="ja-JP" sz="2800" b="1">
              <a:solidFill>
                <a:prstClr val="white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959B6943-E087-4078-AB9F-DF4807EA7A71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8665880" y="4911349"/>
            <a:ext cx="3055" cy="928877"/>
          </a:xfrm>
          <a:prstGeom prst="line">
            <a:avLst/>
          </a:prstGeom>
          <a:ln w="127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正方形/長方形 119"/>
          <p:cNvSpPr/>
          <p:nvPr/>
        </p:nvSpPr>
        <p:spPr>
          <a:xfrm>
            <a:off x="663630" y="764895"/>
            <a:ext cx="3187149" cy="2301751"/>
          </a:xfrm>
          <a:prstGeom prst="rect">
            <a:avLst/>
          </a:prstGeom>
          <a:solidFill>
            <a:schemeClr val="accent1">
              <a:alpha val="18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FMI</a:t>
            </a:r>
            <a:r>
              <a:rPr lang="ja-JP" altLang="en-US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100" b="1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六本木）</a:t>
            </a: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8B5EF6FA-995B-4819-B416-316AB31B4EB8}"/>
              </a:ext>
            </a:extLst>
          </p:cNvPr>
          <p:cNvSpPr/>
          <p:nvPr/>
        </p:nvSpPr>
        <p:spPr>
          <a:xfrm>
            <a:off x="707805" y="3396525"/>
            <a:ext cx="1498381" cy="61942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10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大阪支店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698177" y="6269205"/>
            <a:ext cx="1498382" cy="428644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FMSI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 上海*</a:t>
            </a:r>
          </a:p>
        </p:txBody>
      </p:sp>
      <p:sp>
        <p:nvSpPr>
          <p:cNvPr id="11" name="雲 10"/>
          <p:cNvSpPr/>
          <p:nvPr/>
        </p:nvSpPr>
        <p:spPr>
          <a:xfrm>
            <a:off x="7229236" y="1324831"/>
            <a:ext cx="1260000" cy="647700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200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rPr>
              <a:t>Internet</a:t>
            </a:r>
            <a:endParaRPr lang="ja-JP" altLang="en-US" sz="120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17" name="カギ線コネクタ 16"/>
          <p:cNvCxnSpPr>
            <a:cxnSpLocks/>
            <a:stCxn id="11" idx="1"/>
            <a:endCxn id="9" idx="3"/>
          </p:cNvCxnSpPr>
          <p:nvPr/>
        </p:nvCxnSpPr>
        <p:spPr>
          <a:xfrm rot="5400000">
            <a:off x="2772055" y="1396346"/>
            <a:ext cx="4511686" cy="56626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正方形/長方形 171"/>
          <p:cNvSpPr/>
          <p:nvPr/>
        </p:nvSpPr>
        <p:spPr>
          <a:xfrm>
            <a:off x="698177" y="5702131"/>
            <a:ext cx="1526565" cy="41924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シンガポール*</a:t>
            </a:r>
          </a:p>
        </p:txBody>
      </p:sp>
      <p:cxnSp>
        <p:nvCxnSpPr>
          <p:cNvPr id="177" name="カギ線コネクタ 176"/>
          <p:cNvCxnSpPr>
            <a:cxnSpLocks/>
            <a:stCxn id="11" idx="1"/>
            <a:endCxn id="172" idx="3"/>
          </p:cNvCxnSpPr>
          <p:nvPr/>
        </p:nvCxnSpPr>
        <p:spPr>
          <a:xfrm rot="5400000">
            <a:off x="3072032" y="1124551"/>
            <a:ext cx="3939914" cy="56344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タイトル 17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09574"/>
          </a:xfrm>
        </p:spPr>
        <p:txBody>
          <a:bodyPr>
            <a:noAutofit/>
          </a:bodyPr>
          <a:lstStyle/>
          <a:p>
            <a:r>
              <a:rPr lang="en-US" altLang="ja-JP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FMI NW</a:t>
            </a:r>
            <a:r>
              <a:rPr lang="ja-JP" altLang="en-US" sz="2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構成図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6300999"/>
            <a:ext cx="396000" cy="396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2338685" y="6572290"/>
            <a:ext cx="3689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*インターネットはレンタルオフィス経由</a:t>
            </a:r>
            <a:r>
              <a:rPr lang="en-US" altLang="ja-JP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/</a:t>
            </a: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本社とは</a:t>
            </a:r>
            <a:r>
              <a:rPr lang="en-US" altLang="ja-JP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SRA2</a:t>
            </a:r>
            <a:r>
              <a:rPr lang="ja-JP" altLang="en-US" sz="8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を利用してアクセス</a:t>
            </a: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81686" y="75602"/>
            <a:ext cx="2473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【2023</a:t>
            </a:r>
            <a:r>
              <a:rPr lang="ja-JP" altLang="en-US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年</a:t>
            </a: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lang="ja-JP" altLang="en-US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月時点</a:t>
            </a:r>
            <a:r>
              <a:rPr lang="en-US" altLang="ja-JP" sz="11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endParaRPr lang="ja-JP" altLang="en-US" sz="11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67" name="図 6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5697699"/>
            <a:ext cx="396000" cy="396000"/>
          </a:xfrm>
          <a:prstGeom prst="rect">
            <a:avLst/>
          </a:prstGeom>
        </p:spPr>
      </p:pic>
      <p:sp>
        <p:nvSpPr>
          <p:cNvPr id="74" name="正方形/長方形 73"/>
          <p:cNvSpPr/>
          <p:nvPr/>
        </p:nvSpPr>
        <p:spPr>
          <a:xfrm>
            <a:off x="698177" y="5129508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ニューヨーク*</a:t>
            </a:r>
          </a:p>
        </p:txBody>
      </p:sp>
      <p:pic>
        <p:nvPicPr>
          <p:cNvPr id="75" name="図 7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5116843"/>
            <a:ext cx="396000" cy="396000"/>
          </a:xfrm>
          <a:prstGeom prst="rect">
            <a:avLst/>
          </a:prstGeom>
        </p:spPr>
      </p:pic>
      <p:cxnSp>
        <p:nvCxnSpPr>
          <p:cNvPr id="76" name="カギ線コネクタ 75"/>
          <p:cNvCxnSpPr>
            <a:cxnSpLocks/>
            <a:stCxn id="11" idx="1"/>
            <a:endCxn id="74" idx="3"/>
          </p:cNvCxnSpPr>
          <p:nvPr/>
        </p:nvCxnSpPr>
        <p:spPr>
          <a:xfrm rot="5400000">
            <a:off x="3363941" y="832642"/>
            <a:ext cx="3356096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 descr="\\fmisv105\Users02$\totsuka\download\Image\Microsoft_CloudnEnterprise_Symbols_v2.7KP\Symbols\CnE_Cloud\PNG\Azure DNS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387" y="19162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正方形/長方形 86"/>
          <p:cNvSpPr/>
          <p:nvPr/>
        </p:nvSpPr>
        <p:spPr>
          <a:xfrm>
            <a:off x="8425338" y="3539889"/>
            <a:ext cx="3608151" cy="2465405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endParaRPr lang="ja-JP" altLang="en-US" sz="100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pic>
        <p:nvPicPr>
          <p:cNvPr id="88" name="Picture 6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920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ãazureãã®ç»åæ¤ç´¢çµæ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972" y="3346186"/>
            <a:ext cx="1132168" cy="58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線コネクタ 94"/>
          <p:cNvCxnSpPr>
            <a:cxnSpLocks/>
          </p:cNvCxnSpPr>
          <p:nvPr/>
        </p:nvCxnSpPr>
        <p:spPr>
          <a:xfrm>
            <a:off x="8563998" y="4267226"/>
            <a:ext cx="3317043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テキスト ボックス 95"/>
          <p:cNvSpPr txBox="1"/>
          <p:nvPr/>
        </p:nvSpPr>
        <p:spPr>
          <a:xfrm>
            <a:off x="8600414" y="4623133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勘定奉行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99" name="Picture 5" descr="\\fmisv105\Users02$\totsuka\download\Image\Microsoft_CloudnEnterprise_Symbols_v2.7KP\Symbols\CnE_Cloud\PNG\Azure VPN Gateway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880" y="455134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" name="テキスト ボックス 107"/>
          <p:cNvSpPr txBox="1"/>
          <p:nvPr/>
        </p:nvSpPr>
        <p:spPr>
          <a:xfrm>
            <a:off x="8644484" y="4028464"/>
            <a:ext cx="112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10.10.1.0/24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21" name="直線コネクタ 120"/>
          <p:cNvCxnSpPr>
            <a:cxnSpLocks/>
          </p:cNvCxnSpPr>
          <p:nvPr/>
        </p:nvCxnSpPr>
        <p:spPr>
          <a:xfrm>
            <a:off x="854930" y="1625949"/>
            <a:ext cx="2493120" cy="12252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3" descr="\\fmisv105\Users02$\totsuka\download\Image\Microsoft_CloudnEnterprise_Symbols_v2.7KP\Symbols\CnE_Enterprise\Domain controller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768" y="114911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7" name="直線コネクタ 136"/>
          <p:cNvCxnSpPr/>
          <p:nvPr/>
        </p:nvCxnSpPr>
        <p:spPr>
          <a:xfrm>
            <a:off x="8563998" y="5831226"/>
            <a:ext cx="2755824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テキスト ボックス 138"/>
          <p:cNvSpPr txBox="1"/>
          <p:nvPr/>
        </p:nvSpPr>
        <p:spPr>
          <a:xfrm>
            <a:off x="9272033" y="4623133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WSUS</a:t>
            </a:r>
          </a:p>
        </p:txBody>
      </p:sp>
      <p:pic>
        <p:nvPicPr>
          <p:cNvPr id="141" name="Picture 3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626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3" descr="\\fmisv105\Users02$\totsuka\download\Image\Microsoft_CloudnEnterprise_Symbols_v2.7KP\Symbols\CnE_Cloud\PNG\Azure Virtual Mach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332" y="546019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テキスト ボックス 142"/>
          <p:cNvSpPr txBox="1"/>
          <p:nvPr/>
        </p:nvSpPr>
        <p:spPr>
          <a:xfrm>
            <a:off x="8632589" y="5633523"/>
            <a:ext cx="13468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DMZ 10.10.254.0/24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1707071" y="919042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Backup</a:t>
            </a:r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1215759" y="934984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</a:t>
            </a:r>
          </a:p>
        </p:txBody>
      </p:sp>
      <p:pic>
        <p:nvPicPr>
          <p:cNvPr id="1028" name="Picture 4" descr="\\fmisv105\Users02$\totsuka\download\Image\Microsoft_CloudnEnterprise_Symbols_v2.7KP\Symbols\CnE_Cloud\PNG\Cloud, Office 365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68" y="143688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6684A834-3289-47C4-A0DD-1E750FB82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332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EDE485A6-AAE1-446E-BA34-C95CE7A0DCA9}"/>
              </a:ext>
            </a:extLst>
          </p:cNvPr>
          <p:cNvSpPr txBox="1"/>
          <p:nvPr/>
        </p:nvSpPr>
        <p:spPr>
          <a:xfrm>
            <a:off x="9706986" y="4623133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D365bat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F57504F1-B835-4163-BDD9-88B41C9F0DB2}"/>
              </a:ext>
            </a:extLst>
          </p:cNvPr>
          <p:cNvSpPr txBox="1"/>
          <p:nvPr/>
        </p:nvSpPr>
        <p:spPr>
          <a:xfrm>
            <a:off x="636770" y="3147484"/>
            <a:ext cx="1292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211.121.116.230/32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30" name="直線コネクタ 129">
            <a:extLst>
              <a:ext uri="{FF2B5EF4-FFF2-40B4-BE49-F238E27FC236}">
                <a16:creationId xmlns:a16="http://schemas.microsoft.com/office/drawing/2014/main" id="{C3859290-CA3E-4965-9C5F-4E2F42CB9651}"/>
              </a:ext>
            </a:extLst>
          </p:cNvPr>
          <p:cNvCxnSpPr/>
          <p:nvPr/>
        </p:nvCxnSpPr>
        <p:spPr>
          <a:xfrm>
            <a:off x="1010464" y="3890357"/>
            <a:ext cx="1039331" cy="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04A72F43-53D8-4EDF-B20F-B40E223CC5A2}"/>
              </a:ext>
            </a:extLst>
          </p:cNvPr>
          <p:cNvSpPr txBox="1"/>
          <p:nvPr/>
        </p:nvSpPr>
        <p:spPr>
          <a:xfrm>
            <a:off x="713522" y="3622105"/>
            <a:ext cx="1019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900">
                <a:solidFill>
                  <a:prstClr val="black"/>
                </a:solidFill>
                <a:latin typeface="Arial" pitchFamily="34" charset="0"/>
                <a:ea typeface="ＭＳ Ｐゴシック" pitchFamily="50" charset="-128"/>
              </a:rPr>
              <a:t>192.168.10.0/24</a:t>
            </a:r>
            <a:endParaRPr lang="ja-JP" altLang="en-US" sz="900">
              <a:solidFill>
                <a:prstClr val="black"/>
              </a:solidFill>
              <a:latin typeface="Verdana" panose="020B0604030504040204" pitchFamily="34" charset="0"/>
              <a:ea typeface="ＭＳ Ｐゴシック" pitchFamily="50" charset="-128"/>
            </a:endParaRPr>
          </a:p>
        </p:txBody>
      </p:sp>
      <p:sp>
        <p:nvSpPr>
          <p:cNvPr id="147" name="Firewall">
            <a:extLst>
              <a:ext uri="{FF2B5EF4-FFF2-40B4-BE49-F238E27FC236}">
                <a16:creationId xmlns:a16="http://schemas.microsoft.com/office/drawing/2014/main" id="{DA17F0CB-D9C2-4AD3-B07A-6379CAA13E4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89978" y="3487351"/>
            <a:ext cx="299467" cy="246992"/>
          </a:xfrm>
          <a:custGeom>
            <a:avLst/>
            <a:gdLst>
              <a:gd name="T0" fmla="*/ 0 w 21600"/>
              <a:gd name="T1" fmla="*/ 0 h 21600"/>
              <a:gd name="T2" fmla="*/ 10800 w 21600"/>
              <a:gd name="T3" fmla="*/ 0 h 21600"/>
              <a:gd name="T4" fmla="*/ 21600 w 21600"/>
              <a:gd name="T5" fmla="*/ 0 h 21600"/>
              <a:gd name="T6" fmla="*/ 21060 w 21600"/>
              <a:gd name="T7" fmla="*/ 10800 h 21600"/>
              <a:gd name="T8" fmla="*/ 21060 w 21600"/>
              <a:gd name="T9" fmla="*/ 21600 h 21600"/>
              <a:gd name="T10" fmla="*/ 10800 w 21600"/>
              <a:gd name="T11" fmla="*/ 21600 h 21600"/>
              <a:gd name="T12" fmla="*/ 540 w 21600"/>
              <a:gd name="T13" fmla="*/ 21600 h 21600"/>
              <a:gd name="T14" fmla="*/ 540 w 21600"/>
              <a:gd name="T15" fmla="*/ 10800 h 21600"/>
              <a:gd name="T16" fmla="*/ 761 w 21600"/>
              <a:gd name="T17" fmla="*/ 22454 h 21600"/>
              <a:gd name="T18" fmla="*/ 21069 w 21600"/>
              <a:gd name="T19" fmla="*/ 32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 extrusionOk="0">
                <a:moveTo>
                  <a:pt x="540" y="4628"/>
                </a:moveTo>
                <a:lnTo>
                  <a:pt x="0" y="4628"/>
                </a:lnTo>
                <a:lnTo>
                  <a:pt x="0" y="0"/>
                </a:lnTo>
                <a:lnTo>
                  <a:pt x="21600" y="0"/>
                </a:lnTo>
                <a:lnTo>
                  <a:pt x="21600" y="4628"/>
                </a:lnTo>
                <a:lnTo>
                  <a:pt x="21060" y="4628"/>
                </a:lnTo>
                <a:lnTo>
                  <a:pt x="21060" y="21600"/>
                </a:lnTo>
                <a:lnTo>
                  <a:pt x="540" y="21600"/>
                </a:lnTo>
                <a:lnTo>
                  <a:pt x="540" y="4628"/>
                </a:lnTo>
                <a:close/>
              </a:path>
              <a:path w="21600" h="21600" extrusionOk="0">
                <a:moveTo>
                  <a:pt x="540" y="4628"/>
                </a:moveTo>
                <a:lnTo>
                  <a:pt x="540" y="6171"/>
                </a:lnTo>
                <a:lnTo>
                  <a:pt x="2700" y="6171"/>
                </a:lnTo>
                <a:lnTo>
                  <a:pt x="2700" y="4628"/>
                </a:lnTo>
                <a:lnTo>
                  <a:pt x="540" y="4628"/>
                </a:lnTo>
                <a:close/>
              </a:path>
              <a:path w="21600" h="21600" extrusionOk="0">
                <a:moveTo>
                  <a:pt x="2700" y="4628"/>
                </a:moveTo>
                <a:lnTo>
                  <a:pt x="2700" y="6171"/>
                </a:lnTo>
                <a:lnTo>
                  <a:pt x="4860" y="6171"/>
                </a:lnTo>
                <a:lnTo>
                  <a:pt x="4860" y="4628"/>
                </a:lnTo>
                <a:lnTo>
                  <a:pt x="2700" y="4628"/>
                </a:lnTo>
                <a:close/>
              </a:path>
              <a:path w="21600" h="21600" extrusionOk="0">
                <a:moveTo>
                  <a:pt x="4860" y="4628"/>
                </a:moveTo>
                <a:lnTo>
                  <a:pt x="4860" y="6171"/>
                </a:lnTo>
                <a:lnTo>
                  <a:pt x="7020" y="6171"/>
                </a:lnTo>
                <a:lnTo>
                  <a:pt x="7020" y="4628"/>
                </a:lnTo>
                <a:lnTo>
                  <a:pt x="4860" y="4628"/>
                </a:lnTo>
                <a:close/>
              </a:path>
              <a:path w="21600" h="21600" extrusionOk="0">
                <a:moveTo>
                  <a:pt x="7020" y="4628"/>
                </a:moveTo>
                <a:lnTo>
                  <a:pt x="7020" y="6171"/>
                </a:lnTo>
                <a:lnTo>
                  <a:pt x="9180" y="6171"/>
                </a:lnTo>
                <a:lnTo>
                  <a:pt x="9180" y="4628"/>
                </a:lnTo>
                <a:lnTo>
                  <a:pt x="7020" y="4628"/>
                </a:lnTo>
                <a:close/>
              </a:path>
              <a:path w="21600" h="21600" extrusionOk="0">
                <a:moveTo>
                  <a:pt x="9180" y="4628"/>
                </a:moveTo>
                <a:lnTo>
                  <a:pt x="9180" y="6171"/>
                </a:lnTo>
                <a:lnTo>
                  <a:pt x="11340" y="6171"/>
                </a:lnTo>
                <a:lnTo>
                  <a:pt x="11340" y="4628"/>
                </a:lnTo>
                <a:lnTo>
                  <a:pt x="9180" y="4628"/>
                </a:lnTo>
                <a:close/>
              </a:path>
              <a:path w="21600" h="21600" extrusionOk="0">
                <a:moveTo>
                  <a:pt x="11340" y="4628"/>
                </a:moveTo>
                <a:lnTo>
                  <a:pt x="11340" y="6171"/>
                </a:lnTo>
                <a:lnTo>
                  <a:pt x="13500" y="6171"/>
                </a:lnTo>
                <a:lnTo>
                  <a:pt x="13500" y="4628"/>
                </a:lnTo>
                <a:lnTo>
                  <a:pt x="11340" y="4628"/>
                </a:lnTo>
                <a:close/>
              </a:path>
              <a:path w="21600" h="21600" extrusionOk="0">
                <a:moveTo>
                  <a:pt x="13500" y="4628"/>
                </a:moveTo>
                <a:lnTo>
                  <a:pt x="13500" y="6171"/>
                </a:lnTo>
                <a:lnTo>
                  <a:pt x="15660" y="6171"/>
                </a:lnTo>
                <a:lnTo>
                  <a:pt x="15660" y="4628"/>
                </a:lnTo>
                <a:lnTo>
                  <a:pt x="13500" y="4628"/>
                </a:lnTo>
                <a:close/>
              </a:path>
              <a:path w="21600" h="21600" extrusionOk="0">
                <a:moveTo>
                  <a:pt x="15660" y="4628"/>
                </a:moveTo>
                <a:lnTo>
                  <a:pt x="15660" y="6171"/>
                </a:lnTo>
                <a:lnTo>
                  <a:pt x="17820" y="6171"/>
                </a:lnTo>
                <a:lnTo>
                  <a:pt x="17820" y="4628"/>
                </a:lnTo>
                <a:lnTo>
                  <a:pt x="15660" y="4628"/>
                </a:lnTo>
                <a:close/>
              </a:path>
              <a:path w="21600" h="21600" extrusionOk="0">
                <a:moveTo>
                  <a:pt x="17820" y="4628"/>
                </a:moveTo>
                <a:lnTo>
                  <a:pt x="17820" y="6171"/>
                </a:lnTo>
                <a:lnTo>
                  <a:pt x="19980" y="6171"/>
                </a:lnTo>
                <a:lnTo>
                  <a:pt x="19980" y="4628"/>
                </a:lnTo>
                <a:lnTo>
                  <a:pt x="17820" y="4628"/>
                </a:lnTo>
                <a:close/>
              </a:path>
              <a:path w="21600" h="21600" extrusionOk="0">
                <a:moveTo>
                  <a:pt x="1620" y="6171"/>
                </a:moveTo>
                <a:lnTo>
                  <a:pt x="1620" y="7714"/>
                </a:lnTo>
                <a:lnTo>
                  <a:pt x="3779" y="7714"/>
                </a:lnTo>
                <a:lnTo>
                  <a:pt x="3779" y="6171"/>
                </a:lnTo>
                <a:lnTo>
                  <a:pt x="1620" y="6171"/>
                </a:lnTo>
                <a:close/>
              </a:path>
              <a:path w="21600" h="21600" extrusionOk="0">
                <a:moveTo>
                  <a:pt x="3779" y="6171"/>
                </a:moveTo>
                <a:lnTo>
                  <a:pt x="3779" y="7714"/>
                </a:lnTo>
                <a:lnTo>
                  <a:pt x="5940" y="7714"/>
                </a:lnTo>
                <a:lnTo>
                  <a:pt x="5940" y="6171"/>
                </a:lnTo>
                <a:lnTo>
                  <a:pt x="3779" y="6171"/>
                </a:lnTo>
                <a:close/>
              </a:path>
              <a:path w="21600" h="21600" extrusionOk="0">
                <a:moveTo>
                  <a:pt x="5940" y="6171"/>
                </a:moveTo>
                <a:lnTo>
                  <a:pt x="5940" y="7714"/>
                </a:lnTo>
                <a:lnTo>
                  <a:pt x="8100" y="7714"/>
                </a:lnTo>
                <a:lnTo>
                  <a:pt x="8100" y="6171"/>
                </a:lnTo>
                <a:lnTo>
                  <a:pt x="5940" y="6171"/>
                </a:lnTo>
                <a:close/>
              </a:path>
              <a:path w="21600" h="21600" extrusionOk="0">
                <a:moveTo>
                  <a:pt x="8100" y="6171"/>
                </a:moveTo>
                <a:lnTo>
                  <a:pt x="8100" y="7714"/>
                </a:lnTo>
                <a:lnTo>
                  <a:pt x="10260" y="7714"/>
                </a:lnTo>
                <a:lnTo>
                  <a:pt x="10260" y="6171"/>
                </a:lnTo>
                <a:lnTo>
                  <a:pt x="8100" y="6171"/>
                </a:lnTo>
                <a:close/>
              </a:path>
              <a:path w="21600" h="21600" extrusionOk="0">
                <a:moveTo>
                  <a:pt x="10260" y="6171"/>
                </a:moveTo>
                <a:lnTo>
                  <a:pt x="10260" y="7714"/>
                </a:lnTo>
                <a:lnTo>
                  <a:pt x="12419" y="7714"/>
                </a:lnTo>
                <a:lnTo>
                  <a:pt x="12419" y="6171"/>
                </a:lnTo>
                <a:lnTo>
                  <a:pt x="10260" y="6171"/>
                </a:lnTo>
                <a:close/>
              </a:path>
              <a:path w="21600" h="21600" extrusionOk="0">
                <a:moveTo>
                  <a:pt x="12419" y="6171"/>
                </a:moveTo>
                <a:lnTo>
                  <a:pt x="12419" y="7714"/>
                </a:lnTo>
                <a:lnTo>
                  <a:pt x="14580" y="7714"/>
                </a:lnTo>
                <a:lnTo>
                  <a:pt x="14580" y="6171"/>
                </a:lnTo>
                <a:lnTo>
                  <a:pt x="12419" y="6171"/>
                </a:lnTo>
                <a:close/>
              </a:path>
              <a:path w="21600" h="21600" extrusionOk="0">
                <a:moveTo>
                  <a:pt x="14580" y="6171"/>
                </a:moveTo>
                <a:lnTo>
                  <a:pt x="14580" y="7714"/>
                </a:lnTo>
                <a:lnTo>
                  <a:pt x="16740" y="7714"/>
                </a:lnTo>
                <a:lnTo>
                  <a:pt x="16740" y="6171"/>
                </a:lnTo>
                <a:lnTo>
                  <a:pt x="14580" y="6171"/>
                </a:lnTo>
                <a:close/>
              </a:path>
              <a:path w="21600" h="21600" extrusionOk="0">
                <a:moveTo>
                  <a:pt x="16740" y="6171"/>
                </a:moveTo>
                <a:lnTo>
                  <a:pt x="16740" y="7714"/>
                </a:lnTo>
                <a:lnTo>
                  <a:pt x="18900" y="7714"/>
                </a:lnTo>
                <a:lnTo>
                  <a:pt x="18900" y="6171"/>
                </a:lnTo>
                <a:lnTo>
                  <a:pt x="16740" y="6171"/>
                </a:lnTo>
                <a:close/>
              </a:path>
              <a:path w="21600" h="21600" extrusionOk="0">
                <a:moveTo>
                  <a:pt x="18900" y="6171"/>
                </a:moveTo>
                <a:lnTo>
                  <a:pt x="18900" y="7714"/>
                </a:lnTo>
                <a:lnTo>
                  <a:pt x="21060" y="7714"/>
                </a:lnTo>
                <a:lnTo>
                  <a:pt x="21060" y="6171"/>
                </a:lnTo>
                <a:lnTo>
                  <a:pt x="18900" y="6171"/>
                </a:lnTo>
                <a:close/>
              </a:path>
              <a:path w="21600" h="21600" extrusionOk="0">
                <a:moveTo>
                  <a:pt x="540" y="7714"/>
                </a:moveTo>
                <a:lnTo>
                  <a:pt x="540" y="9257"/>
                </a:lnTo>
                <a:lnTo>
                  <a:pt x="2700" y="9257"/>
                </a:lnTo>
                <a:lnTo>
                  <a:pt x="2700" y="7714"/>
                </a:lnTo>
                <a:lnTo>
                  <a:pt x="540" y="7714"/>
                </a:lnTo>
                <a:close/>
              </a:path>
              <a:path w="21600" h="21600" extrusionOk="0">
                <a:moveTo>
                  <a:pt x="2700" y="7714"/>
                </a:moveTo>
                <a:lnTo>
                  <a:pt x="2700" y="9257"/>
                </a:lnTo>
                <a:lnTo>
                  <a:pt x="4860" y="9257"/>
                </a:lnTo>
                <a:lnTo>
                  <a:pt x="4860" y="7714"/>
                </a:lnTo>
                <a:lnTo>
                  <a:pt x="2700" y="7714"/>
                </a:lnTo>
                <a:close/>
              </a:path>
              <a:path w="21600" h="21600" extrusionOk="0">
                <a:moveTo>
                  <a:pt x="4860" y="7714"/>
                </a:moveTo>
                <a:lnTo>
                  <a:pt x="4860" y="9257"/>
                </a:lnTo>
                <a:lnTo>
                  <a:pt x="7020" y="9257"/>
                </a:lnTo>
                <a:lnTo>
                  <a:pt x="7020" y="7714"/>
                </a:lnTo>
                <a:lnTo>
                  <a:pt x="4860" y="7714"/>
                </a:lnTo>
                <a:close/>
              </a:path>
              <a:path w="21600" h="21600" extrusionOk="0">
                <a:moveTo>
                  <a:pt x="7020" y="7714"/>
                </a:moveTo>
                <a:lnTo>
                  <a:pt x="7020" y="9257"/>
                </a:lnTo>
                <a:lnTo>
                  <a:pt x="9180" y="9257"/>
                </a:lnTo>
                <a:lnTo>
                  <a:pt x="9180" y="7714"/>
                </a:lnTo>
                <a:lnTo>
                  <a:pt x="7020" y="7714"/>
                </a:lnTo>
                <a:close/>
              </a:path>
              <a:path w="21600" h="21600" extrusionOk="0">
                <a:moveTo>
                  <a:pt x="9180" y="7714"/>
                </a:moveTo>
                <a:lnTo>
                  <a:pt x="9180" y="9257"/>
                </a:lnTo>
                <a:lnTo>
                  <a:pt x="11340" y="9257"/>
                </a:lnTo>
                <a:lnTo>
                  <a:pt x="11340" y="7714"/>
                </a:lnTo>
                <a:lnTo>
                  <a:pt x="9180" y="7714"/>
                </a:lnTo>
                <a:close/>
              </a:path>
              <a:path w="21600" h="21600" extrusionOk="0">
                <a:moveTo>
                  <a:pt x="11340" y="7714"/>
                </a:moveTo>
                <a:lnTo>
                  <a:pt x="11340" y="9257"/>
                </a:lnTo>
                <a:lnTo>
                  <a:pt x="13500" y="9257"/>
                </a:lnTo>
                <a:lnTo>
                  <a:pt x="13500" y="7714"/>
                </a:lnTo>
                <a:lnTo>
                  <a:pt x="11340" y="7714"/>
                </a:lnTo>
                <a:close/>
              </a:path>
              <a:path w="21600" h="21600" extrusionOk="0">
                <a:moveTo>
                  <a:pt x="13500" y="7714"/>
                </a:moveTo>
                <a:lnTo>
                  <a:pt x="13500" y="9257"/>
                </a:lnTo>
                <a:lnTo>
                  <a:pt x="15660" y="9257"/>
                </a:lnTo>
                <a:lnTo>
                  <a:pt x="15660" y="7714"/>
                </a:lnTo>
                <a:lnTo>
                  <a:pt x="13500" y="7714"/>
                </a:lnTo>
                <a:close/>
              </a:path>
              <a:path w="21600" h="21600" extrusionOk="0">
                <a:moveTo>
                  <a:pt x="15660" y="7714"/>
                </a:moveTo>
                <a:lnTo>
                  <a:pt x="15660" y="9257"/>
                </a:lnTo>
                <a:lnTo>
                  <a:pt x="17820" y="9257"/>
                </a:lnTo>
                <a:lnTo>
                  <a:pt x="17820" y="7714"/>
                </a:lnTo>
                <a:lnTo>
                  <a:pt x="15660" y="7714"/>
                </a:lnTo>
                <a:close/>
              </a:path>
              <a:path w="21600" h="21600" extrusionOk="0">
                <a:moveTo>
                  <a:pt x="17820" y="7714"/>
                </a:moveTo>
                <a:lnTo>
                  <a:pt x="17820" y="9257"/>
                </a:lnTo>
                <a:lnTo>
                  <a:pt x="19980" y="9257"/>
                </a:lnTo>
                <a:lnTo>
                  <a:pt x="19980" y="7714"/>
                </a:lnTo>
                <a:lnTo>
                  <a:pt x="17820" y="7714"/>
                </a:lnTo>
                <a:close/>
              </a:path>
              <a:path w="21600" h="21600" extrusionOk="0">
                <a:moveTo>
                  <a:pt x="1620" y="9257"/>
                </a:moveTo>
                <a:lnTo>
                  <a:pt x="1620" y="10800"/>
                </a:lnTo>
                <a:lnTo>
                  <a:pt x="3779" y="10800"/>
                </a:lnTo>
                <a:lnTo>
                  <a:pt x="3779" y="9257"/>
                </a:lnTo>
                <a:lnTo>
                  <a:pt x="1620" y="9257"/>
                </a:lnTo>
                <a:close/>
              </a:path>
              <a:path w="21600" h="21600" extrusionOk="0">
                <a:moveTo>
                  <a:pt x="3779" y="9257"/>
                </a:moveTo>
                <a:lnTo>
                  <a:pt x="3779" y="10800"/>
                </a:lnTo>
                <a:lnTo>
                  <a:pt x="5940" y="10800"/>
                </a:lnTo>
                <a:lnTo>
                  <a:pt x="5940" y="9257"/>
                </a:lnTo>
                <a:lnTo>
                  <a:pt x="3779" y="9257"/>
                </a:lnTo>
                <a:close/>
              </a:path>
              <a:path w="21600" h="21600" extrusionOk="0">
                <a:moveTo>
                  <a:pt x="5940" y="9257"/>
                </a:moveTo>
                <a:lnTo>
                  <a:pt x="5940" y="10800"/>
                </a:lnTo>
                <a:lnTo>
                  <a:pt x="8100" y="10800"/>
                </a:lnTo>
                <a:lnTo>
                  <a:pt x="8100" y="9257"/>
                </a:lnTo>
                <a:lnTo>
                  <a:pt x="5940" y="9257"/>
                </a:lnTo>
                <a:close/>
              </a:path>
              <a:path w="21600" h="21600" extrusionOk="0">
                <a:moveTo>
                  <a:pt x="8100" y="9257"/>
                </a:moveTo>
                <a:lnTo>
                  <a:pt x="8100" y="10800"/>
                </a:lnTo>
                <a:lnTo>
                  <a:pt x="10260" y="10800"/>
                </a:lnTo>
                <a:lnTo>
                  <a:pt x="10260" y="9257"/>
                </a:lnTo>
                <a:lnTo>
                  <a:pt x="8100" y="9257"/>
                </a:lnTo>
                <a:close/>
              </a:path>
              <a:path w="21600" h="21600" extrusionOk="0">
                <a:moveTo>
                  <a:pt x="10260" y="9257"/>
                </a:moveTo>
                <a:lnTo>
                  <a:pt x="10260" y="10800"/>
                </a:lnTo>
                <a:lnTo>
                  <a:pt x="12419" y="10800"/>
                </a:lnTo>
                <a:lnTo>
                  <a:pt x="12419" y="9257"/>
                </a:lnTo>
                <a:lnTo>
                  <a:pt x="10260" y="9257"/>
                </a:lnTo>
                <a:close/>
              </a:path>
              <a:path w="21600" h="21600" extrusionOk="0">
                <a:moveTo>
                  <a:pt x="12419" y="9257"/>
                </a:moveTo>
                <a:lnTo>
                  <a:pt x="12419" y="10800"/>
                </a:lnTo>
                <a:lnTo>
                  <a:pt x="14580" y="10800"/>
                </a:lnTo>
                <a:lnTo>
                  <a:pt x="14580" y="9257"/>
                </a:lnTo>
                <a:lnTo>
                  <a:pt x="12419" y="9257"/>
                </a:lnTo>
                <a:close/>
              </a:path>
              <a:path w="21600" h="21600" extrusionOk="0">
                <a:moveTo>
                  <a:pt x="14580" y="9257"/>
                </a:moveTo>
                <a:lnTo>
                  <a:pt x="14580" y="10800"/>
                </a:lnTo>
                <a:lnTo>
                  <a:pt x="16740" y="10800"/>
                </a:lnTo>
                <a:lnTo>
                  <a:pt x="16740" y="9257"/>
                </a:lnTo>
                <a:lnTo>
                  <a:pt x="14580" y="9257"/>
                </a:lnTo>
                <a:close/>
              </a:path>
              <a:path w="21600" h="21600" extrusionOk="0">
                <a:moveTo>
                  <a:pt x="16740" y="9257"/>
                </a:moveTo>
                <a:lnTo>
                  <a:pt x="16740" y="10800"/>
                </a:lnTo>
                <a:lnTo>
                  <a:pt x="18900" y="10800"/>
                </a:lnTo>
                <a:lnTo>
                  <a:pt x="18900" y="9257"/>
                </a:lnTo>
                <a:lnTo>
                  <a:pt x="16740" y="9257"/>
                </a:lnTo>
                <a:close/>
              </a:path>
              <a:path w="21600" h="21600" extrusionOk="0">
                <a:moveTo>
                  <a:pt x="18900" y="9257"/>
                </a:moveTo>
                <a:lnTo>
                  <a:pt x="18900" y="10800"/>
                </a:lnTo>
                <a:lnTo>
                  <a:pt x="21060" y="10800"/>
                </a:lnTo>
                <a:lnTo>
                  <a:pt x="21060" y="9257"/>
                </a:lnTo>
                <a:lnTo>
                  <a:pt x="18900" y="9257"/>
                </a:lnTo>
                <a:close/>
              </a:path>
              <a:path w="21600" h="21600" extrusionOk="0">
                <a:moveTo>
                  <a:pt x="540" y="10800"/>
                </a:moveTo>
                <a:lnTo>
                  <a:pt x="540" y="12342"/>
                </a:lnTo>
                <a:lnTo>
                  <a:pt x="2700" y="12342"/>
                </a:lnTo>
                <a:lnTo>
                  <a:pt x="2700" y="10800"/>
                </a:lnTo>
                <a:lnTo>
                  <a:pt x="540" y="10800"/>
                </a:lnTo>
                <a:close/>
              </a:path>
              <a:path w="21600" h="21600" extrusionOk="0">
                <a:moveTo>
                  <a:pt x="2700" y="10800"/>
                </a:moveTo>
                <a:lnTo>
                  <a:pt x="2700" y="12342"/>
                </a:lnTo>
                <a:lnTo>
                  <a:pt x="4860" y="12342"/>
                </a:lnTo>
                <a:lnTo>
                  <a:pt x="4860" y="10800"/>
                </a:lnTo>
                <a:lnTo>
                  <a:pt x="2700" y="10800"/>
                </a:lnTo>
                <a:close/>
              </a:path>
              <a:path w="21600" h="21600" extrusionOk="0">
                <a:moveTo>
                  <a:pt x="4860" y="10800"/>
                </a:moveTo>
                <a:lnTo>
                  <a:pt x="4860" y="12342"/>
                </a:lnTo>
                <a:lnTo>
                  <a:pt x="7020" y="12342"/>
                </a:lnTo>
                <a:lnTo>
                  <a:pt x="7020" y="10800"/>
                </a:lnTo>
                <a:lnTo>
                  <a:pt x="4860" y="10800"/>
                </a:lnTo>
                <a:close/>
              </a:path>
              <a:path w="21600" h="21600" extrusionOk="0">
                <a:moveTo>
                  <a:pt x="7020" y="10800"/>
                </a:moveTo>
                <a:lnTo>
                  <a:pt x="7020" y="12342"/>
                </a:lnTo>
                <a:lnTo>
                  <a:pt x="9180" y="12342"/>
                </a:lnTo>
                <a:lnTo>
                  <a:pt x="9180" y="10800"/>
                </a:lnTo>
                <a:lnTo>
                  <a:pt x="7020" y="10800"/>
                </a:lnTo>
                <a:close/>
              </a:path>
              <a:path w="21600" h="21600" extrusionOk="0">
                <a:moveTo>
                  <a:pt x="9180" y="10800"/>
                </a:moveTo>
                <a:lnTo>
                  <a:pt x="9180" y="12342"/>
                </a:lnTo>
                <a:lnTo>
                  <a:pt x="11340" y="12342"/>
                </a:lnTo>
                <a:lnTo>
                  <a:pt x="11340" y="10800"/>
                </a:lnTo>
                <a:lnTo>
                  <a:pt x="9180" y="10800"/>
                </a:lnTo>
                <a:close/>
              </a:path>
              <a:path w="21600" h="21600" extrusionOk="0">
                <a:moveTo>
                  <a:pt x="11340" y="10800"/>
                </a:moveTo>
                <a:lnTo>
                  <a:pt x="11340" y="12342"/>
                </a:lnTo>
                <a:lnTo>
                  <a:pt x="13500" y="12342"/>
                </a:lnTo>
                <a:lnTo>
                  <a:pt x="13500" y="10800"/>
                </a:lnTo>
                <a:lnTo>
                  <a:pt x="11340" y="10800"/>
                </a:lnTo>
                <a:close/>
              </a:path>
              <a:path w="21600" h="21600" extrusionOk="0">
                <a:moveTo>
                  <a:pt x="13500" y="10800"/>
                </a:moveTo>
                <a:lnTo>
                  <a:pt x="13500" y="12342"/>
                </a:lnTo>
                <a:lnTo>
                  <a:pt x="15660" y="12342"/>
                </a:lnTo>
                <a:lnTo>
                  <a:pt x="15660" y="10800"/>
                </a:lnTo>
                <a:lnTo>
                  <a:pt x="13500" y="10800"/>
                </a:lnTo>
                <a:close/>
              </a:path>
              <a:path w="21600" h="21600" extrusionOk="0">
                <a:moveTo>
                  <a:pt x="15660" y="10800"/>
                </a:moveTo>
                <a:lnTo>
                  <a:pt x="15660" y="12342"/>
                </a:lnTo>
                <a:lnTo>
                  <a:pt x="17820" y="12342"/>
                </a:lnTo>
                <a:lnTo>
                  <a:pt x="17820" y="10800"/>
                </a:lnTo>
                <a:lnTo>
                  <a:pt x="15660" y="10800"/>
                </a:lnTo>
                <a:close/>
              </a:path>
              <a:path w="21600" h="21600" extrusionOk="0">
                <a:moveTo>
                  <a:pt x="17820" y="10800"/>
                </a:moveTo>
                <a:lnTo>
                  <a:pt x="17820" y="12342"/>
                </a:lnTo>
                <a:lnTo>
                  <a:pt x="19980" y="12342"/>
                </a:lnTo>
                <a:lnTo>
                  <a:pt x="19980" y="10800"/>
                </a:lnTo>
                <a:lnTo>
                  <a:pt x="17820" y="10800"/>
                </a:lnTo>
                <a:close/>
              </a:path>
              <a:path w="21600" h="21600" extrusionOk="0">
                <a:moveTo>
                  <a:pt x="1620" y="12342"/>
                </a:moveTo>
                <a:lnTo>
                  <a:pt x="1620" y="13885"/>
                </a:lnTo>
                <a:lnTo>
                  <a:pt x="3779" y="13885"/>
                </a:lnTo>
                <a:lnTo>
                  <a:pt x="3779" y="12342"/>
                </a:lnTo>
                <a:lnTo>
                  <a:pt x="1620" y="12342"/>
                </a:lnTo>
                <a:close/>
              </a:path>
              <a:path w="21600" h="21600" extrusionOk="0">
                <a:moveTo>
                  <a:pt x="3779" y="12342"/>
                </a:moveTo>
                <a:lnTo>
                  <a:pt x="3779" y="13885"/>
                </a:lnTo>
                <a:lnTo>
                  <a:pt x="5940" y="13885"/>
                </a:lnTo>
                <a:lnTo>
                  <a:pt x="5940" y="12342"/>
                </a:lnTo>
                <a:lnTo>
                  <a:pt x="3779" y="12342"/>
                </a:lnTo>
                <a:close/>
              </a:path>
              <a:path w="21600" h="21600" extrusionOk="0">
                <a:moveTo>
                  <a:pt x="5940" y="12342"/>
                </a:moveTo>
                <a:lnTo>
                  <a:pt x="5940" y="13885"/>
                </a:lnTo>
                <a:lnTo>
                  <a:pt x="8100" y="13885"/>
                </a:lnTo>
                <a:lnTo>
                  <a:pt x="8100" y="12342"/>
                </a:lnTo>
                <a:lnTo>
                  <a:pt x="5940" y="12342"/>
                </a:lnTo>
                <a:close/>
              </a:path>
              <a:path w="21600" h="21600" extrusionOk="0">
                <a:moveTo>
                  <a:pt x="8100" y="12342"/>
                </a:moveTo>
                <a:lnTo>
                  <a:pt x="8100" y="13885"/>
                </a:lnTo>
                <a:lnTo>
                  <a:pt x="10260" y="13885"/>
                </a:lnTo>
                <a:lnTo>
                  <a:pt x="10260" y="12342"/>
                </a:lnTo>
                <a:lnTo>
                  <a:pt x="8100" y="12342"/>
                </a:lnTo>
                <a:close/>
              </a:path>
              <a:path w="21600" h="21600" extrusionOk="0">
                <a:moveTo>
                  <a:pt x="10260" y="12342"/>
                </a:moveTo>
                <a:lnTo>
                  <a:pt x="10260" y="13885"/>
                </a:lnTo>
                <a:lnTo>
                  <a:pt x="12419" y="13885"/>
                </a:lnTo>
                <a:lnTo>
                  <a:pt x="12419" y="12342"/>
                </a:lnTo>
                <a:lnTo>
                  <a:pt x="10260" y="12342"/>
                </a:lnTo>
                <a:close/>
              </a:path>
              <a:path w="21600" h="21600" extrusionOk="0">
                <a:moveTo>
                  <a:pt x="12419" y="12342"/>
                </a:moveTo>
                <a:lnTo>
                  <a:pt x="12419" y="13885"/>
                </a:lnTo>
                <a:lnTo>
                  <a:pt x="14580" y="13885"/>
                </a:lnTo>
                <a:lnTo>
                  <a:pt x="14580" y="12342"/>
                </a:lnTo>
                <a:lnTo>
                  <a:pt x="12419" y="12342"/>
                </a:lnTo>
                <a:close/>
              </a:path>
              <a:path w="21600" h="21600" extrusionOk="0">
                <a:moveTo>
                  <a:pt x="14580" y="12342"/>
                </a:moveTo>
                <a:lnTo>
                  <a:pt x="14580" y="13885"/>
                </a:lnTo>
                <a:lnTo>
                  <a:pt x="16740" y="13885"/>
                </a:lnTo>
                <a:lnTo>
                  <a:pt x="16740" y="12342"/>
                </a:lnTo>
                <a:lnTo>
                  <a:pt x="14580" y="12342"/>
                </a:lnTo>
                <a:close/>
              </a:path>
              <a:path w="21600" h="21600" extrusionOk="0">
                <a:moveTo>
                  <a:pt x="16740" y="12342"/>
                </a:moveTo>
                <a:lnTo>
                  <a:pt x="16740" y="13885"/>
                </a:lnTo>
                <a:lnTo>
                  <a:pt x="18900" y="13885"/>
                </a:lnTo>
                <a:lnTo>
                  <a:pt x="18900" y="12342"/>
                </a:lnTo>
                <a:lnTo>
                  <a:pt x="16740" y="12342"/>
                </a:lnTo>
                <a:close/>
              </a:path>
              <a:path w="21600" h="21600" extrusionOk="0">
                <a:moveTo>
                  <a:pt x="18900" y="12342"/>
                </a:moveTo>
                <a:lnTo>
                  <a:pt x="18900" y="13885"/>
                </a:lnTo>
                <a:lnTo>
                  <a:pt x="21060" y="13885"/>
                </a:lnTo>
                <a:lnTo>
                  <a:pt x="21060" y="12342"/>
                </a:lnTo>
                <a:lnTo>
                  <a:pt x="18900" y="12342"/>
                </a:lnTo>
                <a:close/>
              </a:path>
              <a:path w="21600" h="21600" extrusionOk="0">
                <a:moveTo>
                  <a:pt x="540" y="13885"/>
                </a:moveTo>
                <a:lnTo>
                  <a:pt x="540" y="15428"/>
                </a:lnTo>
                <a:lnTo>
                  <a:pt x="2700" y="15428"/>
                </a:lnTo>
                <a:lnTo>
                  <a:pt x="2700" y="13885"/>
                </a:lnTo>
                <a:lnTo>
                  <a:pt x="540" y="13885"/>
                </a:lnTo>
                <a:close/>
              </a:path>
              <a:path w="21600" h="21600" extrusionOk="0">
                <a:moveTo>
                  <a:pt x="2700" y="13885"/>
                </a:moveTo>
                <a:lnTo>
                  <a:pt x="2700" y="15428"/>
                </a:lnTo>
                <a:lnTo>
                  <a:pt x="4860" y="15428"/>
                </a:lnTo>
                <a:lnTo>
                  <a:pt x="4860" y="13885"/>
                </a:lnTo>
                <a:lnTo>
                  <a:pt x="2700" y="13885"/>
                </a:lnTo>
                <a:close/>
              </a:path>
              <a:path w="21600" h="21600" extrusionOk="0">
                <a:moveTo>
                  <a:pt x="4860" y="13885"/>
                </a:moveTo>
                <a:lnTo>
                  <a:pt x="4860" y="15428"/>
                </a:lnTo>
                <a:lnTo>
                  <a:pt x="7020" y="15428"/>
                </a:lnTo>
                <a:lnTo>
                  <a:pt x="7020" y="13885"/>
                </a:lnTo>
                <a:lnTo>
                  <a:pt x="4860" y="13885"/>
                </a:lnTo>
                <a:close/>
              </a:path>
              <a:path w="21600" h="21600" extrusionOk="0">
                <a:moveTo>
                  <a:pt x="7020" y="13885"/>
                </a:moveTo>
                <a:lnTo>
                  <a:pt x="7020" y="15428"/>
                </a:lnTo>
                <a:lnTo>
                  <a:pt x="9180" y="15428"/>
                </a:lnTo>
                <a:lnTo>
                  <a:pt x="9180" y="13885"/>
                </a:lnTo>
                <a:lnTo>
                  <a:pt x="7020" y="13885"/>
                </a:lnTo>
                <a:close/>
              </a:path>
              <a:path w="21600" h="21600" extrusionOk="0">
                <a:moveTo>
                  <a:pt x="9180" y="13885"/>
                </a:moveTo>
                <a:lnTo>
                  <a:pt x="9180" y="15428"/>
                </a:lnTo>
                <a:lnTo>
                  <a:pt x="11340" y="15428"/>
                </a:lnTo>
                <a:lnTo>
                  <a:pt x="11340" y="13885"/>
                </a:lnTo>
                <a:lnTo>
                  <a:pt x="9180" y="13885"/>
                </a:lnTo>
                <a:close/>
              </a:path>
              <a:path w="21600" h="21600" extrusionOk="0">
                <a:moveTo>
                  <a:pt x="11340" y="13885"/>
                </a:moveTo>
                <a:lnTo>
                  <a:pt x="11340" y="15428"/>
                </a:lnTo>
                <a:lnTo>
                  <a:pt x="13500" y="15428"/>
                </a:lnTo>
                <a:lnTo>
                  <a:pt x="13500" y="13885"/>
                </a:lnTo>
                <a:lnTo>
                  <a:pt x="11340" y="13885"/>
                </a:lnTo>
                <a:close/>
              </a:path>
              <a:path w="21600" h="21600" extrusionOk="0">
                <a:moveTo>
                  <a:pt x="13500" y="13885"/>
                </a:moveTo>
                <a:lnTo>
                  <a:pt x="13500" y="15428"/>
                </a:lnTo>
                <a:lnTo>
                  <a:pt x="15660" y="15428"/>
                </a:lnTo>
                <a:lnTo>
                  <a:pt x="15660" y="13885"/>
                </a:lnTo>
                <a:lnTo>
                  <a:pt x="13500" y="13885"/>
                </a:lnTo>
                <a:close/>
              </a:path>
              <a:path w="21600" h="21600" extrusionOk="0">
                <a:moveTo>
                  <a:pt x="15660" y="13885"/>
                </a:moveTo>
                <a:lnTo>
                  <a:pt x="15660" y="15428"/>
                </a:lnTo>
                <a:lnTo>
                  <a:pt x="17820" y="15428"/>
                </a:lnTo>
                <a:lnTo>
                  <a:pt x="17820" y="13885"/>
                </a:lnTo>
                <a:lnTo>
                  <a:pt x="15660" y="13885"/>
                </a:lnTo>
                <a:close/>
              </a:path>
              <a:path w="21600" h="21600" extrusionOk="0">
                <a:moveTo>
                  <a:pt x="17820" y="13885"/>
                </a:moveTo>
                <a:lnTo>
                  <a:pt x="17820" y="15428"/>
                </a:lnTo>
                <a:lnTo>
                  <a:pt x="19980" y="15428"/>
                </a:lnTo>
                <a:lnTo>
                  <a:pt x="19980" y="13885"/>
                </a:lnTo>
                <a:lnTo>
                  <a:pt x="17820" y="13885"/>
                </a:lnTo>
                <a:close/>
              </a:path>
              <a:path w="21600" h="21600" extrusionOk="0">
                <a:moveTo>
                  <a:pt x="1620" y="15428"/>
                </a:moveTo>
                <a:lnTo>
                  <a:pt x="1620" y="16971"/>
                </a:lnTo>
                <a:lnTo>
                  <a:pt x="3779" y="16971"/>
                </a:lnTo>
                <a:lnTo>
                  <a:pt x="3779" y="15428"/>
                </a:lnTo>
                <a:lnTo>
                  <a:pt x="1620" y="15428"/>
                </a:lnTo>
                <a:close/>
              </a:path>
              <a:path w="21600" h="21600" extrusionOk="0">
                <a:moveTo>
                  <a:pt x="3779" y="15428"/>
                </a:moveTo>
                <a:lnTo>
                  <a:pt x="3779" y="16971"/>
                </a:lnTo>
                <a:lnTo>
                  <a:pt x="5940" y="16971"/>
                </a:lnTo>
                <a:lnTo>
                  <a:pt x="5940" y="15428"/>
                </a:lnTo>
                <a:lnTo>
                  <a:pt x="3779" y="15428"/>
                </a:lnTo>
                <a:close/>
              </a:path>
              <a:path w="21600" h="21600" extrusionOk="0">
                <a:moveTo>
                  <a:pt x="5940" y="15428"/>
                </a:moveTo>
                <a:lnTo>
                  <a:pt x="5940" y="16971"/>
                </a:lnTo>
                <a:lnTo>
                  <a:pt x="8100" y="16971"/>
                </a:lnTo>
                <a:lnTo>
                  <a:pt x="8100" y="15428"/>
                </a:lnTo>
                <a:lnTo>
                  <a:pt x="5940" y="15428"/>
                </a:lnTo>
                <a:close/>
              </a:path>
              <a:path w="21600" h="21600" extrusionOk="0">
                <a:moveTo>
                  <a:pt x="8100" y="15428"/>
                </a:moveTo>
                <a:lnTo>
                  <a:pt x="8100" y="16971"/>
                </a:lnTo>
                <a:lnTo>
                  <a:pt x="10260" y="16971"/>
                </a:lnTo>
                <a:lnTo>
                  <a:pt x="10260" y="15428"/>
                </a:lnTo>
                <a:lnTo>
                  <a:pt x="8100" y="15428"/>
                </a:lnTo>
                <a:close/>
              </a:path>
              <a:path w="21600" h="21600" extrusionOk="0">
                <a:moveTo>
                  <a:pt x="10260" y="15428"/>
                </a:moveTo>
                <a:lnTo>
                  <a:pt x="10260" y="16971"/>
                </a:lnTo>
                <a:lnTo>
                  <a:pt x="12419" y="16971"/>
                </a:lnTo>
                <a:lnTo>
                  <a:pt x="12419" y="15428"/>
                </a:lnTo>
                <a:lnTo>
                  <a:pt x="10260" y="15428"/>
                </a:lnTo>
                <a:close/>
              </a:path>
              <a:path w="21600" h="21600" extrusionOk="0">
                <a:moveTo>
                  <a:pt x="12419" y="15428"/>
                </a:moveTo>
                <a:lnTo>
                  <a:pt x="12419" y="16971"/>
                </a:lnTo>
                <a:lnTo>
                  <a:pt x="14580" y="16971"/>
                </a:lnTo>
                <a:lnTo>
                  <a:pt x="14580" y="15428"/>
                </a:lnTo>
                <a:lnTo>
                  <a:pt x="12419" y="15428"/>
                </a:lnTo>
                <a:close/>
              </a:path>
              <a:path w="21600" h="21600" extrusionOk="0">
                <a:moveTo>
                  <a:pt x="14580" y="15428"/>
                </a:moveTo>
                <a:lnTo>
                  <a:pt x="14580" y="16971"/>
                </a:lnTo>
                <a:lnTo>
                  <a:pt x="16740" y="16971"/>
                </a:lnTo>
                <a:lnTo>
                  <a:pt x="16740" y="15428"/>
                </a:lnTo>
                <a:lnTo>
                  <a:pt x="14580" y="15428"/>
                </a:lnTo>
                <a:close/>
              </a:path>
              <a:path w="21600" h="21600" extrusionOk="0">
                <a:moveTo>
                  <a:pt x="16740" y="15428"/>
                </a:moveTo>
                <a:lnTo>
                  <a:pt x="16740" y="16971"/>
                </a:lnTo>
                <a:lnTo>
                  <a:pt x="18900" y="16971"/>
                </a:lnTo>
                <a:lnTo>
                  <a:pt x="18900" y="15428"/>
                </a:lnTo>
                <a:lnTo>
                  <a:pt x="16740" y="15428"/>
                </a:lnTo>
                <a:close/>
              </a:path>
              <a:path w="21600" h="21600" extrusionOk="0">
                <a:moveTo>
                  <a:pt x="18900" y="15428"/>
                </a:moveTo>
                <a:lnTo>
                  <a:pt x="18900" y="16971"/>
                </a:lnTo>
                <a:lnTo>
                  <a:pt x="21060" y="16971"/>
                </a:lnTo>
                <a:lnTo>
                  <a:pt x="21060" y="15428"/>
                </a:lnTo>
                <a:lnTo>
                  <a:pt x="18900" y="15428"/>
                </a:lnTo>
                <a:close/>
              </a:path>
              <a:path w="21600" h="21600" extrusionOk="0">
                <a:moveTo>
                  <a:pt x="540" y="16971"/>
                </a:moveTo>
                <a:lnTo>
                  <a:pt x="540" y="18514"/>
                </a:lnTo>
                <a:lnTo>
                  <a:pt x="2700" y="18514"/>
                </a:lnTo>
                <a:lnTo>
                  <a:pt x="2700" y="16971"/>
                </a:lnTo>
                <a:lnTo>
                  <a:pt x="540" y="16971"/>
                </a:lnTo>
                <a:close/>
              </a:path>
              <a:path w="21600" h="21600" extrusionOk="0">
                <a:moveTo>
                  <a:pt x="2700" y="16971"/>
                </a:moveTo>
                <a:lnTo>
                  <a:pt x="2700" y="18514"/>
                </a:lnTo>
                <a:lnTo>
                  <a:pt x="4860" y="18514"/>
                </a:lnTo>
                <a:lnTo>
                  <a:pt x="4860" y="16971"/>
                </a:lnTo>
                <a:lnTo>
                  <a:pt x="2700" y="16971"/>
                </a:lnTo>
                <a:close/>
              </a:path>
              <a:path w="21600" h="21600" extrusionOk="0">
                <a:moveTo>
                  <a:pt x="4860" y="16971"/>
                </a:moveTo>
                <a:lnTo>
                  <a:pt x="4860" y="18514"/>
                </a:lnTo>
                <a:lnTo>
                  <a:pt x="7020" y="18514"/>
                </a:lnTo>
                <a:lnTo>
                  <a:pt x="7020" y="16971"/>
                </a:lnTo>
                <a:lnTo>
                  <a:pt x="4860" y="16971"/>
                </a:lnTo>
                <a:close/>
              </a:path>
              <a:path w="21600" h="21600" extrusionOk="0">
                <a:moveTo>
                  <a:pt x="7020" y="16971"/>
                </a:moveTo>
                <a:lnTo>
                  <a:pt x="7020" y="18514"/>
                </a:lnTo>
                <a:lnTo>
                  <a:pt x="9180" y="18514"/>
                </a:lnTo>
                <a:lnTo>
                  <a:pt x="9180" y="16971"/>
                </a:lnTo>
                <a:lnTo>
                  <a:pt x="7020" y="16971"/>
                </a:lnTo>
                <a:close/>
              </a:path>
              <a:path w="21600" h="21600" extrusionOk="0">
                <a:moveTo>
                  <a:pt x="9180" y="16971"/>
                </a:moveTo>
                <a:lnTo>
                  <a:pt x="9180" y="18514"/>
                </a:lnTo>
                <a:lnTo>
                  <a:pt x="11340" y="18514"/>
                </a:lnTo>
                <a:lnTo>
                  <a:pt x="11340" y="16971"/>
                </a:lnTo>
                <a:lnTo>
                  <a:pt x="9180" y="16971"/>
                </a:lnTo>
                <a:close/>
              </a:path>
              <a:path w="21600" h="21600" extrusionOk="0">
                <a:moveTo>
                  <a:pt x="11340" y="16971"/>
                </a:moveTo>
                <a:lnTo>
                  <a:pt x="11340" y="18514"/>
                </a:lnTo>
                <a:lnTo>
                  <a:pt x="13500" y="18514"/>
                </a:lnTo>
                <a:lnTo>
                  <a:pt x="13500" y="16971"/>
                </a:lnTo>
                <a:lnTo>
                  <a:pt x="11340" y="16971"/>
                </a:lnTo>
                <a:close/>
              </a:path>
              <a:path w="21600" h="21600" extrusionOk="0">
                <a:moveTo>
                  <a:pt x="13500" y="16971"/>
                </a:moveTo>
                <a:lnTo>
                  <a:pt x="13500" y="18514"/>
                </a:lnTo>
                <a:lnTo>
                  <a:pt x="15660" y="18514"/>
                </a:lnTo>
                <a:lnTo>
                  <a:pt x="15660" y="16971"/>
                </a:lnTo>
                <a:lnTo>
                  <a:pt x="13500" y="16971"/>
                </a:lnTo>
                <a:close/>
              </a:path>
              <a:path w="21600" h="21600" extrusionOk="0">
                <a:moveTo>
                  <a:pt x="15660" y="16971"/>
                </a:moveTo>
                <a:lnTo>
                  <a:pt x="15660" y="18514"/>
                </a:lnTo>
                <a:lnTo>
                  <a:pt x="17820" y="18514"/>
                </a:lnTo>
                <a:lnTo>
                  <a:pt x="17820" y="16971"/>
                </a:lnTo>
                <a:lnTo>
                  <a:pt x="15660" y="16971"/>
                </a:lnTo>
                <a:close/>
              </a:path>
              <a:path w="21600" h="21600" extrusionOk="0">
                <a:moveTo>
                  <a:pt x="17820" y="16971"/>
                </a:moveTo>
                <a:lnTo>
                  <a:pt x="17820" y="18514"/>
                </a:lnTo>
                <a:lnTo>
                  <a:pt x="19980" y="18514"/>
                </a:lnTo>
                <a:lnTo>
                  <a:pt x="19980" y="16971"/>
                </a:lnTo>
                <a:lnTo>
                  <a:pt x="17820" y="16971"/>
                </a:lnTo>
                <a:close/>
              </a:path>
              <a:path w="21600" h="21600" extrusionOk="0">
                <a:moveTo>
                  <a:pt x="1620" y="18514"/>
                </a:moveTo>
                <a:lnTo>
                  <a:pt x="1620" y="20057"/>
                </a:lnTo>
                <a:lnTo>
                  <a:pt x="3779" y="20057"/>
                </a:lnTo>
                <a:lnTo>
                  <a:pt x="3779" y="18514"/>
                </a:lnTo>
                <a:lnTo>
                  <a:pt x="1620" y="18514"/>
                </a:lnTo>
                <a:close/>
              </a:path>
              <a:path w="21600" h="21600" extrusionOk="0">
                <a:moveTo>
                  <a:pt x="3779" y="18514"/>
                </a:moveTo>
                <a:lnTo>
                  <a:pt x="3779" y="20057"/>
                </a:lnTo>
                <a:lnTo>
                  <a:pt x="5940" y="20057"/>
                </a:lnTo>
                <a:lnTo>
                  <a:pt x="5940" y="18514"/>
                </a:lnTo>
                <a:lnTo>
                  <a:pt x="3779" y="18514"/>
                </a:lnTo>
                <a:close/>
              </a:path>
              <a:path w="21600" h="21600" extrusionOk="0">
                <a:moveTo>
                  <a:pt x="5940" y="18514"/>
                </a:moveTo>
                <a:lnTo>
                  <a:pt x="5940" y="20057"/>
                </a:lnTo>
                <a:lnTo>
                  <a:pt x="8100" y="20057"/>
                </a:lnTo>
                <a:lnTo>
                  <a:pt x="8100" y="18514"/>
                </a:lnTo>
                <a:lnTo>
                  <a:pt x="5940" y="18514"/>
                </a:lnTo>
                <a:close/>
              </a:path>
              <a:path w="21600" h="21600" extrusionOk="0">
                <a:moveTo>
                  <a:pt x="8100" y="18514"/>
                </a:moveTo>
                <a:lnTo>
                  <a:pt x="8100" y="20057"/>
                </a:lnTo>
                <a:lnTo>
                  <a:pt x="10260" y="20057"/>
                </a:lnTo>
                <a:lnTo>
                  <a:pt x="10260" y="18514"/>
                </a:lnTo>
                <a:lnTo>
                  <a:pt x="8100" y="18514"/>
                </a:lnTo>
                <a:close/>
              </a:path>
              <a:path w="21600" h="21600" extrusionOk="0">
                <a:moveTo>
                  <a:pt x="10260" y="18514"/>
                </a:moveTo>
                <a:lnTo>
                  <a:pt x="10260" y="20057"/>
                </a:lnTo>
                <a:lnTo>
                  <a:pt x="12419" y="20057"/>
                </a:lnTo>
                <a:lnTo>
                  <a:pt x="12419" y="18514"/>
                </a:lnTo>
                <a:lnTo>
                  <a:pt x="10260" y="18514"/>
                </a:lnTo>
                <a:close/>
              </a:path>
              <a:path w="21600" h="21600" extrusionOk="0">
                <a:moveTo>
                  <a:pt x="12419" y="18514"/>
                </a:moveTo>
                <a:lnTo>
                  <a:pt x="12419" y="20057"/>
                </a:lnTo>
                <a:lnTo>
                  <a:pt x="14580" y="20057"/>
                </a:lnTo>
                <a:lnTo>
                  <a:pt x="14580" y="18514"/>
                </a:lnTo>
                <a:lnTo>
                  <a:pt x="12419" y="18514"/>
                </a:lnTo>
                <a:close/>
              </a:path>
              <a:path w="21600" h="21600" extrusionOk="0">
                <a:moveTo>
                  <a:pt x="14580" y="18514"/>
                </a:moveTo>
                <a:lnTo>
                  <a:pt x="14580" y="20057"/>
                </a:lnTo>
                <a:lnTo>
                  <a:pt x="16740" y="20057"/>
                </a:lnTo>
                <a:lnTo>
                  <a:pt x="16740" y="18514"/>
                </a:lnTo>
                <a:lnTo>
                  <a:pt x="14580" y="18514"/>
                </a:lnTo>
                <a:close/>
              </a:path>
              <a:path w="21600" h="21600" extrusionOk="0">
                <a:moveTo>
                  <a:pt x="16740" y="18514"/>
                </a:moveTo>
                <a:lnTo>
                  <a:pt x="16740" y="20057"/>
                </a:lnTo>
                <a:lnTo>
                  <a:pt x="18900" y="20057"/>
                </a:lnTo>
                <a:lnTo>
                  <a:pt x="18900" y="18514"/>
                </a:lnTo>
                <a:lnTo>
                  <a:pt x="16740" y="18514"/>
                </a:lnTo>
                <a:close/>
              </a:path>
              <a:path w="21600" h="21600" extrusionOk="0">
                <a:moveTo>
                  <a:pt x="18900" y="18514"/>
                </a:moveTo>
                <a:lnTo>
                  <a:pt x="18900" y="20057"/>
                </a:lnTo>
                <a:lnTo>
                  <a:pt x="21060" y="20057"/>
                </a:lnTo>
                <a:lnTo>
                  <a:pt x="21060" y="18514"/>
                </a:lnTo>
                <a:lnTo>
                  <a:pt x="18900" y="18514"/>
                </a:lnTo>
                <a:close/>
              </a:path>
              <a:path w="21600" h="21600" extrusionOk="0">
                <a:moveTo>
                  <a:pt x="540" y="20057"/>
                </a:moveTo>
                <a:lnTo>
                  <a:pt x="540" y="21600"/>
                </a:lnTo>
                <a:lnTo>
                  <a:pt x="2700" y="21600"/>
                </a:lnTo>
                <a:lnTo>
                  <a:pt x="2700" y="20057"/>
                </a:lnTo>
                <a:lnTo>
                  <a:pt x="540" y="20057"/>
                </a:lnTo>
                <a:close/>
              </a:path>
              <a:path w="21600" h="21600" extrusionOk="0">
                <a:moveTo>
                  <a:pt x="2700" y="20057"/>
                </a:moveTo>
                <a:lnTo>
                  <a:pt x="2700" y="21600"/>
                </a:lnTo>
                <a:lnTo>
                  <a:pt x="4860" y="21600"/>
                </a:lnTo>
                <a:lnTo>
                  <a:pt x="4860" y="20057"/>
                </a:lnTo>
                <a:lnTo>
                  <a:pt x="2700" y="20057"/>
                </a:lnTo>
                <a:close/>
              </a:path>
              <a:path w="21600" h="21600" extrusionOk="0">
                <a:moveTo>
                  <a:pt x="4860" y="20057"/>
                </a:moveTo>
                <a:lnTo>
                  <a:pt x="4860" y="21600"/>
                </a:lnTo>
                <a:lnTo>
                  <a:pt x="7020" y="21600"/>
                </a:lnTo>
                <a:lnTo>
                  <a:pt x="7020" y="20057"/>
                </a:lnTo>
                <a:lnTo>
                  <a:pt x="4860" y="20057"/>
                </a:lnTo>
                <a:close/>
              </a:path>
              <a:path w="21600" h="21600" extrusionOk="0">
                <a:moveTo>
                  <a:pt x="7020" y="20057"/>
                </a:moveTo>
                <a:lnTo>
                  <a:pt x="7020" y="21600"/>
                </a:lnTo>
                <a:lnTo>
                  <a:pt x="9180" y="21600"/>
                </a:lnTo>
                <a:lnTo>
                  <a:pt x="9180" y="20057"/>
                </a:lnTo>
                <a:lnTo>
                  <a:pt x="7020" y="20057"/>
                </a:lnTo>
                <a:close/>
              </a:path>
              <a:path w="21600" h="21600" extrusionOk="0">
                <a:moveTo>
                  <a:pt x="9180" y="20057"/>
                </a:moveTo>
                <a:lnTo>
                  <a:pt x="9180" y="21600"/>
                </a:lnTo>
                <a:lnTo>
                  <a:pt x="11340" y="21600"/>
                </a:lnTo>
                <a:lnTo>
                  <a:pt x="11340" y="20057"/>
                </a:lnTo>
                <a:lnTo>
                  <a:pt x="9180" y="20057"/>
                </a:lnTo>
                <a:close/>
              </a:path>
              <a:path w="21600" h="21600" extrusionOk="0">
                <a:moveTo>
                  <a:pt x="11340" y="20057"/>
                </a:moveTo>
                <a:lnTo>
                  <a:pt x="11340" y="21600"/>
                </a:lnTo>
                <a:lnTo>
                  <a:pt x="13500" y="21600"/>
                </a:lnTo>
                <a:lnTo>
                  <a:pt x="13500" y="20057"/>
                </a:lnTo>
                <a:lnTo>
                  <a:pt x="11340" y="20057"/>
                </a:lnTo>
                <a:close/>
              </a:path>
              <a:path w="21600" h="21600" extrusionOk="0">
                <a:moveTo>
                  <a:pt x="13500" y="20057"/>
                </a:moveTo>
                <a:lnTo>
                  <a:pt x="13500" y="21600"/>
                </a:lnTo>
                <a:lnTo>
                  <a:pt x="15660" y="21600"/>
                </a:lnTo>
                <a:lnTo>
                  <a:pt x="15660" y="20057"/>
                </a:lnTo>
                <a:lnTo>
                  <a:pt x="13500" y="20057"/>
                </a:lnTo>
                <a:close/>
              </a:path>
              <a:path w="21600" h="21600" extrusionOk="0">
                <a:moveTo>
                  <a:pt x="15660" y="20057"/>
                </a:moveTo>
                <a:lnTo>
                  <a:pt x="15660" y="21600"/>
                </a:lnTo>
                <a:lnTo>
                  <a:pt x="17820" y="21600"/>
                </a:lnTo>
                <a:lnTo>
                  <a:pt x="17820" y="20057"/>
                </a:lnTo>
                <a:lnTo>
                  <a:pt x="15660" y="20057"/>
                </a:lnTo>
                <a:close/>
              </a:path>
              <a:path w="21600" h="21600" extrusionOk="0">
                <a:moveTo>
                  <a:pt x="17820" y="20057"/>
                </a:moveTo>
                <a:lnTo>
                  <a:pt x="17820" y="21600"/>
                </a:lnTo>
                <a:lnTo>
                  <a:pt x="19980" y="21600"/>
                </a:lnTo>
                <a:lnTo>
                  <a:pt x="19980" y="20057"/>
                </a:lnTo>
                <a:lnTo>
                  <a:pt x="17820" y="20057"/>
                </a:lnTo>
                <a:close/>
              </a:path>
              <a:path w="21600" h="21600" extrusionOk="0">
                <a:moveTo>
                  <a:pt x="19980" y="4628"/>
                </a:moveTo>
                <a:lnTo>
                  <a:pt x="21060" y="4628"/>
                </a:lnTo>
                <a:lnTo>
                  <a:pt x="21060" y="6171"/>
                </a:lnTo>
                <a:lnTo>
                  <a:pt x="19980" y="6171"/>
                </a:lnTo>
                <a:lnTo>
                  <a:pt x="19980" y="4628"/>
                </a:lnTo>
                <a:close/>
              </a:path>
            </a:pathLst>
          </a:cu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endParaRPr lang="ja-JP" altLang="en-US" sz="1000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6B78F6E8-46A4-4702-B2F6-A9E0FED85016}"/>
              </a:ext>
            </a:extLst>
          </p:cNvPr>
          <p:cNvCxnSpPr/>
          <p:nvPr/>
        </p:nvCxnSpPr>
        <p:spPr>
          <a:xfrm>
            <a:off x="1861841" y="3734343"/>
            <a:ext cx="0" cy="156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図 99" descr="SmartVPN">
            <a:extLst>
              <a:ext uri="{FF2B5EF4-FFF2-40B4-BE49-F238E27FC236}">
                <a16:creationId xmlns:a16="http://schemas.microsoft.com/office/drawing/2014/main" id="{6AC71435-B231-47E1-97C2-3DE4107ABFA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009" y="3510676"/>
            <a:ext cx="720000" cy="720000"/>
          </a:xfrm>
          <a:prstGeom prst="rect">
            <a:avLst/>
          </a:prstGeom>
        </p:spPr>
      </p:pic>
      <p:pic>
        <p:nvPicPr>
          <p:cNvPr id="101" name="Picture 4" descr="\\fmisv105\Users02$\totsuka\download\Image\Microsoft_CloudnEnterprise_Symbols_v2.7KP\Symbols\CnE_Enterprise\Database server.png">
            <a:extLst>
              <a:ext uri="{FF2B5EF4-FFF2-40B4-BE49-F238E27FC236}">
                <a16:creationId xmlns:a16="http://schemas.microsoft.com/office/drawing/2014/main" id="{D52392E1-582E-4E57-83DD-10730EC9F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238" y="114359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AB4F01-761F-4FBF-8EAC-305AB39A5B4F}"/>
              </a:ext>
            </a:extLst>
          </p:cNvPr>
          <p:cNvSpPr txBox="1"/>
          <p:nvPr/>
        </p:nvSpPr>
        <p:spPr>
          <a:xfrm>
            <a:off x="935502" y="1633252"/>
            <a:ext cx="2619662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172.16.106.0/24 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固定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172.16.108.0/22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有線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172.16.112.0/22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172.16.117.0/24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ゲスト用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172.16.118.0/24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FMI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外部接続不可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172.17.108.0/22 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有線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</a:p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172.17.112.0/22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無線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b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172.17.118.0/24 43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セキュリティ関連機器用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4044A1CC-2B3A-4D86-A03B-C746B6CB7550}"/>
              </a:ext>
            </a:extLst>
          </p:cNvPr>
          <p:cNvSpPr txBox="1"/>
          <p:nvPr/>
        </p:nvSpPr>
        <p:spPr>
          <a:xfrm>
            <a:off x="10288177" y="5590236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SKYSEA</a:t>
            </a:r>
          </a:p>
        </p:txBody>
      </p:sp>
      <p:pic>
        <p:nvPicPr>
          <p:cNvPr id="119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AB933774-494F-46CF-8F33-CFFAECB9E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037" y="430109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37B02A1-98F1-4DB6-8116-34A6BDF2CDE5}"/>
              </a:ext>
            </a:extLst>
          </p:cNvPr>
          <p:cNvSpPr txBox="1"/>
          <p:nvPr/>
        </p:nvSpPr>
        <p:spPr>
          <a:xfrm>
            <a:off x="10231329" y="4623133"/>
            <a:ext cx="715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SKYSEA</a:t>
            </a:r>
          </a:p>
        </p:txBody>
      </p:sp>
      <p:pic>
        <p:nvPicPr>
          <p:cNvPr id="149" name="Picture 10" descr="\\fmisv105\Users02$\totsuka\download\Image\Microsoft_CloudnEnterprise_Symbols_v2.7KP\Symbols\CnE_Cloud\PNG\Azure Active Directory.png">
            <a:extLst>
              <a:ext uri="{FF2B5EF4-FFF2-40B4-BE49-F238E27FC236}">
                <a16:creationId xmlns:a16="http://schemas.microsoft.com/office/drawing/2014/main" id="{7F33A193-32D5-4B6C-9482-4F0D14E8B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5927" y="38692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1" descr="\\fmisv105\Users02$\totsuka\download\Image\Microsoft_CloudnEnterprise_Symbols_v2.7KP\Symbols\CnE_Cloud\PNG\Azure App Service - Web App (was Websites).png">
            <a:extLst>
              <a:ext uri="{FF2B5EF4-FFF2-40B4-BE49-F238E27FC236}">
                <a16:creationId xmlns:a16="http://schemas.microsoft.com/office/drawing/2014/main" id="{717915E8-3613-431E-8CC9-B356E4BF3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30" y="38692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79577BC2-E2CA-49B6-8019-32948E0B41A5}"/>
              </a:ext>
            </a:extLst>
          </p:cNvPr>
          <p:cNvSpPr txBox="1"/>
          <p:nvPr/>
        </p:nvSpPr>
        <p:spPr>
          <a:xfrm>
            <a:off x="9375565" y="3662979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AD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504583E5-CBAC-4E78-8664-30E64B84D633}"/>
              </a:ext>
            </a:extLst>
          </p:cNvPr>
          <p:cNvSpPr txBox="1"/>
          <p:nvPr/>
        </p:nvSpPr>
        <p:spPr>
          <a:xfrm>
            <a:off x="10381415" y="3662979"/>
            <a:ext cx="640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X-point</a:t>
            </a:r>
          </a:p>
        </p:txBody>
      </p:sp>
      <p:pic>
        <p:nvPicPr>
          <p:cNvPr id="155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EAD069A7-292F-4987-B6E0-AF48BBAB0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4847" y="429426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A5C80EFA-F150-4FFB-89C4-4DBF60198484}"/>
              </a:ext>
            </a:extLst>
          </p:cNvPr>
          <p:cNvSpPr txBox="1"/>
          <p:nvPr/>
        </p:nvSpPr>
        <p:spPr>
          <a:xfrm>
            <a:off x="10598824" y="4677285"/>
            <a:ext cx="846859" cy="274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ts val="5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AAD</a:t>
            </a:r>
          </a:p>
          <a:p>
            <a:pPr algn="ctr" fontAlgn="base">
              <a:lnSpc>
                <a:spcPts val="5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Connect</a:t>
            </a:r>
          </a:p>
        </p:txBody>
      </p: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F810DBFC-489F-4762-9AB4-7F299EE38EA5}"/>
              </a:ext>
            </a:extLst>
          </p:cNvPr>
          <p:cNvCxnSpPr>
            <a:cxnSpLocks/>
          </p:cNvCxnSpPr>
          <p:nvPr/>
        </p:nvCxnSpPr>
        <p:spPr>
          <a:xfrm flipV="1">
            <a:off x="4909771" y="3770457"/>
            <a:ext cx="3398780" cy="6216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カギ線コネクタ 128">
            <a:extLst>
              <a:ext uri="{FF2B5EF4-FFF2-40B4-BE49-F238E27FC236}">
                <a16:creationId xmlns:a16="http://schemas.microsoft.com/office/drawing/2014/main" id="{CD852559-23AF-472F-BE4E-5C40F0DFEE1B}"/>
              </a:ext>
            </a:extLst>
          </p:cNvPr>
          <p:cNvCxnSpPr>
            <a:cxnSpLocks/>
            <a:endCxn id="161" idx="2"/>
          </p:cNvCxnSpPr>
          <p:nvPr/>
        </p:nvCxnSpPr>
        <p:spPr>
          <a:xfrm rot="16200000" flipV="1">
            <a:off x="3177024" y="2198853"/>
            <a:ext cx="1841256" cy="110553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2229335F-8ABA-4C29-AE23-5D385EE2290B}"/>
              </a:ext>
            </a:extLst>
          </p:cNvPr>
          <p:cNvCxnSpPr>
            <a:cxnSpLocks/>
            <a:stCxn id="11" idx="2"/>
            <a:endCxn id="161" idx="3"/>
          </p:cNvCxnSpPr>
          <p:nvPr/>
        </p:nvCxnSpPr>
        <p:spPr>
          <a:xfrm rot="10800000" flipV="1">
            <a:off x="3724886" y="1648681"/>
            <a:ext cx="3508258" cy="231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3D396956-B78F-422C-917A-57D99E54515C}"/>
              </a:ext>
            </a:extLst>
          </p:cNvPr>
          <p:cNvSpPr txBox="1"/>
          <p:nvPr/>
        </p:nvSpPr>
        <p:spPr>
          <a:xfrm>
            <a:off x="4108707" y="4050631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SmartVPN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1" name="Picture 6" descr="\\fmisv105\Users02$\totsuka\download\Image\Microsoft_CloudnEnterprise_Symbols_v2.7KP\Symbols\CnE_Enterprise\Gateway.png">
            <a:extLst>
              <a:ext uri="{FF2B5EF4-FFF2-40B4-BE49-F238E27FC236}">
                <a16:creationId xmlns:a16="http://schemas.microsoft.com/office/drawing/2014/main" id="{5F967444-9F92-4CFC-9786-A5CC379E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86" y="147099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CF7886B2-97AF-4710-8D36-A34897CE1FF9}"/>
              </a:ext>
            </a:extLst>
          </p:cNvPr>
          <p:cNvSpPr txBox="1"/>
          <p:nvPr/>
        </p:nvSpPr>
        <p:spPr>
          <a:xfrm>
            <a:off x="3765193" y="1395876"/>
            <a:ext cx="20408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ゲスト用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Internet(172.16.117.0/24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en-US" altLang="ja-JP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5" name="Picture 5">
            <a:extLst>
              <a:ext uri="{FF2B5EF4-FFF2-40B4-BE49-F238E27FC236}">
                <a16:creationId xmlns:a16="http://schemas.microsoft.com/office/drawing/2014/main" id="{031445F3-F0A3-4EE8-9E91-275C70301AA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809" y="3308187"/>
            <a:ext cx="361045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F1FDA57-9D24-4FCC-A6D4-475811609DF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4827301" y="1648681"/>
            <a:ext cx="2405843" cy="210029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5B942C5D-45BA-47F0-AEB4-978ECB24F23D}"/>
              </a:ext>
            </a:extLst>
          </p:cNvPr>
          <p:cNvCxnSpPr>
            <a:cxnSpLocks/>
            <a:stCxn id="100" idx="1"/>
            <a:endCxn id="123" idx="3"/>
          </p:cNvCxnSpPr>
          <p:nvPr/>
        </p:nvCxnSpPr>
        <p:spPr>
          <a:xfrm flipH="1" flipV="1">
            <a:off x="2206186" y="3706239"/>
            <a:ext cx="2035823" cy="16443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94FEE27E-B91E-452D-8486-EC8590FC72EB}"/>
              </a:ext>
            </a:extLst>
          </p:cNvPr>
          <p:cNvSpPr/>
          <p:nvPr/>
        </p:nvSpPr>
        <p:spPr>
          <a:xfrm>
            <a:off x="698177" y="4231824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名古屋支店*</a:t>
            </a:r>
          </a:p>
        </p:txBody>
      </p:sp>
      <p:pic>
        <p:nvPicPr>
          <p:cNvPr id="106" name="図 105">
            <a:extLst>
              <a:ext uri="{FF2B5EF4-FFF2-40B4-BE49-F238E27FC236}">
                <a16:creationId xmlns:a16="http://schemas.microsoft.com/office/drawing/2014/main" id="{70EF3522-06C5-4D1A-A1FD-27F381485C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53" y="4239656"/>
            <a:ext cx="396000" cy="396000"/>
          </a:xfrm>
          <a:prstGeom prst="rect">
            <a:avLst/>
          </a:prstGeom>
        </p:spPr>
      </p:pic>
      <p:cxnSp>
        <p:nvCxnSpPr>
          <p:cNvPr id="107" name="カギ線コネクタ 75">
            <a:extLst>
              <a:ext uri="{FF2B5EF4-FFF2-40B4-BE49-F238E27FC236}">
                <a16:creationId xmlns:a16="http://schemas.microsoft.com/office/drawing/2014/main" id="{520F491B-CA90-4903-8A45-3FE5795DF5BA}"/>
              </a:ext>
            </a:extLst>
          </p:cNvPr>
          <p:cNvCxnSpPr>
            <a:cxnSpLocks/>
            <a:stCxn id="11" idx="1"/>
            <a:endCxn id="105" idx="3"/>
          </p:cNvCxnSpPr>
          <p:nvPr/>
        </p:nvCxnSpPr>
        <p:spPr>
          <a:xfrm rot="5400000">
            <a:off x="3812783" y="383800"/>
            <a:ext cx="2458412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59A01A2B-9057-40AA-922E-EBEC8AE2FBD2}"/>
              </a:ext>
            </a:extLst>
          </p:cNvPr>
          <p:cNvCxnSpPr>
            <a:cxnSpLocks/>
            <a:endCxn id="99" idx="0"/>
          </p:cNvCxnSpPr>
          <p:nvPr/>
        </p:nvCxnSpPr>
        <p:spPr>
          <a:xfrm flipH="1">
            <a:off x="8665880" y="4266724"/>
            <a:ext cx="3055" cy="284625"/>
          </a:xfrm>
          <a:prstGeom prst="line">
            <a:avLst/>
          </a:prstGeom>
          <a:ln w="127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AB3D1F8F-D4A6-491E-9F97-0A2260E58876}"/>
              </a:ext>
            </a:extLst>
          </p:cNvPr>
          <p:cNvCxnSpPr>
            <a:cxnSpLocks/>
            <a:stCxn id="11" idx="0"/>
            <a:endCxn id="1028" idx="1"/>
          </p:cNvCxnSpPr>
          <p:nvPr/>
        </p:nvCxnSpPr>
        <p:spPr>
          <a:xfrm>
            <a:off x="8488186" y="1648681"/>
            <a:ext cx="579682" cy="4201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4E83C2E1-BBF2-45DE-A72C-6D1217AAFAB0}"/>
              </a:ext>
            </a:extLst>
          </p:cNvPr>
          <p:cNvCxnSpPr>
            <a:cxnSpLocks/>
            <a:stCxn id="1033" idx="1"/>
            <a:endCxn id="11" idx="0"/>
          </p:cNvCxnSpPr>
          <p:nvPr/>
        </p:nvCxnSpPr>
        <p:spPr>
          <a:xfrm rot="10800000">
            <a:off x="8488187" y="1648681"/>
            <a:ext cx="603201" cy="447580"/>
          </a:xfrm>
          <a:prstGeom prst="bent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48">
            <a:extLst>
              <a:ext uri="{FF2B5EF4-FFF2-40B4-BE49-F238E27FC236}">
                <a16:creationId xmlns:a16="http://schemas.microsoft.com/office/drawing/2014/main" id="{40BE16F0-BFC5-43F6-A382-E571EF0AC99D}"/>
              </a:ext>
            </a:extLst>
          </p:cNvPr>
          <p:cNvCxnSpPr>
            <a:cxnSpLocks/>
            <a:endCxn id="4125" idx="1"/>
          </p:cNvCxnSpPr>
          <p:nvPr/>
        </p:nvCxnSpPr>
        <p:spPr>
          <a:xfrm rot="16200000" flipH="1">
            <a:off x="8194838" y="1707902"/>
            <a:ext cx="928396" cy="848237"/>
          </a:xfrm>
          <a:prstGeom prst="bent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EA18978-5F0D-4C7D-A87B-A5701E12DF5F}"/>
              </a:ext>
            </a:extLst>
          </p:cNvPr>
          <p:cNvCxnSpPr>
            <a:cxnSpLocks/>
          </p:cNvCxnSpPr>
          <p:nvPr/>
        </p:nvCxnSpPr>
        <p:spPr>
          <a:xfrm flipV="1">
            <a:off x="8778027" y="6136595"/>
            <a:ext cx="360000" cy="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FBDA56-AADB-46D1-877D-9D3B8B29D9FB}"/>
              </a:ext>
            </a:extLst>
          </p:cNvPr>
          <p:cNvSpPr txBox="1"/>
          <p:nvPr/>
        </p:nvSpPr>
        <p:spPr>
          <a:xfrm>
            <a:off x="9144574" y="6032817"/>
            <a:ext cx="20869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ソフトバンク閉域網（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SmartVPN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8C41AA32-D79B-43DB-8B37-B0AE7E71AD10}"/>
              </a:ext>
            </a:extLst>
          </p:cNvPr>
          <p:cNvCxnSpPr>
            <a:cxnSpLocks/>
          </p:cNvCxnSpPr>
          <p:nvPr/>
        </p:nvCxnSpPr>
        <p:spPr>
          <a:xfrm flipV="1">
            <a:off x="8748277" y="6383322"/>
            <a:ext cx="360209" cy="1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82B779B1-888D-4740-A46B-8FE98A30BD26}"/>
              </a:ext>
            </a:extLst>
          </p:cNvPr>
          <p:cNvSpPr txBox="1"/>
          <p:nvPr/>
        </p:nvSpPr>
        <p:spPr>
          <a:xfrm>
            <a:off x="9142992" y="6267897"/>
            <a:ext cx="1045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ExpressRoute</a:t>
            </a:r>
            <a:endParaRPr kumimoji="1" lang="ja-JP" alt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5C2EC4-50EA-408F-9BB3-589E10F59D5A}"/>
              </a:ext>
            </a:extLst>
          </p:cNvPr>
          <p:cNvSpPr txBox="1"/>
          <p:nvPr/>
        </p:nvSpPr>
        <p:spPr>
          <a:xfrm>
            <a:off x="4102064" y="4191481"/>
            <a:ext cx="1101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>
                <a:latin typeface="Meiryo UI" panose="020B0604030504040204" pitchFamily="50" charset="-128"/>
                <a:ea typeface="Meiryo UI" panose="020B0604030504040204" pitchFamily="50" charset="-128"/>
              </a:rPr>
              <a:t>126.144.25.108</a:t>
            </a:r>
            <a:endParaRPr kumimoji="1" lang="ja-JP" altLang="en-US" sz="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589AED-6C2C-444A-B283-5C88D5A1429F}"/>
              </a:ext>
            </a:extLst>
          </p:cNvPr>
          <p:cNvSpPr txBox="1"/>
          <p:nvPr/>
        </p:nvSpPr>
        <p:spPr>
          <a:xfrm>
            <a:off x="9142992" y="6490233"/>
            <a:ext cx="31975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SVPN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の出入り口は弊社専用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126.144.25.108</a:t>
            </a:r>
            <a:r>
              <a:rPr kumimoji="1"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35A0B457-28A9-4EB9-A8FC-964E59797612}"/>
              </a:ext>
            </a:extLst>
          </p:cNvPr>
          <p:cNvCxnSpPr/>
          <p:nvPr/>
        </p:nvCxnSpPr>
        <p:spPr>
          <a:xfrm rot="5400000" flipH="1" flipV="1">
            <a:off x="8269608" y="3823749"/>
            <a:ext cx="77886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25" name="Picture 29" descr="無料で「AnyConnect」アプリの最新版 APK4.9.00576をダウンロードー Android用「AnyConnect  APK」の最新バージョンをダウンロード- apkfab.com/jp">
            <a:extLst>
              <a:ext uri="{FF2B5EF4-FFF2-40B4-BE49-F238E27FC236}">
                <a16:creationId xmlns:a16="http://schemas.microsoft.com/office/drawing/2014/main" id="{210088B0-58FF-45BD-BFE7-1527CC29B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155" y="23802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図 128">
            <a:extLst>
              <a:ext uri="{FF2B5EF4-FFF2-40B4-BE49-F238E27FC236}">
                <a16:creationId xmlns:a16="http://schemas.microsoft.com/office/drawing/2014/main" id="{B2CB5952-768B-4A24-A65D-B76E564560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626" y="2500827"/>
            <a:ext cx="396000" cy="396000"/>
          </a:xfrm>
          <a:prstGeom prst="rect">
            <a:avLst/>
          </a:prstGeom>
        </p:spPr>
      </p:pic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EFEC297D-866D-4332-8C2E-B7D2A9D07FF5}"/>
              </a:ext>
            </a:extLst>
          </p:cNvPr>
          <p:cNvSpPr txBox="1"/>
          <p:nvPr/>
        </p:nvSpPr>
        <p:spPr>
          <a:xfrm>
            <a:off x="9367272" y="2870155"/>
            <a:ext cx="1045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>
                <a:latin typeface="Meiryo UI" panose="020B0604030504040204" pitchFamily="50" charset="-128"/>
                <a:ea typeface="Meiryo UI" panose="020B0604030504040204" pitchFamily="50" charset="-128"/>
              </a:rPr>
              <a:t>VPN</a:t>
            </a:r>
            <a:r>
              <a:rPr lang="ja-JP" altLang="en-US" sz="900">
                <a:latin typeface="Meiryo UI" panose="020B0604030504040204" pitchFamily="50" charset="-128"/>
                <a:ea typeface="Meiryo UI" panose="020B0604030504040204" pitchFamily="50" charset="-128"/>
              </a:rPr>
              <a:t>利用時</a:t>
            </a:r>
            <a:endParaRPr kumimoji="1" lang="ja-JP" alt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D723ABC-96DF-71B3-FD1B-57D2A3B61580}"/>
              </a:ext>
            </a:extLst>
          </p:cNvPr>
          <p:cNvCxnSpPr>
            <a:cxnSpLocks/>
          </p:cNvCxnSpPr>
          <p:nvPr/>
        </p:nvCxnSpPr>
        <p:spPr>
          <a:xfrm>
            <a:off x="8607180" y="5096052"/>
            <a:ext cx="2757600" cy="1800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3393FA-9815-FEDD-D0B2-32B3073790A1}"/>
              </a:ext>
            </a:extLst>
          </p:cNvPr>
          <p:cNvSpPr txBox="1"/>
          <p:nvPr/>
        </p:nvSpPr>
        <p:spPr>
          <a:xfrm>
            <a:off x="8654009" y="4895239"/>
            <a:ext cx="112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10.10.2.0/24</a:t>
            </a:r>
            <a:endParaRPr lang="ja-JP" altLang="en-US" sz="8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5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6153FAE9-EB16-361A-8272-6A041EDB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387" y="513920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77CD48-C9EB-1888-E979-B942D5DCA0E4}"/>
              </a:ext>
            </a:extLst>
          </p:cNvPr>
          <p:cNvSpPr txBox="1"/>
          <p:nvPr/>
        </p:nvSpPr>
        <p:spPr>
          <a:xfrm>
            <a:off x="8619464" y="5461333"/>
            <a:ext cx="992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FCI</a:t>
            </a:r>
            <a:r>
              <a:rPr lang="ja-JP" altLang="en-US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560DA9D-CF3F-0A2A-A5D6-022AF5671723}"/>
              </a:ext>
            </a:extLst>
          </p:cNvPr>
          <p:cNvSpPr/>
          <p:nvPr/>
        </p:nvSpPr>
        <p:spPr>
          <a:xfrm>
            <a:off x="688524" y="4677245"/>
            <a:ext cx="1526564" cy="39685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FMI </a:t>
            </a:r>
            <a:r>
              <a:rPr lang="ja-JP" altLang="en-US" sz="1100" b="1">
                <a:solidFill>
                  <a:srgbClr val="1F497D"/>
                </a:solidFill>
                <a:latin typeface="Calibri"/>
                <a:ea typeface="ＭＳ Ｐゴシック" panose="020B0600070205080204" pitchFamily="50" charset="-128"/>
              </a:rPr>
              <a:t>福岡支店*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3CE06DA-D6B1-0DB7-E7D4-A917F308F1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400" y="4685077"/>
            <a:ext cx="396000" cy="396000"/>
          </a:xfrm>
          <a:prstGeom prst="rect">
            <a:avLst/>
          </a:prstGeom>
        </p:spPr>
      </p:pic>
      <p:cxnSp>
        <p:nvCxnSpPr>
          <p:cNvPr id="23" name="カギ線コネクタ 75">
            <a:extLst>
              <a:ext uri="{FF2B5EF4-FFF2-40B4-BE49-F238E27FC236}">
                <a16:creationId xmlns:a16="http://schemas.microsoft.com/office/drawing/2014/main" id="{296D2C46-3AFA-8745-F91B-8C0F24486862}"/>
              </a:ext>
            </a:extLst>
          </p:cNvPr>
          <p:cNvCxnSpPr>
            <a:cxnSpLocks/>
          </p:cNvCxnSpPr>
          <p:nvPr/>
        </p:nvCxnSpPr>
        <p:spPr>
          <a:xfrm rot="5400000">
            <a:off x="3853931" y="883951"/>
            <a:ext cx="2353637" cy="56344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\\fmisv105\Users02$\totsuka\download\Image\Microsoft_CloudnEnterprise_Symbols_v2.7KP\Symbols\CnE_Cloud\PNG\Azure Virtual Machine.png">
            <a:extLst>
              <a:ext uri="{FF2B5EF4-FFF2-40B4-BE49-F238E27FC236}">
                <a16:creationId xmlns:a16="http://schemas.microsoft.com/office/drawing/2014/main" id="{8E38B3B3-EB69-FAE8-0EC5-02709CCAC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138" y="430603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7BFC50C-613C-0F5A-7E08-B1CB75CDDF1C}"/>
              </a:ext>
            </a:extLst>
          </p:cNvPr>
          <p:cNvSpPr txBox="1"/>
          <p:nvPr/>
        </p:nvSpPr>
        <p:spPr>
          <a:xfrm>
            <a:off x="11129533" y="4638748"/>
            <a:ext cx="6744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20000"/>
              </a:spcAft>
            </a:pPr>
            <a:r>
              <a:rPr lang="en-US" altLang="ja-JP" sz="8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952378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jCA_ZZhjmN3Sw61UOSv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jCA_ZZhjmN3Sw61UOSva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E0zC.w3J1pDC7Ndv3br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E0zC.w3J1pDC7Ndv3br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E0zC.w3J1pDC7Ndv3br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E0zC.w3J1pDC7Ndv3br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E0zC.w3J1pDC7Ndv3brw"/>
</p:tagLst>
</file>

<file path=ppt/theme/theme1.xml><?xml version="1.0" encoding="utf-8"?>
<a:theme xmlns:a="http://schemas.openxmlformats.org/drawingml/2006/main" name="1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8D37AB5177425468BAC2A0DB2E6541F" ma:contentTypeVersion="28" ma:contentTypeDescription="新しいドキュメントを作成します。" ma:contentTypeScope="" ma:versionID="603886da705f7704168c9552e22838d8">
  <xsd:schema xmlns:xsd="http://www.w3.org/2001/XMLSchema" xmlns:xs="http://www.w3.org/2001/XMLSchema" xmlns:p="http://schemas.microsoft.com/office/2006/metadata/properties" xmlns:ns2="0bdae8ae-b230-4d93-8c72-8d75b0e630db" xmlns:ns3="0bae2aba-b362-47e7-9986-3aec0676ac2e" targetNamespace="http://schemas.microsoft.com/office/2006/metadata/properties" ma:root="true" ma:fieldsID="03c89fc74e1922c05397f0e330fee3db" ns2:_="" ns3:_="">
    <xsd:import namespace="0bdae8ae-b230-4d93-8c72-8d75b0e630db"/>
    <xsd:import namespace="0bae2aba-b362-47e7-9986-3aec0676ac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_x5099__x8003_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_x30a2__x30af__x30c6__x30a3__x30d6_" minOccurs="0"/>
                <xsd:element ref="ns2:_x72b6__x614b__xff12_" minOccurs="0"/>
                <xsd:element ref="ns2:_x30e9__x30d9__x30eb_" minOccurs="0"/>
                <xsd:element ref="ns2:MediaServiceSearchProperties" minOccurs="0"/>
                <xsd:element ref="ns2:_x6587__x66f8__x30ec__x30d9__x30eb_" minOccurs="0"/>
                <xsd:element ref="ns2:_x90e8__x9580__x7ba1__x8f44__x30b3__x30fc__x30c9_" minOccurs="0"/>
                <xsd:element ref="ns2:_x6587__x66f8__x756a__x53f7_1" minOccurs="0"/>
                <xsd:element ref="ns2:MediaServiceBillingMetadata" minOccurs="0"/>
                <xsd:element ref="ns2:_x7248__x6570_" minOccurs="0"/>
                <xsd:element ref="ns2:_x898f__x683c__x30b3__x30fc__x30c9_2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ae8ae-b230-4d93-8c72-8d75b0e630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画像タグ" ma:readOnly="false" ma:fieldId="{5cf76f15-5ced-4ddc-b409-7134ff3c332f}" ma:taxonomyMulti="true" ma:sspId="466ed8ac-0ec8-4290-9b04-d16c022f24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x5099__x8003_" ma:index="19" nillable="true" ma:displayName="備考" ma:description="K1067とK1106は償却終わってます。K1113は残存簿価約8万円です。by経理小笠原さん" ma:format="Dropdown" ma:internalName="_x5099__x8003_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30a2__x30af__x30c6__x30a3__x30d6_" ma:index="23" nillable="true" ma:displayName="アクティブ" ma:format="Dropdown" ma:internalName="_x30a2__x30af__x30c6__x30a3__x30d6_">
      <xsd:simpleType>
        <xsd:union memberTypes="dms:Text">
          <xsd:simpleType>
            <xsd:restriction base="dms:Choice">
              <xsd:enumeration value="アクティブ"/>
              <xsd:enumeration value="終了"/>
              <xsd:enumeration value="中断"/>
            </xsd:restriction>
          </xsd:simpleType>
        </xsd:union>
      </xsd:simpleType>
    </xsd:element>
    <xsd:element name="_x72b6__x614b__xff12_" ma:index="24" nillable="true" ma:displayName="ステータス" ma:format="Dropdown" ma:internalName="_x72b6__x614b__xff12_">
      <xsd:simpleType>
        <xsd:restriction base="dms:Choice">
          <xsd:enumeration value="アクティブ"/>
          <xsd:enumeration value="終了"/>
          <xsd:enumeration value="中断"/>
        </xsd:restriction>
      </xsd:simpleType>
    </xsd:element>
    <xsd:element name="_x30e9__x30d9__x30eb_" ma:index="25" nillable="true" ma:displayName="ラベル" ma:format="Dropdown" ma:internalName="_x30e9__x30d9__x30eb_">
      <xsd:simpleType>
        <xsd:union memberTypes="dms:Text">
          <xsd:simpleType>
            <xsd:restriction base="dms:Choice">
              <xsd:enumeration value="最終"/>
              <xsd:enumeration value="選択肢 2"/>
              <xsd:enumeration value="選択肢 3"/>
              <xsd:enumeration value="作業リスト"/>
            </xsd:restriction>
          </xsd:simpleType>
        </xsd:un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6587__x66f8__x30ec__x30d9__x30eb_" ma:index="27" nillable="true" ma:displayName="文書レベル" ma:format="Dropdown" ma:internalName="_x6587__x66f8__x30ec__x30d9__x30eb_">
      <xsd:simpleType>
        <xsd:restriction base="dms:Choice">
          <xsd:enumeration value="1"/>
          <xsd:enumeration value="2"/>
          <xsd:enumeration value="3"/>
        </xsd:restriction>
      </xsd:simpleType>
    </xsd:element>
    <xsd:element name="_x90e8__x9580__x7ba1__x8f44__x30b3__x30fc__x30c9_" ma:index="28" nillable="true" ma:displayName="部門管轄コード" ma:format="Dropdown" ma:internalName="_x90e8__x9580__x7ba1__x8f44__x30b3__x30fc__x30c9_">
      <xsd:simpleType>
        <xsd:restriction base="dms:Choice">
          <xsd:enumeration value="01"/>
        </xsd:restriction>
      </xsd:simpleType>
    </xsd:element>
    <xsd:element name="_x6587__x66f8__x756a__x53f7_1" ma:index="29" nillable="true" ma:displayName="文書番号" ma:format="Dropdown" ma:internalName="_x6587__x66f8__x756a__x53f7_1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7248__x6570_" ma:index="31" nillable="true" ma:displayName="版数" ma:decimals="1" ma:default="1" ma:internalName="_x7248__x6570_" ma:percentage="FALSE">
      <xsd:simpleType>
        <xsd:restriction base="dms:Number"/>
      </xsd:simpleType>
    </xsd:element>
    <xsd:element name="_x898f__x683c__x30b3__x30fc__x30c9_2" ma:index="32" nillable="true" ma:displayName="規格コード" ma:default="I" ma:description="I→ISO27001" ma:format="Dropdown" ma:internalName="_x898f__x683c__x30b3__x30fc__x30c9_2">
      <xsd:simpleType>
        <xsd:union memberTypes="dms:Text">
          <xsd:simpleType>
            <xsd:restriction base="dms:Choice">
              <xsd:enumeration value="I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e2aba-b362-47e7-9986-3aec0676ac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30bee20-8eed-49b1-8e2b-c6fd47b1fd1b}" ma:internalName="TaxCatchAll" ma:showField="CatchAllData" ma:web="0bae2aba-b362-47e7-9986-3aec0676ac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bdae8ae-b230-4d93-8c72-8d75b0e630db">
      <Terms xmlns="http://schemas.microsoft.com/office/infopath/2007/PartnerControls"/>
    </lcf76f155ced4ddcb4097134ff3c332f>
    <TaxCatchAll xmlns="0bae2aba-b362-47e7-9986-3aec0676ac2e" xsi:nil="true"/>
    <_x5099__x8003_ xmlns="0bdae8ae-b230-4d93-8c72-8d75b0e630db" xsi:nil="true"/>
    <_x30e9__x30d9__x30eb_ xmlns="0bdae8ae-b230-4d93-8c72-8d75b0e630db" xsi:nil="true"/>
    <_x30a2__x30af__x30c6__x30a3__x30d6_ xmlns="0bdae8ae-b230-4d93-8c72-8d75b0e630db" xsi:nil="true"/>
    <_x72b6__x614b__xff12_ xmlns="0bdae8ae-b230-4d93-8c72-8d75b0e630db" xsi:nil="true"/>
    <_x90e8__x9580__x7ba1__x8f44__x30b3__x30fc__x30c9_ xmlns="0bdae8ae-b230-4d93-8c72-8d75b0e630db" xsi:nil="true"/>
    <_x6587__x66f8__x756a__x53f7_1 xmlns="0bdae8ae-b230-4d93-8c72-8d75b0e630db" xsi:nil="true"/>
    <_x6587__x66f8__x30ec__x30d9__x30eb_ xmlns="0bdae8ae-b230-4d93-8c72-8d75b0e630db" xsi:nil="true"/>
    <_x898f__x683c__x30b3__x30fc__x30c9_2 xmlns="0bdae8ae-b230-4d93-8c72-8d75b0e630db">I</_x898f__x683c__x30b3__x30fc__x30c9_2>
    <_x7248__x6570_ xmlns="0bdae8ae-b230-4d93-8c72-8d75b0e630db">1</_x7248__x6570_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F17FA4-2514-4AE7-9B20-6FDD17C14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dae8ae-b230-4d93-8c72-8d75b0e630db"/>
    <ds:schemaRef ds:uri="0bae2aba-b362-47e7-9986-3aec0676ac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A933A6-77A3-450B-A6BD-EAB58E4A7344}">
  <ds:schemaRefs>
    <ds:schemaRef ds:uri="0bae2aba-b362-47e7-9986-3aec0676ac2e"/>
    <ds:schemaRef ds:uri="0bdae8ae-b230-4d93-8c72-8d75b0e630d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EF21ABF-0974-4B42-8A8B-3A5CC207B7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7</Slides>
  <Notes>0</Notes>
  <HiddenSlides>0</HiddenSlide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1_Template</vt:lpstr>
      <vt:lpstr>1_Template</vt:lpstr>
      <vt:lpstr>PowerPoint プレゼンテーション</vt:lpstr>
      <vt:lpstr>FMI NW構成図</vt:lpstr>
      <vt:lpstr>FMI NW構成図</vt:lpstr>
      <vt:lpstr>Azure環境トラフィック経路について_現状</vt:lpstr>
      <vt:lpstr>Azure環境トラフィック経路について_現状</vt:lpstr>
      <vt:lpstr>通信上のルール</vt:lpstr>
      <vt:lpstr>FMI NW構成図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FMI NW構成図</dc:title>
  <dc:creator>OTSUKA Takeshi (大塚 剛史)</dc:creator>
  <cp:revision>24</cp:revision>
  <dcterms:created xsi:type="dcterms:W3CDTF">2019-08-02T09:23:51Z</dcterms:created>
  <dcterms:modified xsi:type="dcterms:W3CDTF">2026-02-13T01:37:43Z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0x010100F8D37AB5177425468BAC2A0DB2E6541F</vt:lpwstr>
  </property>
  <property fmtid="{D5CDD505-2E9C-101B-9397-08002B2CF9AE}" pid="3" name="MediaServiceImageTags">
    <vt:lpwstr/>
  </property>
</Properties>
</file>